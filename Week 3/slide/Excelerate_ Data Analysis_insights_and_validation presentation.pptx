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0f8d1bd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0f8d1bd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0f8d1bde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0f8d1bde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1badc53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1badc53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1badc53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1badc53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1badc53d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1badc53d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1badc53d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1badc53d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1badc53d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1badc53d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1badc53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1badc53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1badc53d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1badc53d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1badc53d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1badc53d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badc53d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1badc53d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1badc53d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1badc53d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1badc53d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1badc53d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1badc53d0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1badc53d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1badc53d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1badc53d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1badc53d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1badc53d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1badc53d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1badc53d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0f8d1bde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80f8d1bde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80f8d1bde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80f8d1bde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0f8d1bde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80f8d1bde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160129a3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160129a3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160129a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160129a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160129a3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160129a3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160129a3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160129a3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160129a3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8160129a3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0f8d1bde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80f8d1bde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0f8d1bde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80f8d1bde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0f8d1bde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0f8d1bde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80f8d1bde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80f8d1bde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80f8d1bde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80f8d1bde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0f8d1bde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80f8d1bde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80f8d1bde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80f8d1bde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0f8d1bde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0f8d1bde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80f8d1bde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80f8d1bde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80f8d1bd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80f8d1bd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0f8d1bde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0f8d1bde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80f8d1bd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80f8d1bd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0f8d1bde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80f8d1bde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Excelerate Data Analysis Insights &amp; Validation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Week: 3</a:t>
            </a:r>
            <a:endParaRPr/>
          </a:p>
          <a:p>
            <a:pPr indent="0" lvl="0" marL="0" rtl="0" algn="ctr">
              <a:spcBef>
                <a:spcPts val="0"/>
              </a:spcBef>
              <a:spcAft>
                <a:spcPts val="0"/>
              </a:spcAft>
              <a:buNone/>
            </a:pPr>
            <a:r>
              <a:rPr lang="en"/>
              <a:t>Team: 12</a:t>
            </a:r>
            <a:endParaRPr/>
          </a:p>
        </p:txBody>
      </p:sp>
      <p:sp>
        <p:nvSpPr>
          <p:cNvPr id="56" name="Google Shape;56;p13"/>
          <p:cNvSpPr txBox="1"/>
          <p:nvPr/>
        </p:nvSpPr>
        <p:spPr>
          <a:xfrm>
            <a:off x="1519650" y="3828525"/>
            <a:ext cx="66285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Prepared by,</a:t>
            </a:r>
            <a:endParaRPr sz="1800">
              <a:solidFill>
                <a:schemeClr val="dk2"/>
              </a:solidFill>
            </a:endParaRPr>
          </a:p>
          <a:p>
            <a:pPr indent="0" lvl="0" marL="0" rtl="0" algn="l">
              <a:spcBef>
                <a:spcPts val="0"/>
              </a:spcBef>
              <a:spcAft>
                <a:spcPts val="0"/>
              </a:spcAft>
              <a:buNone/>
            </a:pPr>
            <a:r>
              <a:rPr lang="en" sz="1800">
                <a:solidFill>
                  <a:schemeClr val="dk2"/>
                </a:solidFill>
              </a:rPr>
              <a:t>Mahir Faisal Chowdhury</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Report structure</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Introduction </a:t>
            </a:r>
            <a:endParaRPr/>
          </a:p>
          <a:p>
            <a:pPr indent="-342900" lvl="0" marL="457200" rtl="0" algn="l">
              <a:spcBef>
                <a:spcPts val="0"/>
              </a:spcBef>
              <a:spcAft>
                <a:spcPts val="0"/>
              </a:spcAft>
              <a:buSzPts val="1800"/>
              <a:buChar char="●"/>
            </a:pPr>
            <a:r>
              <a:rPr lang="en"/>
              <a:t>Validation</a:t>
            </a:r>
            <a:endParaRPr/>
          </a:p>
          <a:p>
            <a:pPr indent="-342900" lvl="0" marL="457200" rtl="0" algn="l">
              <a:spcBef>
                <a:spcPts val="0"/>
              </a:spcBef>
              <a:spcAft>
                <a:spcPts val="0"/>
              </a:spcAft>
              <a:buSzPts val="1800"/>
              <a:buChar char="●"/>
            </a:pPr>
            <a:r>
              <a:rPr lang="en"/>
              <a:t>Mission Statement - what are we trying to discover</a:t>
            </a:r>
            <a:endParaRPr/>
          </a:p>
          <a:p>
            <a:pPr indent="-342900" lvl="0" marL="457200" rtl="0" algn="l">
              <a:spcBef>
                <a:spcPts val="0"/>
              </a:spcBef>
              <a:spcAft>
                <a:spcPts val="0"/>
              </a:spcAft>
              <a:buSzPts val="1800"/>
              <a:buChar char="●"/>
            </a:pPr>
            <a:r>
              <a:rPr lang="en"/>
              <a:t>Findings</a:t>
            </a:r>
            <a:endParaRPr/>
          </a:p>
          <a:p>
            <a:pPr indent="-317500" lvl="1" marL="914400" rtl="0" algn="l">
              <a:spcBef>
                <a:spcPts val="0"/>
              </a:spcBef>
              <a:spcAft>
                <a:spcPts val="0"/>
              </a:spcAft>
              <a:buSzPts val="1400"/>
              <a:buChar char="○"/>
            </a:pPr>
            <a:r>
              <a:rPr lang="en"/>
              <a:t>Summary and &amp; Key metrics</a:t>
            </a:r>
            <a:endParaRPr/>
          </a:p>
          <a:p>
            <a:pPr indent="-317500" lvl="1" marL="914400" rtl="0" algn="l">
              <a:spcBef>
                <a:spcPts val="0"/>
              </a:spcBef>
              <a:spcAft>
                <a:spcPts val="0"/>
              </a:spcAft>
              <a:buSzPts val="1400"/>
              <a:buChar char="○"/>
            </a:pPr>
            <a:r>
              <a:rPr lang="en"/>
              <a:t>Further </a:t>
            </a:r>
            <a:r>
              <a:rPr lang="en"/>
              <a:t>explanation</a:t>
            </a:r>
            <a:r>
              <a:rPr lang="en"/>
              <a:t> &amp; Charts </a:t>
            </a:r>
            <a:endParaRPr/>
          </a:p>
          <a:p>
            <a:pPr indent="-317500" lvl="1" marL="914400" rtl="0" algn="l">
              <a:spcBef>
                <a:spcPts val="0"/>
              </a:spcBef>
              <a:spcAft>
                <a:spcPts val="0"/>
              </a:spcAft>
              <a:buSzPts val="1400"/>
              <a:buChar char="○"/>
            </a:pPr>
            <a:r>
              <a:rPr lang="en"/>
              <a:t>Trends </a:t>
            </a:r>
            <a:endParaRPr/>
          </a:p>
          <a:p>
            <a:pPr indent="-317500" lvl="1" marL="914400" rtl="0" algn="l">
              <a:spcBef>
                <a:spcPts val="0"/>
              </a:spcBef>
              <a:spcAft>
                <a:spcPts val="0"/>
              </a:spcAft>
              <a:buSzPts val="1400"/>
              <a:buChar char="○"/>
            </a:pPr>
            <a:r>
              <a:rPr lang="en"/>
              <a:t>Comparative analysis </a:t>
            </a:r>
            <a:endParaRPr/>
          </a:p>
          <a:p>
            <a:pPr indent="-342900" lvl="0" marL="457200" rtl="0" algn="l">
              <a:spcBef>
                <a:spcPts val="0"/>
              </a:spcBef>
              <a:spcAft>
                <a:spcPts val="0"/>
              </a:spcAft>
              <a:buSzPts val="1800"/>
              <a:buChar char="●"/>
            </a:pPr>
            <a:r>
              <a:rPr lang="en"/>
              <a:t>Recommendations </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purpose of this </a:t>
            </a:r>
            <a:r>
              <a:rPr lang="en"/>
              <a:t>presentation</a:t>
            </a:r>
            <a:r>
              <a:rPr lang="en"/>
              <a:t> is to identity key trends in the outreach campaigns, and to identify ways of improving campaign success. </a:t>
            </a:r>
            <a:endParaRPr/>
          </a:p>
          <a:p>
            <a:pPr indent="0" lvl="0" marL="0" rtl="0" algn="l">
              <a:spcBef>
                <a:spcPts val="1200"/>
              </a:spcBef>
              <a:spcAft>
                <a:spcPts val="0"/>
              </a:spcAft>
              <a:buNone/>
            </a:pPr>
            <a:r>
              <a:rPr lang="en"/>
              <a:t>What makes a campaign successful? And how can we ensure that more of the applicants get responses to their inquiries?</a:t>
            </a:r>
            <a:endParaRPr/>
          </a:p>
          <a:p>
            <a:pPr indent="0" lvl="0" marL="0" rtl="0" algn="l">
              <a:spcBef>
                <a:spcPts val="1200"/>
              </a:spcBef>
              <a:spcAft>
                <a:spcPts val="1200"/>
              </a:spcAft>
              <a:buClr>
                <a:schemeClr val="dk1"/>
              </a:buClr>
              <a:buSzPts val="1100"/>
              <a:buFont typeface="Arial"/>
              <a:buNone/>
            </a:pPr>
            <a:r>
              <a:rPr lang="en"/>
              <a:t>This presentation also contains the validation of the dashboard. (maybe we should present this in a tabular  or side-by-side format)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183275"/>
            <a:ext cx="85206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Validation</a:t>
            </a:r>
            <a:endParaRPr/>
          </a:p>
        </p:txBody>
      </p:sp>
      <p:sp>
        <p:nvSpPr>
          <p:cNvPr id="74" name="Google Shape;74;p16"/>
          <p:cNvSpPr txBox="1"/>
          <p:nvPr>
            <p:ph idx="1" type="body"/>
          </p:nvPr>
        </p:nvSpPr>
        <p:spPr>
          <a:xfrm>
            <a:off x="311700" y="791925"/>
            <a:ext cx="5374800" cy="3777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 Consistency Check</a:t>
            </a:r>
            <a:endParaRPr/>
          </a:p>
          <a:p>
            <a:pPr indent="-317500" lvl="1" marL="914400" rtl="0" algn="l">
              <a:spcBef>
                <a:spcPts val="0"/>
              </a:spcBef>
              <a:spcAft>
                <a:spcPts val="0"/>
              </a:spcAft>
              <a:buSzPts val="1400"/>
              <a:buChar char="○"/>
            </a:pPr>
            <a:r>
              <a:rPr lang="en"/>
              <a:t>Data types &amp; formates</a:t>
            </a:r>
            <a:endParaRPr/>
          </a:p>
          <a:p>
            <a:pPr indent="-317500" lvl="1" marL="914400" rtl="0" algn="l">
              <a:spcBef>
                <a:spcPts val="0"/>
              </a:spcBef>
              <a:spcAft>
                <a:spcPts val="0"/>
              </a:spcAft>
              <a:buSzPts val="1400"/>
              <a:buChar char="○"/>
            </a:pPr>
            <a:r>
              <a:rPr lang="en"/>
              <a:t>Correlation between key </a:t>
            </a:r>
            <a:r>
              <a:rPr lang="en"/>
              <a:t>identifiers</a:t>
            </a:r>
            <a:endParaRPr/>
          </a:p>
          <a:p>
            <a:pPr indent="-342900" lvl="0" marL="457200" rtl="0" algn="l">
              <a:spcBef>
                <a:spcPts val="0"/>
              </a:spcBef>
              <a:spcAft>
                <a:spcPts val="0"/>
              </a:spcAft>
              <a:buSzPts val="1800"/>
              <a:buChar char="●"/>
            </a:pPr>
            <a:r>
              <a:rPr lang="en"/>
              <a:t>Completeness Verification</a:t>
            </a:r>
            <a:endParaRPr/>
          </a:p>
          <a:p>
            <a:pPr indent="-317500" lvl="1" marL="914400" rtl="0" algn="l">
              <a:spcBef>
                <a:spcPts val="0"/>
              </a:spcBef>
              <a:spcAft>
                <a:spcPts val="0"/>
              </a:spcAft>
              <a:buSzPts val="1400"/>
              <a:buChar char="○"/>
            </a:pPr>
            <a:r>
              <a:rPr lang="en"/>
              <a:t>Finding </a:t>
            </a:r>
            <a:r>
              <a:rPr lang="en"/>
              <a:t>missing</a:t>
            </a:r>
            <a:r>
              <a:rPr lang="en"/>
              <a:t> values</a:t>
            </a:r>
            <a:endParaRPr/>
          </a:p>
          <a:p>
            <a:pPr indent="-342900" lvl="0" marL="457200" rtl="0" algn="l">
              <a:spcBef>
                <a:spcPts val="0"/>
              </a:spcBef>
              <a:spcAft>
                <a:spcPts val="0"/>
              </a:spcAft>
              <a:buSzPts val="1800"/>
              <a:buChar char="●"/>
            </a:pPr>
            <a:r>
              <a:rPr lang="en"/>
              <a:t>Duplicate Detection</a:t>
            </a:r>
            <a:endParaRPr/>
          </a:p>
          <a:p>
            <a:pPr indent="-317500" lvl="1" marL="914400" rtl="0" algn="l">
              <a:spcBef>
                <a:spcPts val="0"/>
              </a:spcBef>
              <a:spcAft>
                <a:spcPts val="0"/>
              </a:spcAft>
              <a:buSzPts val="1400"/>
              <a:buChar char="○"/>
            </a:pPr>
            <a:r>
              <a:rPr lang="en"/>
              <a:t>Finding duplicate entries</a:t>
            </a:r>
            <a:endParaRPr/>
          </a:p>
          <a:p>
            <a:pPr indent="-342900" lvl="0" marL="457200" rtl="0" algn="l">
              <a:spcBef>
                <a:spcPts val="0"/>
              </a:spcBef>
              <a:spcAft>
                <a:spcPts val="0"/>
              </a:spcAft>
              <a:buSzPts val="1800"/>
              <a:buChar char="●"/>
            </a:pPr>
            <a:r>
              <a:rPr lang="en"/>
              <a:t>Business Rule Validation</a:t>
            </a:r>
            <a:endParaRPr/>
          </a:p>
          <a:p>
            <a:pPr indent="-317500" lvl="1" marL="914400" rtl="0" algn="l">
              <a:spcBef>
                <a:spcPts val="0"/>
              </a:spcBef>
              <a:spcAft>
                <a:spcPts val="0"/>
              </a:spcAft>
              <a:buSzPts val="1400"/>
              <a:buChar char="○"/>
            </a:pPr>
            <a:r>
              <a:rPr lang="en"/>
              <a:t>Connected &amp; disconnected calls matchs total calls</a:t>
            </a:r>
            <a:endParaRPr/>
          </a:p>
          <a:p>
            <a:pPr indent="-317500" lvl="1" marL="914400" rtl="0" algn="l">
              <a:spcBef>
                <a:spcPts val="0"/>
              </a:spcBef>
              <a:spcAft>
                <a:spcPts val="0"/>
              </a:spcAft>
              <a:buSzPts val="1400"/>
              <a:buChar char="○"/>
            </a:pPr>
            <a:r>
              <a:rPr lang="en"/>
              <a:t>Campaign dates with valid timeframes</a:t>
            </a:r>
            <a:endParaRPr/>
          </a:p>
        </p:txBody>
      </p:sp>
      <p:pic>
        <p:nvPicPr>
          <p:cNvPr id="75" name="Google Shape;75;p16"/>
          <p:cNvPicPr preferRelativeResize="0"/>
          <p:nvPr/>
        </p:nvPicPr>
        <p:blipFill>
          <a:blip r:embed="rId3">
            <a:alphaModFix/>
          </a:blip>
          <a:stretch>
            <a:fillRect/>
          </a:stretch>
        </p:blipFill>
        <p:spPr>
          <a:xfrm>
            <a:off x="5812150" y="857500"/>
            <a:ext cx="3152700" cy="3472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81" name="Google Shape;81;p17"/>
          <p:cNvSpPr txBox="1"/>
          <p:nvPr>
            <p:ph idx="1" type="body"/>
          </p:nvPr>
        </p:nvSpPr>
        <p:spPr>
          <a:xfrm>
            <a:off x="311700" y="852125"/>
            <a:ext cx="3783000" cy="3716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141"/>
              <a:t>Datatype of App_ID:</a:t>
            </a:r>
            <a:endParaRPr b="1" sz="1141"/>
          </a:p>
          <a:p>
            <a:pPr indent="0" lvl="0" marL="0" rtl="0" algn="l">
              <a:lnSpc>
                <a:spcPct val="100000"/>
              </a:lnSpc>
              <a:spcBef>
                <a:spcPts val="1200"/>
              </a:spcBef>
              <a:spcAft>
                <a:spcPts val="0"/>
              </a:spcAft>
              <a:buClr>
                <a:schemeClr val="dk1"/>
              </a:buClr>
              <a:buSzPts val="1100"/>
              <a:buFont typeface="Arial"/>
              <a:buNone/>
            </a:pPr>
            <a:r>
              <a:rPr lang="en" sz="1141"/>
              <a:t>SELECT pg_typeof("App_ID") AS app_id_type</a:t>
            </a:r>
            <a:endParaRPr sz="1141"/>
          </a:p>
          <a:p>
            <a:pPr indent="0" lvl="0" marL="0" rtl="0" algn="l">
              <a:lnSpc>
                <a:spcPct val="100000"/>
              </a:lnSpc>
              <a:spcBef>
                <a:spcPts val="1200"/>
              </a:spcBef>
              <a:spcAft>
                <a:spcPts val="0"/>
              </a:spcAft>
              <a:buClr>
                <a:schemeClr val="dk1"/>
              </a:buClr>
              <a:buSzPts val="1100"/>
              <a:buFont typeface="Arial"/>
              <a:buNone/>
            </a:pPr>
            <a:r>
              <a:rPr lang="en" sz="1141"/>
              <a:t>FROM "CleanApplicantData"</a:t>
            </a:r>
            <a:endParaRPr sz="1141"/>
          </a:p>
          <a:p>
            <a:pPr indent="0" lvl="0" marL="0" rtl="0" algn="l">
              <a:lnSpc>
                <a:spcPct val="100000"/>
              </a:lnSpc>
              <a:spcBef>
                <a:spcPts val="1200"/>
              </a:spcBef>
              <a:spcAft>
                <a:spcPts val="0"/>
              </a:spcAft>
              <a:buNone/>
            </a:pPr>
            <a:r>
              <a:rPr lang="en" sz="1141"/>
              <a:t>LIMIT 1;</a:t>
            </a:r>
            <a:endParaRPr sz="1141"/>
          </a:p>
          <a:p>
            <a:pPr indent="0" lvl="0" marL="0" rtl="0" algn="l">
              <a:lnSpc>
                <a:spcPct val="100000"/>
              </a:lnSpc>
              <a:spcBef>
                <a:spcPts val="1200"/>
              </a:spcBef>
              <a:spcAft>
                <a:spcPts val="0"/>
              </a:spcAft>
              <a:buClr>
                <a:schemeClr val="dk1"/>
              </a:buClr>
              <a:buSzPts val="1100"/>
              <a:buFont typeface="Arial"/>
              <a:buNone/>
            </a:pPr>
            <a:r>
              <a:t/>
            </a:r>
            <a:endParaRPr sz="1141"/>
          </a:p>
          <a:p>
            <a:pPr indent="0" lvl="0" marL="0" rtl="0" algn="l">
              <a:lnSpc>
                <a:spcPct val="100000"/>
              </a:lnSpc>
              <a:spcBef>
                <a:spcPts val="1200"/>
              </a:spcBef>
              <a:spcAft>
                <a:spcPts val="0"/>
              </a:spcAft>
              <a:buClr>
                <a:schemeClr val="dk1"/>
              </a:buClr>
              <a:buSzPts val="1100"/>
              <a:buFont typeface="Arial"/>
              <a:buNone/>
            </a:pPr>
            <a:r>
              <a:rPr b="1" lang="en" sz="1141"/>
              <a:t>Datatype of Reference_ID of Cleaned_OutreachData:</a:t>
            </a:r>
            <a:endParaRPr b="1" sz="1141"/>
          </a:p>
          <a:p>
            <a:pPr indent="0" lvl="0" marL="0" rtl="0" algn="l">
              <a:lnSpc>
                <a:spcPct val="100000"/>
              </a:lnSpc>
              <a:spcBef>
                <a:spcPts val="1200"/>
              </a:spcBef>
              <a:spcAft>
                <a:spcPts val="0"/>
              </a:spcAft>
              <a:buClr>
                <a:schemeClr val="dk1"/>
              </a:buClr>
              <a:buSzPts val="1100"/>
              <a:buFont typeface="Arial"/>
              <a:buNone/>
            </a:pPr>
            <a:r>
              <a:rPr lang="en" sz="1141"/>
              <a:t>SELECT pg_typeof("Reference_ID") AS app_id_type</a:t>
            </a:r>
            <a:endParaRPr sz="1141"/>
          </a:p>
          <a:p>
            <a:pPr indent="0" lvl="0" marL="0" rtl="0" algn="l">
              <a:lnSpc>
                <a:spcPct val="100000"/>
              </a:lnSpc>
              <a:spcBef>
                <a:spcPts val="1200"/>
              </a:spcBef>
              <a:spcAft>
                <a:spcPts val="0"/>
              </a:spcAft>
              <a:buClr>
                <a:schemeClr val="dk1"/>
              </a:buClr>
              <a:buSzPts val="1100"/>
              <a:buFont typeface="Arial"/>
              <a:buNone/>
            </a:pPr>
            <a:r>
              <a:rPr lang="en" sz="1141"/>
              <a:t>FROM "Cleaned_OutreachData"</a:t>
            </a:r>
            <a:endParaRPr sz="1141"/>
          </a:p>
          <a:p>
            <a:pPr indent="0" lvl="0" marL="0" rtl="0" algn="l">
              <a:lnSpc>
                <a:spcPct val="100000"/>
              </a:lnSpc>
              <a:spcBef>
                <a:spcPts val="1200"/>
              </a:spcBef>
              <a:spcAft>
                <a:spcPts val="0"/>
              </a:spcAft>
              <a:buClr>
                <a:schemeClr val="dk1"/>
              </a:buClr>
              <a:buSzPts val="1100"/>
              <a:buFont typeface="Arial"/>
              <a:buNone/>
            </a:pPr>
            <a:r>
              <a:rPr lang="en" sz="1141"/>
              <a:t>LIMIT </a:t>
            </a:r>
            <a:r>
              <a:rPr lang="en" sz="1141"/>
              <a:t>1;</a:t>
            </a:r>
            <a:endParaRPr sz="1141"/>
          </a:p>
          <a:p>
            <a:pPr indent="0" lvl="0" marL="0" rtl="0" algn="l">
              <a:spcBef>
                <a:spcPts val="1200"/>
              </a:spcBef>
              <a:spcAft>
                <a:spcPts val="1200"/>
              </a:spcAft>
              <a:buNone/>
            </a:pPr>
            <a:r>
              <a:t/>
            </a:r>
            <a:endParaRPr/>
          </a:p>
        </p:txBody>
      </p:sp>
      <p:pic>
        <p:nvPicPr>
          <p:cNvPr id="82" name="Google Shape;82;p17"/>
          <p:cNvPicPr preferRelativeResize="0"/>
          <p:nvPr/>
        </p:nvPicPr>
        <p:blipFill>
          <a:blip r:embed="rId3">
            <a:alphaModFix/>
          </a:blip>
          <a:stretch>
            <a:fillRect/>
          </a:stretch>
        </p:blipFill>
        <p:spPr>
          <a:xfrm>
            <a:off x="4760250" y="787812"/>
            <a:ext cx="4228000" cy="1850175"/>
          </a:xfrm>
          <a:prstGeom prst="rect">
            <a:avLst/>
          </a:prstGeom>
          <a:noFill/>
          <a:ln>
            <a:noFill/>
          </a:ln>
        </p:spPr>
      </p:pic>
      <p:pic>
        <p:nvPicPr>
          <p:cNvPr id="83" name="Google Shape;83;p17"/>
          <p:cNvPicPr preferRelativeResize="0"/>
          <p:nvPr/>
        </p:nvPicPr>
        <p:blipFill>
          <a:blip r:embed="rId4">
            <a:alphaModFix/>
          </a:blip>
          <a:stretch>
            <a:fillRect/>
          </a:stretch>
        </p:blipFill>
        <p:spPr>
          <a:xfrm>
            <a:off x="4756900" y="2921575"/>
            <a:ext cx="4234700" cy="1941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89" name="Google Shape;89;p18"/>
          <p:cNvSpPr txBox="1"/>
          <p:nvPr>
            <p:ph idx="1" type="body"/>
          </p:nvPr>
        </p:nvSpPr>
        <p:spPr>
          <a:xfrm>
            <a:off x="311700" y="852125"/>
            <a:ext cx="3783000" cy="37167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 sz="1141"/>
              <a:t>Finding rows where App_ID is non-numeric:</a:t>
            </a:r>
            <a:endParaRPr b="1" sz="1141"/>
          </a:p>
          <a:p>
            <a:pPr indent="0" lvl="0" marL="0" rtl="0" algn="l">
              <a:lnSpc>
                <a:spcPct val="100000"/>
              </a:lnSpc>
              <a:spcBef>
                <a:spcPts val="1200"/>
              </a:spcBef>
              <a:spcAft>
                <a:spcPts val="0"/>
              </a:spcAft>
              <a:buNone/>
            </a:pPr>
            <a:r>
              <a:rPr lang="en" sz="1141"/>
              <a:t>SELECT COUNT(*) AS null_ids</a:t>
            </a:r>
            <a:endParaRPr sz="1141"/>
          </a:p>
          <a:p>
            <a:pPr indent="0" lvl="0" marL="0" rtl="0" algn="l">
              <a:lnSpc>
                <a:spcPct val="100000"/>
              </a:lnSpc>
              <a:spcBef>
                <a:spcPts val="1200"/>
              </a:spcBef>
              <a:spcAft>
                <a:spcPts val="0"/>
              </a:spcAft>
              <a:buNone/>
            </a:pPr>
            <a:r>
              <a:rPr lang="en" sz="1141"/>
              <a:t>FROM "CleanApplicantData"</a:t>
            </a:r>
            <a:endParaRPr sz="1141"/>
          </a:p>
          <a:p>
            <a:pPr indent="0" lvl="0" marL="0" rtl="0" algn="l">
              <a:lnSpc>
                <a:spcPct val="100000"/>
              </a:lnSpc>
              <a:spcBef>
                <a:spcPts val="1200"/>
              </a:spcBef>
              <a:spcAft>
                <a:spcPts val="0"/>
              </a:spcAft>
              <a:buNone/>
            </a:pPr>
            <a:r>
              <a:rPr lang="en" sz="1141"/>
              <a:t>WHERE "App_ID" IS NULL;</a:t>
            </a:r>
            <a:endParaRPr sz="1141"/>
          </a:p>
          <a:p>
            <a:pPr indent="0" lvl="0" marL="0" rtl="0" algn="l">
              <a:lnSpc>
                <a:spcPct val="100000"/>
              </a:lnSpc>
              <a:spcBef>
                <a:spcPts val="1200"/>
              </a:spcBef>
              <a:spcAft>
                <a:spcPts val="0"/>
              </a:spcAft>
              <a:buNone/>
            </a:pPr>
            <a:r>
              <a:t/>
            </a:r>
            <a:endParaRPr b="1" sz="1141"/>
          </a:p>
          <a:p>
            <a:pPr indent="0" lvl="0" marL="0" rtl="0" algn="l">
              <a:lnSpc>
                <a:spcPct val="100000"/>
              </a:lnSpc>
              <a:spcBef>
                <a:spcPts val="1200"/>
              </a:spcBef>
              <a:spcAft>
                <a:spcPts val="0"/>
              </a:spcAft>
              <a:buNone/>
            </a:pPr>
            <a:r>
              <a:rPr b="1" lang="en" sz="1141"/>
              <a:t>Checking texts in App_ID:</a:t>
            </a:r>
            <a:endParaRPr b="1" sz="1141"/>
          </a:p>
          <a:p>
            <a:pPr indent="0" lvl="0" marL="0" rtl="0" algn="l">
              <a:lnSpc>
                <a:spcPct val="100000"/>
              </a:lnSpc>
              <a:spcBef>
                <a:spcPts val="1200"/>
              </a:spcBef>
              <a:spcAft>
                <a:spcPts val="0"/>
              </a:spcAft>
              <a:buNone/>
            </a:pPr>
            <a:r>
              <a:rPr lang="en" sz="1141"/>
              <a:t>SELECT COUNT(*) </a:t>
            </a:r>
            <a:endParaRPr sz="1141"/>
          </a:p>
          <a:p>
            <a:pPr indent="0" lvl="0" marL="0" rtl="0" algn="l">
              <a:lnSpc>
                <a:spcPct val="100000"/>
              </a:lnSpc>
              <a:spcBef>
                <a:spcPts val="1200"/>
              </a:spcBef>
              <a:spcAft>
                <a:spcPts val="0"/>
              </a:spcAft>
              <a:buNone/>
            </a:pPr>
            <a:r>
              <a:rPr lang="en" sz="1141"/>
              <a:t>FROM "CleanApplicantData"</a:t>
            </a:r>
            <a:endParaRPr sz="1141"/>
          </a:p>
          <a:p>
            <a:pPr indent="0" lvl="0" marL="0" rtl="0" algn="l">
              <a:lnSpc>
                <a:spcPct val="100000"/>
              </a:lnSpc>
              <a:spcBef>
                <a:spcPts val="1200"/>
              </a:spcBef>
              <a:spcAft>
                <a:spcPts val="0"/>
              </a:spcAft>
              <a:buNone/>
            </a:pPr>
            <a:r>
              <a:rPr lang="en" sz="1141"/>
              <a:t>WHERE CAST("App_ID" AS TEXT) !~ '^[0-9]+$';</a:t>
            </a:r>
            <a:endParaRPr sz="1141"/>
          </a:p>
          <a:p>
            <a:pPr indent="0" lvl="0" marL="0" rtl="0" algn="l">
              <a:lnSpc>
                <a:spcPct val="100000"/>
              </a:lnSpc>
              <a:spcBef>
                <a:spcPts val="1200"/>
              </a:spcBef>
              <a:spcAft>
                <a:spcPts val="0"/>
              </a:spcAft>
              <a:buNone/>
            </a:pPr>
            <a:r>
              <a:t/>
            </a:r>
            <a:endParaRPr b="1" sz="1141"/>
          </a:p>
          <a:p>
            <a:pPr indent="0" lvl="0" marL="0" rtl="0" algn="l">
              <a:spcBef>
                <a:spcPts val="1200"/>
              </a:spcBef>
              <a:spcAft>
                <a:spcPts val="1200"/>
              </a:spcAft>
              <a:buNone/>
            </a:pPr>
            <a:r>
              <a:t/>
            </a:r>
            <a:endParaRPr/>
          </a:p>
        </p:txBody>
      </p:sp>
      <p:pic>
        <p:nvPicPr>
          <p:cNvPr id="90" name="Google Shape;90;p18"/>
          <p:cNvPicPr preferRelativeResize="0"/>
          <p:nvPr/>
        </p:nvPicPr>
        <p:blipFill>
          <a:blip r:embed="rId3">
            <a:alphaModFix/>
          </a:blip>
          <a:stretch>
            <a:fillRect/>
          </a:stretch>
        </p:blipFill>
        <p:spPr>
          <a:xfrm>
            <a:off x="4723450" y="664775"/>
            <a:ext cx="4268150" cy="2160575"/>
          </a:xfrm>
          <a:prstGeom prst="rect">
            <a:avLst/>
          </a:prstGeom>
          <a:noFill/>
          <a:ln>
            <a:noFill/>
          </a:ln>
        </p:spPr>
      </p:pic>
      <p:pic>
        <p:nvPicPr>
          <p:cNvPr id="91" name="Google Shape;91;p18"/>
          <p:cNvPicPr preferRelativeResize="0"/>
          <p:nvPr/>
        </p:nvPicPr>
        <p:blipFill>
          <a:blip r:embed="rId4">
            <a:alphaModFix/>
          </a:blip>
          <a:stretch>
            <a:fillRect/>
          </a:stretch>
        </p:blipFill>
        <p:spPr>
          <a:xfrm>
            <a:off x="4723450" y="3049900"/>
            <a:ext cx="4268148" cy="18609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97" name="Google Shape;97;p19"/>
          <p:cNvSpPr txBox="1"/>
          <p:nvPr>
            <p:ph idx="1" type="body"/>
          </p:nvPr>
        </p:nvSpPr>
        <p:spPr>
          <a:xfrm>
            <a:off x="311700" y="852125"/>
            <a:ext cx="3783000" cy="4093500"/>
          </a:xfrm>
          <a:prstGeom prst="rect">
            <a:avLst/>
          </a:prstGeom>
        </p:spPr>
        <p:txBody>
          <a:bodyPr anchorCtr="0" anchor="t" bIns="91425" lIns="91425" spcFirstLastPara="1" rIns="91425" wrap="square" tIns="91425">
            <a:normAutofit fontScale="55000" lnSpcReduction="10000"/>
          </a:bodyPr>
          <a:lstStyle/>
          <a:p>
            <a:pPr indent="0" lvl="0" marL="0" rtl="0" algn="l">
              <a:lnSpc>
                <a:spcPct val="100000"/>
              </a:lnSpc>
              <a:spcBef>
                <a:spcPts val="0"/>
              </a:spcBef>
              <a:spcAft>
                <a:spcPts val="0"/>
              </a:spcAft>
              <a:buNone/>
            </a:pPr>
            <a:r>
              <a:rPr b="1" lang="en" sz="2000"/>
              <a:t>how many applicant ID not null:</a:t>
            </a:r>
            <a:endParaRPr b="1" sz="2000"/>
          </a:p>
          <a:p>
            <a:pPr indent="0" lvl="0" marL="0" rtl="0" algn="l">
              <a:lnSpc>
                <a:spcPct val="100000"/>
              </a:lnSpc>
              <a:spcBef>
                <a:spcPts val="1200"/>
              </a:spcBef>
              <a:spcAft>
                <a:spcPts val="0"/>
              </a:spcAft>
              <a:buNone/>
            </a:pPr>
            <a:r>
              <a:rPr lang="en" sz="1600"/>
              <a:t>SELECT COUNT(*) AS valid_applicants</a:t>
            </a:r>
            <a:endParaRPr sz="1600"/>
          </a:p>
          <a:p>
            <a:pPr indent="0" lvl="0" marL="0" rtl="0" algn="l">
              <a:lnSpc>
                <a:spcPct val="100000"/>
              </a:lnSpc>
              <a:spcBef>
                <a:spcPts val="1200"/>
              </a:spcBef>
              <a:spcAft>
                <a:spcPts val="0"/>
              </a:spcAft>
              <a:buNone/>
            </a:pPr>
            <a:r>
              <a:rPr lang="en" sz="1600"/>
              <a:t>FROM "Cleaned_OutreachData" o</a:t>
            </a:r>
            <a:endParaRPr sz="1600"/>
          </a:p>
          <a:p>
            <a:pPr indent="0" lvl="0" marL="0" rtl="0" algn="l">
              <a:lnSpc>
                <a:spcPct val="100000"/>
              </a:lnSpc>
              <a:spcBef>
                <a:spcPts val="1200"/>
              </a:spcBef>
              <a:spcAft>
                <a:spcPts val="0"/>
              </a:spcAft>
              <a:buNone/>
            </a:pPr>
            <a:r>
              <a:rPr lang="en" sz="1600"/>
              <a:t>LEFT JOIN "CleanApplicantData" a ON o."Reference_ID" = a."App_ID"</a:t>
            </a:r>
            <a:endParaRPr sz="1600"/>
          </a:p>
          <a:p>
            <a:pPr indent="0" lvl="0" marL="0" rtl="0" algn="l">
              <a:lnSpc>
                <a:spcPct val="100000"/>
              </a:lnSpc>
              <a:spcBef>
                <a:spcPts val="1200"/>
              </a:spcBef>
              <a:spcAft>
                <a:spcPts val="0"/>
              </a:spcAft>
              <a:buNone/>
            </a:pPr>
            <a:r>
              <a:rPr lang="en" sz="1600"/>
              <a:t>WHERE a."App_ID" IS not NULL;</a:t>
            </a:r>
            <a:endParaRPr sz="1600"/>
          </a:p>
          <a:p>
            <a:pPr indent="0" lvl="0" marL="0" rtl="0" algn="l">
              <a:lnSpc>
                <a:spcPct val="100000"/>
              </a:lnSpc>
              <a:spcBef>
                <a:spcPts val="1200"/>
              </a:spcBef>
              <a:spcAft>
                <a:spcPts val="0"/>
              </a:spcAft>
              <a:buNone/>
            </a:pPr>
            <a:r>
              <a:t/>
            </a:r>
            <a:endParaRPr sz="1141"/>
          </a:p>
          <a:p>
            <a:pPr indent="0" lvl="0" marL="0" rtl="0" algn="l">
              <a:lnSpc>
                <a:spcPct val="100000"/>
              </a:lnSpc>
              <a:spcBef>
                <a:spcPts val="1200"/>
              </a:spcBef>
              <a:spcAft>
                <a:spcPts val="0"/>
              </a:spcAft>
              <a:buNone/>
            </a:pPr>
            <a:r>
              <a:rPr b="1" lang="en" sz="1750"/>
              <a:t>Outreach Reference_ID should match ApplicantData.App_ID:</a:t>
            </a:r>
            <a:endParaRPr b="1" sz="1750"/>
          </a:p>
          <a:p>
            <a:pPr indent="0" lvl="0" marL="0" rtl="0" algn="l">
              <a:lnSpc>
                <a:spcPct val="100000"/>
              </a:lnSpc>
              <a:spcBef>
                <a:spcPts val="1200"/>
              </a:spcBef>
              <a:spcAft>
                <a:spcPts val="0"/>
              </a:spcAft>
              <a:buNone/>
            </a:pPr>
            <a:r>
              <a:rPr lang="en" sz="1600"/>
              <a:t>SELECT COUNT(*) AS missing_applicants</a:t>
            </a:r>
            <a:endParaRPr sz="1600"/>
          </a:p>
          <a:p>
            <a:pPr indent="0" lvl="0" marL="0" rtl="0" algn="l">
              <a:lnSpc>
                <a:spcPct val="100000"/>
              </a:lnSpc>
              <a:spcBef>
                <a:spcPts val="1200"/>
              </a:spcBef>
              <a:spcAft>
                <a:spcPts val="0"/>
              </a:spcAft>
              <a:buNone/>
            </a:pPr>
            <a:r>
              <a:rPr lang="en" sz="1600"/>
              <a:t>FROM "Cleaned_OutreachData" o</a:t>
            </a:r>
            <a:endParaRPr sz="1600"/>
          </a:p>
          <a:p>
            <a:pPr indent="0" lvl="0" marL="0" rtl="0" algn="l">
              <a:lnSpc>
                <a:spcPct val="100000"/>
              </a:lnSpc>
              <a:spcBef>
                <a:spcPts val="1200"/>
              </a:spcBef>
              <a:spcAft>
                <a:spcPts val="0"/>
              </a:spcAft>
              <a:buNone/>
            </a:pPr>
            <a:r>
              <a:rPr lang="en" sz="1600"/>
              <a:t>LEFT JOIN "CleanApplicantData" a ON o."Reference_ID" = a."App_ID"</a:t>
            </a:r>
            <a:endParaRPr sz="1600"/>
          </a:p>
          <a:p>
            <a:pPr indent="0" lvl="0" marL="0" rtl="0" algn="l">
              <a:lnSpc>
                <a:spcPct val="100000"/>
              </a:lnSpc>
              <a:spcBef>
                <a:spcPts val="1200"/>
              </a:spcBef>
              <a:spcAft>
                <a:spcPts val="0"/>
              </a:spcAft>
              <a:buNone/>
            </a:pPr>
            <a:r>
              <a:rPr lang="en" sz="1600"/>
              <a:t>WHERE a."App_ID" IS NULL;</a:t>
            </a:r>
            <a:endParaRPr sz="1600"/>
          </a:p>
          <a:p>
            <a:pPr indent="0" lvl="0" marL="0" rtl="0" algn="l">
              <a:lnSpc>
                <a:spcPct val="100000"/>
              </a:lnSpc>
              <a:spcBef>
                <a:spcPts val="1200"/>
              </a:spcBef>
              <a:spcAft>
                <a:spcPts val="0"/>
              </a:spcAft>
              <a:buNone/>
            </a:pPr>
            <a:r>
              <a:t/>
            </a:r>
            <a:endParaRPr b="1" sz="1400"/>
          </a:p>
          <a:p>
            <a:pPr indent="0" lvl="0" marL="0" rtl="0" algn="l">
              <a:lnSpc>
                <a:spcPct val="100000"/>
              </a:lnSpc>
              <a:spcBef>
                <a:spcPts val="1200"/>
              </a:spcBef>
              <a:spcAft>
                <a:spcPts val="0"/>
              </a:spcAft>
              <a:buNone/>
            </a:pPr>
            <a:r>
              <a:t/>
            </a:r>
            <a:endParaRPr b="1" sz="1141"/>
          </a:p>
          <a:p>
            <a:pPr indent="0" lvl="0" marL="0" rtl="0" algn="l">
              <a:lnSpc>
                <a:spcPct val="100000"/>
              </a:lnSpc>
              <a:spcBef>
                <a:spcPts val="1200"/>
              </a:spcBef>
              <a:spcAft>
                <a:spcPts val="0"/>
              </a:spcAft>
              <a:buNone/>
            </a:pPr>
            <a:r>
              <a:t/>
            </a:r>
            <a:endParaRPr b="1" sz="1141"/>
          </a:p>
          <a:p>
            <a:pPr indent="0" lvl="0" marL="0" rtl="0" algn="l">
              <a:spcBef>
                <a:spcPts val="1200"/>
              </a:spcBef>
              <a:spcAft>
                <a:spcPts val="1200"/>
              </a:spcAft>
              <a:buNone/>
            </a:pPr>
            <a:r>
              <a:t/>
            </a:r>
            <a:endParaRPr/>
          </a:p>
        </p:txBody>
      </p:sp>
      <p:pic>
        <p:nvPicPr>
          <p:cNvPr id="98" name="Google Shape;98;p19"/>
          <p:cNvPicPr preferRelativeResize="0"/>
          <p:nvPr/>
        </p:nvPicPr>
        <p:blipFill>
          <a:blip r:embed="rId3">
            <a:alphaModFix/>
          </a:blip>
          <a:stretch>
            <a:fillRect/>
          </a:stretch>
        </p:blipFill>
        <p:spPr>
          <a:xfrm>
            <a:off x="5208600" y="758475"/>
            <a:ext cx="3783000" cy="2394500"/>
          </a:xfrm>
          <a:prstGeom prst="rect">
            <a:avLst/>
          </a:prstGeom>
          <a:noFill/>
          <a:ln>
            <a:noFill/>
          </a:ln>
        </p:spPr>
      </p:pic>
      <p:sp>
        <p:nvSpPr>
          <p:cNvPr id="99" name="Google Shape;99;p19"/>
          <p:cNvSpPr txBox="1"/>
          <p:nvPr/>
        </p:nvSpPr>
        <p:spPr>
          <a:xfrm>
            <a:off x="5208600" y="3607800"/>
            <a:ext cx="3742200" cy="6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rPr>
              <a:t>So, those null App_ID’s also has null on country and other columns which shows it will not create any issue with other columns.</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83275"/>
            <a:ext cx="8520600" cy="48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500">
                <a:solidFill>
                  <a:schemeClr val="dk2"/>
                </a:solidFill>
              </a:rPr>
              <a:t>Data Consistency Check</a:t>
            </a:r>
            <a:endParaRPr b="1" sz="2500"/>
          </a:p>
        </p:txBody>
      </p:sp>
      <p:sp>
        <p:nvSpPr>
          <p:cNvPr id="105" name="Google Shape;105;p20"/>
          <p:cNvSpPr txBox="1"/>
          <p:nvPr>
            <p:ph idx="1" type="body"/>
          </p:nvPr>
        </p:nvSpPr>
        <p:spPr>
          <a:xfrm>
            <a:off x="311700" y="852125"/>
            <a:ext cx="3783000" cy="40935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141"/>
          </a:p>
          <a:p>
            <a:pPr indent="0" lvl="0" marL="0" rtl="0" algn="l">
              <a:lnSpc>
                <a:spcPct val="100000"/>
              </a:lnSpc>
              <a:spcBef>
                <a:spcPts val="1200"/>
              </a:spcBef>
              <a:spcAft>
                <a:spcPts val="0"/>
              </a:spcAft>
              <a:buNone/>
            </a:pPr>
            <a:r>
              <a:rPr b="1" lang="en" sz="1400"/>
              <a:t>checking other informations of those null app_id's:</a:t>
            </a:r>
            <a:endParaRPr b="1" sz="1400"/>
          </a:p>
          <a:p>
            <a:pPr indent="0" lvl="0" marL="0" rtl="0" algn="l">
              <a:lnSpc>
                <a:spcPct val="100000"/>
              </a:lnSpc>
              <a:spcBef>
                <a:spcPts val="1200"/>
              </a:spcBef>
              <a:spcAft>
                <a:spcPts val="0"/>
              </a:spcAft>
              <a:buNone/>
            </a:pPr>
            <a:r>
              <a:rPr lang="en" sz="1150"/>
              <a:t>SELECT "App_ID", "Country", "Phone_Number"</a:t>
            </a:r>
            <a:endParaRPr sz="1150"/>
          </a:p>
          <a:p>
            <a:pPr indent="0" lvl="0" marL="0" rtl="0" algn="l">
              <a:lnSpc>
                <a:spcPct val="100000"/>
              </a:lnSpc>
              <a:spcBef>
                <a:spcPts val="1200"/>
              </a:spcBef>
              <a:spcAft>
                <a:spcPts val="0"/>
              </a:spcAft>
              <a:buNone/>
            </a:pPr>
            <a:r>
              <a:rPr lang="en" sz="1150"/>
              <a:t>FROM "Cleaned_OutreachData" o</a:t>
            </a:r>
            <a:endParaRPr sz="1150"/>
          </a:p>
          <a:p>
            <a:pPr indent="0" lvl="0" marL="0" rtl="0" algn="l">
              <a:lnSpc>
                <a:spcPct val="100000"/>
              </a:lnSpc>
              <a:spcBef>
                <a:spcPts val="1200"/>
              </a:spcBef>
              <a:spcAft>
                <a:spcPts val="0"/>
              </a:spcAft>
              <a:buNone/>
            </a:pPr>
            <a:r>
              <a:rPr lang="en" sz="1150"/>
              <a:t>LEFT JOIN "CleanApplicantData" a ON o."Reference_ID" = a."App_ID"</a:t>
            </a:r>
            <a:endParaRPr sz="1150"/>
          </a:p>
          <a:p>
            <a:pPr indent="0" lvl="0" marL="0" rtl="0" algn="l">
              <a:lnSpc>
                <a:spcPct val="100000"/>
              </a:lnSpc>
              <a:spcBef>
                <a:spcPts val="1200"/>
              </a:spcBef>
              <a:spcAft>
                <a:spcPts val="0"/>
              </a:spcAft>
              <a:buNone/>
            </a:pPr>
            <a:r>
              <a:rPr lang="en" sz="1150"/>
              <a:t>WHERE a."App_ID" IS NULL;</a:t>
            </a:r>
            <a:endParaRPr sz="1150"/>
          </a:p>
          <a:p>
            <a:pPr indent="0" lvl="0" marL="0" rtl="0" algn="l">
              <a:lnSpc>
                <a:spcPct val="100000"/>
              </a:lnSpc>
              <a:spcBef>
                <a:spcPts val="1200"/>
              </a:spcBef>
              <a:spcAft>
                <a:spcPts val="0"/>
              </a:spcAft>
              <a:buNone/>
            </a:pPr>
            <a:r>
              <a:t/>
            </a:r>
            <a:endParaRPr b="1" sz="1141"/>
          </a:p>
          <a:p>
            <a:pPr indent="0" lvl="0" marL="0" rtl="0" algn="l">
              <a:lnSpc>
                <a:spcPct val="100000"/>
              </a:lnSpc>
              <a:spcBef>
                <a:spcPts val="1200"/>
              </a:spcBef>
              <a:spcAft>
                <a:spcPts val="0"/>
              </a:spcAft>
              <a:buNone/>
            </a:pPr>
            <a:r>
              <a:t/>
            </a:r>
            <a:endParaRPr b="1" sz="1141"/>
          </a:p>
          <a:p>
            <a:pPr indent="0" lvl="0" marL="0" rtl="0" algn="l">
              <a:spcBef>
                <a:spcPts val="1200"/>
              </a:spcBef>
              <a:spcAft>
                <a:spcPts val="1200"/>
              </a:spcAft>
              <a:buNone/>
            </a:pPr>
            <a:r>
              <a:t/>
            </a:r>
            <a:endParaRPr/>
          </a:p>
        </p:txBody>
      </p:sp>
      <p:pic>
        <p:nvPicPr>
          <p:cNvPr id="106" name="Google Shape;106;p20"/>
          <p:cNvPicPr preferRelativeResize="0"/>
          <p:nvPr/>
        </p:nvPicPr>
        <p:blipFill>
          <a:blip r:embed="rId3">
            <a:alphaModFix/>
          </a:blip>
          <a:stretch>
            <a:fillRect/>
          </a:stretch>
        </p:blipFill>
        <p:spPr>
          <a:xfrm>
            <a:off x="5492650" y="591250"/>
            <a:ext cx="3425375" cy="1939700"/>
          </a:xfrm>
          <a:prstGeom prst="rect">
            <a:avLst/>
          </a:prstGeom>
          <a:noFill/>
          <a:ln>
            <a:noFill/>
          </a:ln>
        </p:spPr>
      </p:pic>
      <p:sp>
        <p:nvSpPr>
          <p:cNvPr id="107" name="Google Shape;107;p20"/>
          <p:cNvSpPr txBox="1"/>
          <p:nvPr/>
        </p:nvSpPr>
        <p:spPr>
          <a:xfrm>
            <a:off x="5208600" y="2805175"/>
            <a:ext cx="3742200" cy="214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1. Out of all outreach records, </a:t>
            </a:r>
            <a:r>
              <a:rPr b="1" lang="en" sz="800">
                <a:solidFill>
                  <a:schemeClr val="dk1"/>
                </a:solidFill>
              </a:rPr>
              <a:t>42 records referenced invalid applicant IDs</a:t>
            </a:r>
            <a:r>
              <a:rPr lang="en" sz="800">
                <a:solidFill>
                  <a:schemeClr val="dk1"/>
                </a:solidFill>
              </a:rPr>
              <a:t> that did not exist in the Applicant dataset.</a:t>
            </a:r>
            <a:endParaRPr sz="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2. These represent </a:t>
            </a:r>
            <a:r>
              <a:rPr b="1" lang="en" sz="800">
                <a:solidFill>
                  <a:schemeClr val="dk1"/>
                </a:solidFill>
              </a:rPr>
              <a:t>~0.1%</a:t>
            </a:r>
            <a:r>
              <a:rPr lang="en" sz="800">
                <a:solidFill>
                  <a:schemeClr val="dk1"/>
                </a:solidFill>
              </a:rPr>
              <a:t> of the total (42 / (33076+42)), which is statistically insignificant for overall trends.</a:t>
            </a:r>
            <a:endParaRPr sz="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3. For the current analysis and visualizations, these records were </a:t>
            </a:r>
            <a:r>
              <a:rPr b="1" lang="en" sz="800">
                <a:solidFill>
                  <a:schemeClr val="dk1"/>
                </a:solidFill>
              </a:rPr>
              <a:t>excluded</a:t>
            </a:r>
            <a:r>
              <a:rPr lang="en" sz="800">
                <a:solidFill>
                  <a:schemeClr val="dk1"/>
                </a:solidFill>
              </a:rPr>
              <a:t> to maintain data consistency.</a:t>
            </a:r>
            <a:endParaRPr sz="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800">
                <a:solidFill>
                  <a:schemeClr val="dk1"/>
                </a:solidFill>
              </a:rPr>
              <a:t>4. Future work may involve:</a:t>
            </a:r>
            <a:endParaRPr sz="800">
              <a:solidFill>
                <a:schemeClr val="dk1"/>
              </a:solidFill>
            </a:endParaRPr>
          </a:p>
          <a:p>
            <a:pPr indent="-279400" lvl="0" marL="457200" rtl="0" algn="l">
              <a:lnSpc>
                <a:spcPct val="100000"/>
              </a:lnSpc>
              <a:spcBef>
                <a:spcPts val="1200"/>
              </a:spcBef>
              <a:spcAft>
                <a:spcPts val="0"/>
              </a:spcAft>
              <a:buClr>
                <a:schemeClr val="dk1"/>
              </a:buClr>
              <a:buSzPts val="800"/>
              <a:buAutoNum type="arabicPeriod"/>
            </a:pPr>
            <a:r>
              <a:rPr lang="en" sz="800">
                <a:solidFill>
                  <a:schemeClr val="dk1"/>
                </a:solidFill>
              </a:rPr>
              <a:t>Investigating why these IDs are missing (data entry error, system issue, external applicants).</a:t>
            </a:r>
            <a:endParaRPr sz="800">
              <a:solidFill>
                <a:schemeClr val="dk1"/>
              </a:solidFill>
            </a:endParaRPr>
          </a:p>
          <a:p>
            <a:pPr indent="-279400" lvl="0" marL="457200" rtl="0" algn="l">
              <a:lnSpc>
                <a:spcPct val="100000"/>
              </a:lnSpc>
              <a:spcBef>
                <a:spcPts val="0"/>
              </a:spcBef>
              <a:spcAft>
                <a:spcPts val="0"/>
              </a:spcAft>
              <a:buClr>
                <a:schemeClr val="dk1"/>
              </a:buClr>
              <a:buSzPts val="800"/>
              <a:buAutoNum type="arabicPeriod"/>
            </a:pPr>
            <a:r>
              <a:rPr lang="en" sz="800">
                <a:solidFill>
                  <a:schemeClr val="dk1"/>
                </a:solidFill>
              </a:rPr>
              <a:t>Either </a:t>
            </a:r>
            <a:r>
              <a:rPr b="1" lang="en" sz="800">
                <a:solidFill>
                  <a:schemeClr val="dk1"/>
                </a:solidFill>
              </a:rPr>
              <a:t>removing them permanently</a:t>
            </a:r>
            <a:r>
              <a:rPr lang="en" sz="800">
                <a:solidFill>
                  <a:schemeClr val="dk1"/>
                </a:solidFill>
              </a:rPr>
              <a:t> or </a:t>
            </a:r>
            <a:r>
              <a:rPr b="1" lang="en" sz="800">
                <a:solidFill>
                  <a:schemeClr val="dk1"/>
                </a:solidFill>
              </a:rPr>
              <a:t>fixing them</a:t>
            </a:r>
            <a:r>
              <a:rPr lang="en" sz="800">
                <a:solidFill>
                  <a:schemeClr val="dk1"/>
                </a:solidFill>
              </a:rPr>
              <a:t> if correct references can be found.</a:t>
            </a:r>
            <a:endParaRPr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136450"/>
            <a:ext cx="8520600" cy="602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500">
                <a:solidFill>
                  <a:schemeClr val="dk2"/>
                </a:solidFill>
              </a:rPr>
              <a:t>Completeness Verification</a:t>
            </a:r>
            <a:endParaRPr b="1" sz="2500"/>
          </a:p>
        </p:txBody>
      </p:sp>
      <p:sp>
        <p:nvSpPr>
          <p:cNvPr id="113" name="Google Shape;113;p21"/>
          <p:cNvSpPr txBox="1"/>
          <p:nvPr>
            <p:ph idx="1" type="body"/>
          </p:nvPr>
        </p:nvSpPr>
        <p:spPr>
          <a:xfrm>
            <a:off x="311700" y="771850"/>
            <a:ext cx="5421600" cy="3797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100"/>
              <a:t>ApplicantData missing values:</a:t>
            </a:r>
            <a:endParaRPr b="1" sz="1100"/>
          </a:p>
          <a:p>
            <a:pPr indent="0" lvl="0" marL="0" rtl="0" algn="l">
              <a:spcBef>
                <a:spcPts val="1200"/>
              </a:spcBef>
              <a:spcAft>
                <a:spcPts val="0"/>
              </a:spcAft>
              <a:buClr>
                <a:schemeClr val="dk1"/>
              </a:buClr>
              <a:buSzPts val="1100"/>
              <a:buFont typeface="Arial"/>
              <a:buNone/>
            </a:pPr>
            <a:r>
              <a:rPr lang="en" sz="1116"/>
              <a:t>SELECT </a:t>
            </a:r>
            <a:endParaRPr sz="1116"/>
          </a:p>
          <a:p>
            <a:pPr indent="0" lvl="0" marL="0" rtl="0" algn="l">
              <a:spcBef>
                <a:spcPts val="1200"/>
              </a:spcBef>
              <a:spcAft>
                <a:spcPts val="0"/>
              </a:spcAft>
              <a:buClr>
                <a:schemeClr val="dk1"/>
              </a:buClr>
              <a:buSzPts val="1100"/>
              <a:buFont typeface="Arial"/>
              <a:buNone/>
            </a:pPr>
            <a:r>
              <a:rPr lang="en" sz="1116"/>
              <a:t>    COUNT(*) FILTER (WHERE "Country" IS NULL OR "Country" = '') AS missing_country,</a:t>
            </a:r>
            <a:endParaRPr sz="1116"/>
          </a:p>
          <a:p>
            <a:pPr indent="0" lvl="0" marL="0" rtl="0" algn="l">
              <a:spcBef>
                <a:spcPts val="1200"/>
              </a:spcBef>
              <a:spcAft>
                <a:spcPts val="0"/>
              </a:spcAft>
              <a:buClr>
                <a:schemeClr val="dk1"/>
              </a:buClr>
              <a:buSzPts val="1100"/>
              <a:buFont typeface="Arial"/>
              <a:buNone/>
            </a:pPr>
            <a:r>
              <a:rPr lang="en" sz="1116"/>
              <a:t>    COUNT(*) FILTER (WHERE "University" IS NULL OR "University" = '') AS missing_university,</a:t>
            </a:r>
            <a:endParaRPr sz="1116"/>
          </a:p>
          <a:p>
            <a:pPr indent="0" lvl="0" marL="0" rtl="0" algn="l">
              <a:spcBef>
                <a:spcPts val="1200"/>
              </a:spcBef>
              <a:spcAft>
                <a:spcPts val="0"/>
              </a:spcAft>
              <a:buClr>
                <a:schemeClr val="dk1"/>
              </a:buClr>
              <a:buSzPts val="1100"/>
              <a:buFont typeface="Arial"/>
              <a:buNone/>
            </a:pPr>
            <a:r>
              <a:rPr lang="en" sz="1116"/>
              <a:t>    COUNT(*) FILTER (WHERE "Phone_Number" IS NULL OR "Phone_Number" = '') AS missing_phone</a:t>
            </a:r>
            <a:endParaRPr sz="1116"/>
          </a:p>
          <a:p>
            <a:pPr indent="0" lvl="0" marL="0" rtl="0" algn="l">
              <a:spcBef>
                <a:spcPts val="1200"/>
              </a:spcBef>
              <a:spcAft>
                <a:spcPts val="0"/>
              </a:spcAft>
              <a:buNone/>
            </a:pPr>
            <a:r>
              <a:rPr lang="en" sz="1116"/>
              <a:t>FROM "CleanApplicantData";</a:t>
            </a:r>
            <a:endParaRPr sz="1116"/>
          </a:p>
          <a:p>
            <a:pPr indent="0" lvl="0" marL="0" rtl="0" algn="l">
              <a:spcBef>
                <a:spcPts val="1200"/>
              </a:spcBef>
              <a:spcAft>
                <a:spcPts val="0"/>
              </a:spcAft>
              <a:buClr>
                <a:schemeClr val="dk1"/>
              </a:buClr>
              <a:buSzPts val="1100"/>
              <a:buFont typeface="Arial"/>
              <a:buNone/>
            </a:pPr>
            <a:r>
              <a:t/>
            </a:r>
            <a:endParaRPr sz="4400"/>
          </a:p>
          <a:p>
            <a:pPr indent="0" lvl="0" marL="0" rtl="0" algn="l">
              <a:spcBef>
                <a:spcPts val="1200"/>
              </a:spcBef>
              <a:spcAft>
                <a:spcPts val="1200"/>
              </a:spcAft>
              <a:buNone/>
            </a:pPr>
            <a:r>
              <a:t/>
            </a:r>
            <a:endParaRPr sz="1100"/>
          </a:p>
        </p:txBody>
      </p:sp>
      <p:pic>
        <p:nvPicPr>
          <p:cNvPr id="114" name="Google Shape;114;p21"/>
          <p:cNvPicPr preferRelativeResize="0"/>
          <p:nvPr/>
        </p:nvPicPr>
        <p:blipFill>
          <a:blip r:embed="rId3">
            <a:alphaModFix/>
          </a:blip>
          <a:stretch>
            <a:fillRect/>
          </a:stretch>
        </p:blipFill>
        <p:spPr>
          <a:xfrm>
            <a:off x="5885700" y="798625"/>
            <a:ext cx="3105899" cy="2220600"/>
          </a:xfrm>
          <a:prstGeom prst="rect">
            <a:avLst/>
          </a:prstGeom>
          <a:noFill/>
          <a:ln>
            <a:noFill/>
          </a:ln>
        </p:spPr>
      </p:pic>
      <p:sp>
        <p:nvSpPr>
          <p:cNvPr id="115" name="Google Shape;115;p21"/>
          <p:cNvSpPr txBox="1"/>
          <p:nvPr/>
        </p:nvSpPr>
        <p:spPr>
          <a:xfrm>
            <a:off x="5974225" y="3340275"/>
            <a:ext cx="3017400" cy="16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The Country column has 361 missing values, representing only 0.2% of the dataset. To account for this, a country filter was added in the dashboard to ensure accurate analysis.</a:t>
            </a:r>
            <a:endParaRPr sz="9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278250" y="13067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2500">
                <a:solidFill>
                  <a:schemeClr val="dk2"/>
                </a:solidFill>
              </a:rPr>
              <a:t>Completeness Verification</a:t>
            </a:r>
            <a:endParaRPr/>
          </a:p>
        </p:txBody>
      </p:sp>
      <p:sp>
        <p:nvSpPr>
          <p:cNvPr id="121" name="Google Shape;121;p22"/>
          <p:cNvSpPr txBox="1"/>
          <p:nvPr>
            <p:ph idx="1" type="body"/>
          </p:nvPr>
        </p:nvSpPr>
        <p:spPr>
          <a:xfrm>
            <a:off x="311700" y="818675"/>
            <a:ext cx="5020500" cy="375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50"/>
              <a:t>CampaignData missing values:</a:t>
            </a:r>
            <a:endParaRPr b="1" sz="1150"/>
          </a:p>
          <a:p>
            <a:pPr indent="0" lvl="0" marL="0" rtl="0" algn="l">
              <a:spcBef>
                <a:spcPts val="1200"/>
              </a:spcBef>
              <a:spcAft>
                <a:spcPts val="0"/>
              </a:spcAft>
              <a:buClr>
                <a:schemeClr val="dk1"/>
              </a:buClr>
              <a:buSzPts val="1100"/>
              <a:buFont typeface="Arial"/>
              <a:buNone/>
            </a:pPr>
            <a:r>
              <a:rPr lang="en" sz="900"/>
              <a:t>SELECT </a:t>
            </a:r>
            <a:endParaRPr sz="900"/>
          </a:p>
          <a:p>
            <a:pPr indent="0" lvl="0" marL="0" rtl="0" algn="l">
              <a:spcBef>
                <a:spcPts val="1200"/>
              </a:spcBef>
              <a:spcAft>
                <a:spcPts val="0"/>
              </a:spcAft>
              <a:buClr>
                <a:schemeClr val="dk1"/>
              </a:buClr>
              <a:buSzPts val="1100"/>
              <a:buFont typeface="Arial"/>
              <a:buNone/>
            </a:pPr>
            <a:r>
              <a:rPr lang="en" sz="900"/>
              <a:t>    COUNT(*) FILTER (WHERE "Name" IS NULL OR "Name" = '') AS missing_name,</a:t>
            </a:r>
            <a:endParaRPr sz="900"/>
          </a:p>
          <a:p>
            <a:pPr indent="0" lvl="0" marL="0" rtl="0" algn="l">
              <a:spcBef>
                <a:spcPts val="1200"/>
              </a:spcBef>
              <a:spcAft>
                <a:spcPts val="0"/>
              </a:spcAft>
              <a:buClr>
                <a:schemeClr val="dk1"/>
              </a:buClr>
              <a:buSzPts val="1100"/>
              <a:buFont typeface="Arial"/>
              <a:buNone/>
            </a:pPr>
            <a:r>
              <a:rPr lang="en" sz="900"/>
              <a:t>    COUNT(*) FILTER (WHERE "Start_Date" IS NULL) AS missing_start_date,</a:t>
            </a:r>
            <a:endParaRPr sz="900"/>
          </a:p>
          <a:p>
            <a:pPr indent="0" lvl="0" marL="0" rtl="0" algn="l">
              <a:spcBef>
                <a:spcPts val="1200"/>
              </a:spcBef>
              <a:spcAft>
                <a:spcPts val="0"/>
              </a:spcAft>
              <a:buClr>
                <a:schemeClr val="dk1"/>
              </a:buClr>
              <a:buSzPts val="1100"/>
              <a:buFont typeface="Arial"/>
              <a:buNone/>
            </a:pPr>
            <a:r>
              <a:rPr lang="en" sz="900"/>
              <a:t>    COUNT(*) FILTER (WHERE "Campaign_Type" IS NULL OR "Campaign_Type" = '') AS missing_campaign_type</a:t>
            </a:r>
            <a:endParaRPr sz="900"/>
          </a:p>
          <a:p>
            <a:pPr indent="0" lvl="0" marL="0" rtl="0" algn="l">
              <a:spcBef>
                <a:spcPts val="1200"/>
              </a:spcBef>
              <a:spcAft>
                <a:spcPts val="0"/>
              </a:spcAft>
              <a:buClr>
                <a:schemeClr val="dk1"/>
              </a:buClr>
              <a:buSzPts val="1100"/>
              <a:buFont typeface="Arial"/>
              <a:buNone/>
            </a:pPr>
            <a:r>
              <a:rPr lang="en" sz="900"/>
              <a:t>FROM "Cleaned_CampaignData";</a:t>
            </a:r>
            <a:endParaRPr sz="900"/>
          </a:p>
          <a:p>
            <a:pPr indent="0" lvl="0" marL="0" rtl="0" algn="l">
              <a:spcBef>
                <a:spcPts val="1200"/>
              </a:spcBef>
              <a:spcAft>
                <a:spcPts val="1200"/>
              </a:spcAft>
              <a:buNone/>
            </a:pPr>
            <a:r>
              <a:t/>
            </a:r>
            <a:endParaRPr/>
          </a:p>
        </p:txBody>
      </p:sp>
      <p:pic>
        <p:nvPicPr>
          <p:cNvPr id="122" name="Google Shape;122;p22"/>
          <p:cNvPicPr preferRelativeResize="0"/>
          <p:nvPr/>
        </p:nvPicPr>
        <p:blipFill>
          <a:blip r:embed="rId3">
            <a:alphaModFix/>
          </a:blip>
          <a:stretch>
            <a:fillRect/>
          </a:stretch>
        </p:blipFill>
        <p:spPr>
          <a:xfrm>
            <a:off x="5566225" y="818675"/>
            <a:ext cx="3531574" cy="32038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1306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n" sz="2500">
                <a:solidFill>
                  <a:schemeClr val="dk2"/>
                </a:solidFill>
              </a:rPr>
              <a:t>Completeness Verification</a:t>
            </a:r>
            <a:endParaRPr/>
          </a:p>
        </p:txBody>
      </p:sp>
      <p:sp>
        <p:nvSpPr>
          <p:cNvPr id="128" name="Google Shape;128;p23"/>
          <p:cNvSpPr txBox="1"/>
          <p:nvPr>
            <p:ph idx="1" type="body"/>
          </p:nvPr>
        </p:nvSpPr>
        <p:spPr>
          <a:xfrm>
            <a:off x="311700" y="852125"/>
            <a:ext cx="5160900" cy="37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t>OutreachData missing values</a:t>
            </a:r>
            <a:endParaRPr b="1" sz="1100"/>
          </a:p>
          <a:p>
            <a:pPr indent="0" lvl="0" marL="0" rtl="0" algn="l">
              <a:spcBef>
                <a:spcPts val="1200"/>
              </a:spcBef>
              <a:spcAft>
                <a:spcPts val="0"/>
              </a:spcAft>
              <a:buClr>
                <a:schemeClr val="dk1"/>
              </a:buClr>
              <a:buSzPts val="1100"/>
              <a:buFont typeface="Arial"/>
              <a:buNone/>
            </a:pPr>
            <a:r>
              <a:rPr lang="en" sz="900"/>
              <a:t>SELECT </a:t>
            </a:r>
            <a:endParaRPr sz="900"/>
          </a:p>
          <a:p>
            <a:pPr indent="0" lvl="0" marL="0" rtl="0" algn="l">
              <a:spcBef>
                <a:spcPts val="1200"/>
              </a:spcBef>
              <a:spcAft>
                <a:spcPts val="0"/>
              </a:spcAft>
              <a:buClr>
                <a:schemeClr val="dk1"/>
              </a:buClr>
              <a:buSzPts val="1100"/>
              <a:buFont typeface="Arial"/>
              <a:buNone/>
            </a:pPr>
            <a:r>
              <a:rPr lang="en" sz="900"/>
              <a:t>    COUNT(*) FILTER (WHERE "University" IS NULL OR "University" = '') AS missing_university,</a:t>
            </a:r>
            <a:endParaRPr sz="900"/>
          </a:p>
          <a:p>
            <a:pPr indent="0" lvl="0" marL="0" rtl="0" algn="l">
              <a:spcBef>
                <a:spcPts val="1200"/>
              </a:spcBef>
              <a:spcAft>
                <a:spcPts val="0"/>
              </a:spcAft>
              <a:buClr>
                <a:schemeClr val="dk1"/>
              </a:buClr>
              <a:buSzPts val="1100"/>
              <a:buFont typeface="Arial"/>
              <a:buNone/>
            </a:pPr>
            <a:r>
              <a:rPr lang="en" sz="900"/>
              <a:t>    COUNT(*) FILTER (WHERE "Caller_Name" IS NULL OR "Caller_Name" = '') AS missing_caller,</a:t>
            </a:r>
            <a:endParaRPr sz="900"/>
          </a:p>
          <a:p>
            <a:pPr indent="0" lvl="0" marL="0" rtl="0" algn="l">
              <a:spcBef>
                <a:spcPts val="1200"/>
              </a:spcBef>
              <a:spcAft>
                <a:spcPts val="0"/>
              </a:spcAft>
              <a:buClr>
                <a:schemeClr val="dk1"/>
              </a:buClr>
              <a:buSzPts val="1100"/>
              <a:buFont typeface="Arial"/>
              <a:buNone/>
            </a:pPr>
            <a:r>
              <a:rPr lang="en" sz="900"/>
              <a:t>    COUNT(*) FILTER (WHERE "Outcome_1" IS NULL OR "Outcome_1" = '') AS missing_outcome</a:t>
            </a:r>
            <a:endParaRPr sz="900"/>
          </a:p>
          <a:p>
            <a:pPr indent="0" lvl="0" marL="0" rtl="0" algn="l">
              <a:spcBef>
                <a:spcPts val="1200"/>
              </a:spcBef>
              <a:spcAft>
                <a:spcPts val="0"/>
              </a:spcAft>
              <a:buClr>
                <a:schemeClr val="dk1"/>
              </a:buClr>
              <a:buSzPts val="1100"/>
              <a:buFont typeface="Arial"/>
              <a:buNone/>
            </a:pPr>
            <a:r>
              <a:rPr lang="en" sz="900"/>
              <a:t>FROM "Cleaned_OutreachData";</a:t>
            </a:r>
            <a:endParaRPr sz="900"/>
          </a:p>
          <a:p>
            <a:pPr indent="0" lvl="0" marL="0" rtl="0" algn="l">
              <a:spcBef>
                <a:spcPts val="1200"/>
              </a:spcBef>
              <a:spcAft>
                <a:spcPts val="1200"/>
              </a:spcAft>
              <a:buNone/>
            </a:pPr>
            <a:r>
              <a:t/>
            </a:r>
            <a:endParaRPr sz="1100"/>
          </a:p>
        </p:txBody>
      </p:sp>
      <p:pic>
        <p:nvPicPr>
          <p:cNvPr id="129" name="Google Shape;129;p23"/>
          <p:cNvPicPr preferRelativeResize="0"/>
          <p:nvPr/>
        </p:nvPicPr>
        <p:blipFill>
          <a:blip r:embed="rId3">
            <a:alphaModFix/>
          </a:blip>
          <a:stretch>
            <a:fillRect/>
          </a:stretch>
        </p:blipFill>
        <p:spPr>
          <a:xfrm>
            <a:off x="5625000" y="855750"/>
            <a:ext cx="3366599" cy="2725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1306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500">
                <a:solidFill>
                  <a:schemeClr val="dk2"/>
                </a:solidFill>
              </a:rPr>
              <a:t>Completeness Verification</a:t>
            </a:r>
            <a:endParaRPr/>
          </a:p>
        </p:txBody>
      </p:sp>
      <p:sp>
        <p:nvSpPr>
          <p:cNvPr id="135" name="Google Shape;135;p24"/>
          <p:cNvSpPr txBox="1"/>
          <p:nvPr>
            <p:ph idx="1" type="body"/>
          </p:nvPr>
        </p:nvSpPr>
        <p:spPr>
          <a:xfrm>
            <a:off x="311700" y="852125"/>
            <a:ext cx="5221200" cy="37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t>Outreach Campaign_ID should match CampaignData.ID:</a:t>
            </a:r>
            <a:endParaRPr b="1" sz="1100"/>
          </a:p>
          <a:p>
            <a:pPr indent="0" lvl="0" marL="0" rtl="0" algn="l">
              <a:spcBef>
                <a:spcPts val="1200"/>
              </a:spcBef>
              <a:spcAft>
                <a:spcPts val="0"/>
              </a:spcAft>
              <a:buClr>
                <a:schemeClr val="dk1"/>
              </a:buClr>
              <a:buSzPts val="1100"/>
              <a:buFont typeface="Arial"/>
              <a:buNone/>
            </a:pPr>
            <a:r>
              <a:rPr lang="en" sz="1100"/>
              <a:t>SELECT COUNT(*) AS missing_campaigns</a:t>
            </a:r>
            <a:endParaRPr sz="1100"/>
          </a:p>
          <a:p>
            <a:pPr indent="0" lvl="0" marL="0" rtl="0" algn="l">
              <a:spcBef>
                <a:spcPts val="1200"/>
              </a:spcBef>
              <a:spcAft>
                <a:spcPts val="0"/>
              </a:spcAft>
              <a:buClr>
                <a:schemeClr val="dk1"/>
              </a:buClr>
              <a:buSzPts val="1100"/>
              <a:buFont typeface="Arial"/>
              <a:buNone/>
            </a:pPr>
            <a:r>
              <a:rPr lang="en" sz="1100"/>
              <a:t>FROM "Cleaned_OutreachData" o</a:t>
            </a:r>
            <a:endParaRPr sz="1100"/>
          </a:p>
          <a:p>
            <a:pPr indent="0" lvl="0" marL="0" rtl="0" algn="l">
              <a:spcBef>
                <a:spcPts val="1200"/>
              </a:spcBef>
              <a:spcAft>
                <a:spcPts val="0"/>
              </a:spcAft>
              <a:buClr>
                <a:schemeClr val="dk1"/>
              </a:buClr>
              <a:buSzPts val="1100"/>
              <a:buFont typeface="Arial"/>
              <a:buNone/>
            </a:pPr>
            <a:r>
              <a:rPr lang="en" sz="1100"/>
              <a:t>LEFT JOIN "Cleaned_CampaignData" c ON o."Campaign_ID" = c."ID"</a:t>
            </a:r>
            <a:endParaRPr sz="1100"/>
          </a:p>
          <a:p>
            <a:pPr indent="0" lvl="0" marL="0" rtl="0" algn="l">
              <a:spcBef>
                <a:spcPts val="1200"/>
              </a:spcBef>
              <a:spcAft>
                <a:spcPts val="0"/>
              </a:spcAft>
              <a:buClr>
                <a:schemeClr val="dk1"/>
              </a:buClr>
              <a:buSzPts val="1100"/>
              <a:buFont typeface="Arial"/>
              <a:buNone/>
            </a:pPr>
            <a:r>
              <a:rPr lang="en" sz="1100"/>
              <a:t>WHERE c."ID" IS NULL;</a:t>
            </a:r>
            <a:endParaRPr sz="1100"/>
          </a:p>
          <a:p>
            <a:pPr indent="0" lvl="0" marL="0" rtl="0" algn="l">
              <a:spcBef>
                <a:spcPts val="1200"/>
              </a:spcBef>
              <a:spcAft>
                <a:spcPts val="1200"/>
              </a:spcAft>
              <a:buNone/>
            </a:pPr>
            <a:r>
              <a:t/>
            </a:r>
            <a:endParaRPr sz="1100"/>
          </a:p>
        </p:txBody>
      </p:sp>
      <p:pic>
        <p:nvPicPr>
          <p:cNvPr id="136" name="Google Shape;136;p24"/>
          <p:cNvPicPr preferRelativeResize="0"/>
          <p:nvPr/>
        </p:nvPicPr>
        <p:blipFill>
          <a:blip r:embed="rId3">
            <a:alphaModFix/>
          </a:blip>
          <a:stretch>
            <a:fillRect/>
          </a:stretch>
        </p:blipFill>
        <p:spPr>
          <a:xfrm>
            <a:off x="5425750" y="448575"/>
            <a:ext cx="3491424" cy="2798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1431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42" name="Google Shape;142;p25"/>
          <p:cNvSpPr txBox="1"/>
          <p:nvPr>
            <p:ph idx="1" type="body"/>
          </p:nvPr>
        </p:nvSpPr>
        <p:spPr>
          <a:xfrm>
            <a:off x="311700" y="778550"/>
            <a:ext cx="3796500" cy="37902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70967"/>
              <a:buFont typeface="Arial"/>
              <a:buNone/>
            </a:pPr>
            <a:r>
              <a:rPr b="1" lang="en" sz="1550"/>
              <a:t>Checking duplicates in CleanApplicantData:</a:t>
            </a:r>
            <a:endParaRPr b="1" sz="1550"/>
          </a:p>
          <a:p>
            <a:pPr indent="0" lvl="0" marL="0" rtl="0" algn="l">
              <a:spcBef>
                <a:spcPts val="1200"/>
              </a:spcBef>
              <a:spcAft>
                <a:spcPts val="0"/>
              </a:spcAft>
              <a:buClr>
                <a:schemeClr val="dk1"/>
              </a:buClr>
              <a:buSzPct val="78571"/>
              <a:buFont typeface="Arial"/>
              <a:buNone/>
            </a:pPr>
            <a:r>
              <a:rPr lang="en" sz="1400"/>
              <a:t>SELECT "App_ID", COUNT(*) AS occurrences</a:t>
            </a:r>
            <a:endParaRPr sz="1400"/>
          </a:p>
          <a:p>
            <a:pPr indent="0" lvl="0" marL="0" rtl="0" algn="l">
              <a:spcBef>
                <a:spcPts val="1200"/>
              </a:spcBef>
              <a:spcAft>
                <a:spcPts val="0"/>
              </a:spcAft>
              <a:buClr>
                <a:schemeClr val="dk1"/>
              </a:buClr>
              <a:buSzPct val="78571"/>
              <a:buFont typeface="Arial"/>
              <a:buNone/>
            </a:pPr>
            <a:r>
              <a:rPr lang="en" sz="1400"/>
              <a:t>FROM "CleanApplicantData"</a:t>
            </a:r>
            <a:endParaRPr sz="1400"/>
          </a:p>
          <a:p>
            <a:pPr indent="0" lvl="0" marL="0" rtl="0" algn="l">
              <a:spcBef>
                <a:spcPts val="1200"/>
              </a:spcBef>
              <a:spcAft>
                <a:spcPts val="0"/>
              </a:spcAft>
              <a:buClr>
                <a:schemeClr val="dk1"/>
              </a:buClr>
              <a:buSzPct val="78571"/>
              <a:buFont typeface="Arial"/>
              <a:buNone/>
            </a:pPr>
            <a:r>
              <a:rPr lang="en" sz="1400"/>
              <a:t>GROUP BY "App_ID"</a:t>
            </a:r>
            <a:endParaRPr sz="1400"/>
          </a:p>
          <a:p>
            <a:pPr indent="0" lvl="0" marL="0" rtl="0" algn="l">
              <a:spcBef>
                <a:spcPts val="1200"/>
              </a:spcBef>
              <a:spcAft>
                <a:spcPts val="0"/>
              </a:spcAft>
              <a:buNone/>
            </a:pPr>
            <a:r>
              <a:rPr lang="en" sz="1400"/>
              <a:t>HAVING COUNT(*) &gt; 1;</a:t>
            </a:r>
            <a:endParaRPr sz="1400"/>
          </a:p>
          <a:p>
            <a:pPr indent="0" lvl="0" marL="0" rtl="0" algn="l">
              <a:spcBef>
                <a:spcPts val="1200"/>
              </a:spcBef>
              <a:spcAft>
                <a:spcPts val="0"/>
              </a:spcAft>
              <a:buClr>
                <a:schemeClr val="dk1"/>
              </a:buClr>
              <a:buSzPct val="88000"/>
              <a:buFont typeface="Arial"/>
              <a:buNone/>
            </a:pPr>
            <a:r>
              <a:t/>
            </a:r>
            <a:endParaRPr sz="1250"/>
          </a:p>
          <a:p>
            <a:pPr indent="0" lvl="0" marL="0" rtl="0" algn="l">
              <a:spcBef>
                <a:spcPts val="1200"/>
              </a:spcBef>
              <a:spcAft>
                <a:spcPts val="0"/>
              </a:spcAft>
              <a:buNone/>
            </a:pPr>
            <a:r>
              <a:rPr b="1" lang="en" sz="1550"/>
              <a:t>Duplicates in Cleaned_CampaignData's IDs:</a:t>
            </a:r>
            <a:endParaRPr b="1" sz="1550"/>
          </a:p>
          <a:p>
            <a:pPr indent="0" lvl="0" marL="0" rtl="0" algn="l">
              <a:spcBef>
                <a:spcPts val="1200"/>
              </a:spcBef>
              <a:spcAft>
                <a:spcPts val="0"/>
              </a:spcAft>
              <a:buNone/>
            </a:pPr>
            <a:r>
              <a:rPr lang="en" sz="1550"/>
              <a:t>SELECT "ID", COUNT(*) </a:t>
            </a:r>
            <a:endParaRPr sz="1550"/>
          </a:p>
          <a:p>
            <a:pPr indent="0" lvl="0" marL="0" rtl="0" algn="l">
              <a:spcBef>
                <a:spcPts val="1200"/>
              </a:spcBef>
              <a:spcAft>
                <a:spcPts val="0"/>
              </a:spcAft>
              <a:buNone/>
            </a:pPr>
            <a:r>
              <a:rPr lang="en" sz="1550"/>
              <a:t>FROM "Cleaned_CampaignData"</a:t>
            </a:r>
            <a:endParaRPr sz="1550"/>
          </a:p>
          <a:p>
            <a:pPr indent="0" lvl="0" marL="0" rtl="0" algn="l">
              <a:spcBef>
                <a:spcPts val="1200"/>
              </a:spcBef>
              <a:spcAft>
                <a:spcPts val="0"/>
              </a:spcAft>
              <a:buNone/>
            </a:pPr>
            <a:r>
              <a:rPr lang="en" sz="1550"/>
              <a:t>GROUP BY "ID"</a:t>
            </a:r>
            <a:endParaRPr sz="1550"/>
          </a:p>
          <a:p>
            <a:pPr indent="0" lvl="0" marL="0" rtl="0" algn="l">
              <a:spcBef>
                <a:spcPts val="1200"/>
              </a:spcBef>
              <a:spcAft>
                <a:spcPts val="0"/>
              </a:spcAft>
              <a:buNone/>
            </a:pPr>
            <a:r>
              <a:rPr lang="en" sz="1550"/>
              <a:t>HAVING COUNT(*) &gt; 1;</a:t>
            </a:r>
            <a:endParaRPr sz="1550"/>
          </a:p>
          <a:p>
            <a:pPr indent="0" lvl="0" marL="0" rtl="0" algn="l">
              <a:spcBef>
                <a:spcPts val="1200"/>
              </a:spcBef>
              <a:spcAft>
                <a:spcPts val="0"/>
              </a:spcAft>
              <a:buClr>
                <a:schemeClr val="dk1"/>
              </a:buClr>
              <a:buSzPct val="100000"/>
              <a:buFont typeface="Arial"/>
              <a:buNone/>
            </a:pPr>
            <a:r>
              <a:t/>
            </a:r>
            <a:endParaRPr sz="1100"/>
          </a:p>
          <a:p>
            <a:pPr indent="0" lvl="0" marL="0" rtl="0" algn="l">
              <a:spcBef>
                <a:spcPts val="1200"/>
              </a:spcBef>
              <a:spcAft>
                <a:spcPts val="1200"/>
              </a:spcAft>
              <a:buNone/>
            </a:pPr>
            <a:r>
              <a:t/>
            </a:r>
            <a:endParaRPr sz="1100"/>
          </a:p>
        </p:txBody>
      </p:sp>
      <p:pic>
        <p:nvPicPr>
          <p:cNvPr id="143" name="Google Shape;143;p25"/>
          <p:cNvPicPr preferRelativeResize="0"/>
          <p:nvPr/>
        </p:nvPicPr>
        <p:blipFill>
          <a:blip r:embed="rId3">
            <a:alphaModFix/>
          </a:blip>
          <a:stretch>
            <a:fillRect/>
          </a:stretch>
        </p:blipFill>
        <p:spPr>
          <a:xfrm>
            <a:off x="4883975" y="549600"/>
            <a:ext cx="4121001" cy="2022150"/>
          </a:xfrm>
          <a:prstGeom prst="rect">
            <a:avLst/>
          </a:prstGeom>
          <a:noFill/>
          <a:ln>
            <a:noFill/>
          </a:ln>
        </p:spPr>
      </p:pic>
      <p:pic>
        <p:nvPicPr>
          <p:cNvPr id="144" name="Google Shape;144;p25"/>
          <p:cNvPicPr preferRelativeResize="0"/>
          <p:nvPr/>
        </p:nvPicPr>
        <p:blipFill>
          <a:blip r:embed="rId4">
            <a:alphaModFix/>
          </a:blip>
          <a:stretch>
            <a:fillRect/>
          </a:stretch>
        </p:blipFill>
        <p:spPr>
          <a:xfrm>
            <a:off x="4883975" y="2765025"/>
            <a:ext cx="4121001" cy="20132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1431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50" name="Google Shape;150;p26"/>
          <p:cNvSpPr txBox="1"/>
          <p:nvPr>
            <p:ph idx="1" type="body"/>
          </p:nvPr>
        </p:nvSpPr>
        <p:spPr>
          <a:xfrm>
            <a:off x="311700" y="778550"/>
            <a:ext cx="3796500" cy="3790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sz="1550"/>
              <a:t>Duplicates in Cleaned_OutreachData's IDs:</a:t>
            </a:r>
            <a:endParaRPr b="1" sz="1550"/>
          </a:p>
          <a:p>
            <a:pPr indent="0" lvl="0" marL="0" rtl="0" algn="l">
              <a:spcBef>
                <a:spcPts val="1200"/>
              </a:spcBef>
              <a:spcAft>
                <a:spcPts val="0"/>
              </a:spcAft>
              <a:buNone/>
            </a:pPr>
            <a:r>
              <a:rPr lang="en" sz="1250"/>
              <a:t>SELECT "Reference_ID", COUNT(*) as total_Duplicates</a:t>
            </a:r>
            <a:endParaRPr sz="1250"/>
          </a:p>
          <a:p>
            <a:pPr indent="0" lvl="0" marL="0" rtl="0" algn="l">
              <a:spcBef>
                <a:spcPts val="1200"/>
              </a:spcBef>
              <a:spcAft>
                <a:spcPts val="0"/>
              </a:spcAft>
              <a:buNone/>
            </a:pPr>
            <a:r>
              <a:rPr lang="en" sz="1250"/>
              <a:t>FROM "Cleaned_OutreachData"</a:t>
            </a:r>
            <a:endParaRPr sz="1250"/>
          </a:p>
          <a:p>
            <a:pPr indent="0" lvl="0" marL="0" rtl="0" algn="l">
              <a:spcBef>
                <a:spcPts val="1200"/>
              </a:spcBef>
              <a:spcAft>
                <a:spcPts val="0"/>
              </a:spcAft>
              <a:buNone/>
            </a:pPr>
            <a:r>
              <a:rPr lang="en" sz="1250"/>
              <a:t>GROUP BY "Reference_ID"</a:t>
            </a:r>
            <a:endParaRPr sz="1250"/>
          </a:p>
          <a:p>
            <a:pPr indent="0" lvl="0" marL="0" rtl="0" algn="l">
              <a:spcBef>
                <a:spcPts val="1200"/>
              </a:spcBef>
              <a:spcAft>
                <a:spcPts val="0"/>
              </a:spcAft>
              <a:buNone/>
            </a:pPr>
            <a:r>
              <a:rPr lang="en" sz="1250"/>
              <a:t>HAVING COUNT(*) &gt; 1</a:t>
            </a:r>
            <a:endParaRPr sz="1250"/>
          </a:p>
          <a:p>
            <a:pPr indent="0" lvl="0" marL="0" rtl="0" algn="l">
              <a:spcBef>
                <a:spcPts val="1200"/>
              </a:spcBef>
              <a:spcAft>
                <a:spcPts val="0"/>
              </a:spcAft>
              <a:buNone/>
            </a:pPr>
            <a:r>
              <a:rPr lang="en" sz="1250"/>
              <a:t>Order by total_Duplicates desc;</a:t>
            </a:r>
            <a:endParaRPr sz="1250"/>
          </a:p>
          <a:p>
            <a:pPr indent="0" lvl="0" marL="0" rtl="0" algn="l">
              <a:spcBef>
                <a:spcPts val="1200"/>
              </a:spcBef>
              <a:spcAft>
                <a:spcPts val="0"/>
              </a:spcAft>
              <a:buNone/>
            </a:pPr>
            <a:r>
              <a:t/>
            </a:r>
            <a:endParaRPr sz="1250"/>
          </a:p>
          <a:p>
            <a:pPr indent="0" lvl="0" marL="0" rtl="0" algn="l">
              <a:spcBef>
                <a:spcPts val="1200"/>
              </a:spcBef>
              <a:spcAft>
                <a:spcPts val="0"/>
              </a:spcAft>
              <a:buNone/>
            </a:pPr>
            <a:r>
              <a:rPr lang="en" sz="1250"/>
              <a:t>Here, duplicates is must as “reference_Id” is foreign key.</a:t>
            </a:r>
            <a:endParaRPr sz="1250"/>
          </a:p>
          <a:p>
            <a:pPr indent="0" lvl="0" marL="0" rtl="0" algn="l">
              <a:spcBef>
                <a:spcPts val="1200"/>
              </a:spcBef>
              <a:spcAft>
                <a:spcPts val="0"/>
              </a:spcAft>
              <a:buNone/>
            </a:pPr>
            <a:r>
              <a:t/>
            </a:r>
            <a:endParaRPr b="1" sz="1550"/>
          </a:p>
          <a:p>
            <a:pPr indent="0" lvl="0" marL="0" rtl="0" algn="l">
              <a:spcBef>
                <a:spcPts val="1200"/>
              </a:spcBef>
              <a:spcAft>
                <a:spcPts val="0"/>
              </a:spcAft>
              <a:buNone/>
            </a:pPr>
            <a:r>
              <a:t/>
            </a:r>
            <a:endParaRPr sz="1250"/>
          </a:p>
          <a:p>
            <a:pPr indent="0" lvl="0" marL="0" rtl="0" algn="l">
              <a:spcBef>
                <a:spcPts val="1200"/>
              </a:spcBef>
              <a:spcAft>
                <a:spcPts val="0"/>
              </a:spcAft>
              <a:buNone/>
            </a:pPr>
            <a:r>
              <a:t/>
            </a:r>
            <a:endParaRPr sz="155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pic>
        <p:nvPicPr>
          <p:cNvPr id="151" name="Google Shape;151;p26"/>
          <p:cNvPicPr preferRelativeResize="0"/>
          <p:nvPr/>
        </p:nvPicPr>
        <p:blipFill>
          <a:blip r:embed="rId3">
            <a:alphaModFix/>
          </a:blip>
          <a:stretch>
            <a:fillRect/>
          </a:stretch>
        </p:blipFill>
        <p:spPr>
          <a:xfrm>
            <a:off x="4280675" y="738325"/>
            <a:ext cx="4731000" cy="29210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1431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Duplicate Detection</a:t>
            </a:r>
            <a:endParaRPr/>
          </a:p>
        </p:txBody>
      </p:sp>
      <p:sp>
        <p:nvSpPr>
          <p:cNvPr id="157" name="Google Shape;157;p27"/>
          <p:cNvSpPr txBox="1"/>
          <p:nvPr>
            <p:ph idx="1" type="body"/>
          </p:nvPr>
        </p:nvSpPr>
        <p:spPr>
          <a:xfrm>
            <a:off x="311700" y="778550"/>
            <a:ext cx="5027100" cy="4233900"/>
          </a:xfrm>
          <a:prstGeom prst="rect">
            <a:avLst/>
          </a:prstGeom>
        </p:spPr>
        <p:txBody>
          <a:bodyPr anchorCtr="0" anchor="t" bIns="91425" lIns="91425" spcFirstLastPara="1" rIns="91425" wrap="square" tIns="91425">
            <a:normAutofit fontScale="25000" lnSpcReduction="10000"/>
          </a:bodyPr>
          <a:lstStyle/>
          <a:p>
            <a:pPr indent="0" lvl="0" marL="0" rtl="0" algn="l">
              <a:spcBef>
                <a:spcPts val="0"/>
              </a:spcBef>
              <a:spcAft>
                <a:spcPts val="0"/>
              </a:spcAft>
              <a:buNone/>
            </a:pPr>
            <a:r>
              <a:rPr b="1" lang="en" sz="4000"/>
              <a:t>Total calls including duplicates</a:t>
            </a:r>
            <a:endParaRPr b="1" sz="4000"/>
          </a:p>
          <a:p>
            <a:pPr indent="0" lvl="0" marL="0" rtl="0" algn="l">
              <a:spcBef>
                <a:spcPts val="1200"/>
              </a:spcBef>
              <a:spcAft>
                <a:spcPts val="0"/>
              </a:spcAft>
              <a:buNone/>
            </a:pPr>
            <a:r>
              <a:rPr lang="en" sz="3200"/>
              <a:t>SELECT COUNT(*) AS total_calls FROM "Cleaned_OutreachData";</a:t>
            </a:r>
            <a:endParaRPr sz="3200"/>
          </a:p>
          <a:p>
            <a:pPr indent="0" lvl="0" marL="0" rtl="0" algn="l">
              <a:spcBef>
                <a:spcPts val="1200"/>
              </a:spcBef>
              <a:spcAft>
                <a:spcPts val="0"/>
              </a:spcAft>
              <a:buNone/>
            </a:pPr>
            <a:r>
              <a:rPr b="1" lang="en" sz="4000"/>
              <a:t>Unique calls (ignoring duplicates based on key fields)</a:t>
            </a:r>
            <a:endParaRPr b="1" sz="4000"/>
          </a:p>
          <a:p>
            <a:pPr indent="0" lvl="0" marL="0" rtl="0" algn="l">
              <a:spcBef>
                <a:spcPts val="1200"/>
              </a:spcBef>
              <a:spcAft>
                <a:spcPts val="0"/>
              </a:spcAft>
              <a:buNone/>
            </a:pPr>
            <a:r>
              <a:rPr lang="en" sz="3350"/>
              <a:t>SELECT COUNT(DISTINCT "Reference_ID" || '-' || "Campaign_ID" || '-' || "Recieved_At" || '-' || "Outcome_1") AS unique_calls</a:t>
            </a:r>
            <a:endParaRPr sz="3350"/>
          </a:p>
          <a:p>
            <a:pPr indent="0" lvl="0" marL="0" rtl="0" algn="l">
              <a:spcBef>
                <a:spcPts val="1200"/>
              </a:spcBef>
              <a:spcAft>
                <a:spcPts val="0"/>
              </a:spcAft>
              <a:buNone/>
            </a:pPr>
            <a:r>
              <a:rPr lang="en" sz="3350"/>
              <a:t>FROM "Cleaned_OutreachData";</a:t>
            </a:r>
            <a:endParaRPr sz="3350"/>
          </a:p>
          <a:p>
            <a:pPr indent="0" lvl="0" marL="0" rtl="0" algn="l">
              <a:spcBef>
                <a:spcPts val="1200"/>
              </a:spcBef>
              <a:spcAft>
                <a:spcPts val="0"/>
              </a:spcAft>
              <a:buNone/>
            </a:pPr>
            <a:r>
              <a:rPr lang="en" sz="3350"/>
              <a:t>Total calls = 33119</a:t>
            </a:r>
            <a:endParaRPr sz="3350"/>
          </a:p>
          <a:p>
            <a:pPr indent="0" lvl="0" marL="0" rtl="0" algn="l">
              <a:spcBef>
                <a:spcPts val="1200"/>
              </a:spcBef>
              <a:spcAft>
                <a:spcPts val="0"/>
              </a:spcAft>
              <a:buNone/>
            </a:pPr>
            <a:r>
              <a:rPr lang="en" sz="3350"/>
              <a:t>Unique call = 33114</a:t>
            </a:r>
            <a:endParaRPr sz="3350"/>
          </a:p>
          <a:p>
            <a:pPr indent="0" lvl="0" marL="0" rtl="0" algn="l">
              <a:spcBef>
                <a:spcPts val="1200"/>
              </a:spcBef>
              <a:spcAft>
                <a:spcPts val="0"/>
              </a:spcAft>
              <a:buNone/>
            </a:pPr>
            <a:r>
              <a:rPr lang="en" sz="3350"/>
              <a:t>During data validation, we found 5 duplicate call records out of 33,119 total calls, representing approximately 0.015% of the dataset.</a:t>
            </a:r>
            <a:endParaRPr sz="3350"/>
          </a:p>
          <a:p>
            <a:pPr indent="0" lvl="0" marL="0" rtl="0" algn="l">
              <a:spcBef>
                <a:spcPts val="1200"/>
              </a:spcBef>
              <a:spcAft>
                <a:spcPts val="0"/>
              </a:spcAft>
              <a:buNone/>
            </a:pPr>
            <a:r>
              <a:rPr lang="en" sz="3350"/>
              <a:t>This minimal duplication has an insignificant impact on the overall analysis and visualizations. Therefore, these duplicates were not removed for the current analysis, but they can be cleaned in future iterations for complete data integrity.</a:t>
            </a:r>
            <a:endParaRPr sz="3350"/>
          </a:p>
          <a:p>
            <a:pPr indent="0" lvl="0" marL="0" rtl="0" algn="l">
              <a:spcBef>
                <a:spcPts val="1200"/>
              </a:spcBef>
              <a:spcAft>
                <a:spcPts val="0"/>
              </a:spcAft>
              <a:buNone/>
            </a:pPr>
            <a:r>
              <a:t/>
            </a:r>
            <a:endParaRPr b="1" sz="1550"/>
          </a:p>
          <a:p>
            <a:pPr indent="0" lvl="0" marL="0" rtl="0" algn="l">
              <a:spcBef>
                <a:spcPts val="1200"/>
              </a:spcBef>
              <a:spcAft>
                <a:spcPts val="0"/>
              </a:spcAft>
              <a:buNone/>
            </a:pPr>
            <a:r>
              <a:t/>
            </a:r>
            <a:endParaRPr sz="1250"/>
          </a:p>
          <a:p>
            <a:pPr indent="0" lvl="0" marL="0" rtl="0" algn="l">
              <a:spcBef>
                <a:spcPts val="1200"/>
              </a:spcBef>
              <a:spcAft>
                <a:spcPts val="0"/>
              </a:spcAft>
              <a:buNone/>
            </a:pPr>
            <a:r>
              <a:t/>
            </a:r>
            <a:endParaRPr sz="155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pic>
        <p:nvPicPr>
          <p:cNvPr id="158" name="Google Shape;158;p27"/>
          <p:cNvPicPr preferRelativeResize="0"/>
          <p:nvPr/>
        </p:nvPicPr>
        <p:blipFill>
          <a:blip r:embed="rId3">
            <a:alphaModFix/>
          </a:blip>
          <a:stretch>
            <a:fillRect/>
          </a:stretch>
        </p:blipFill>
        <p:spPr>
          <a:xfrm>
            <a:off x="5452500" y="576350"/>
            <a:ext cx="3532399" cy="2028175"/>
          </a:xfrm>
          <a:prstGeom prst="rect">
            <a:avLst/>
          </a:prstGeom>
          <a:noFill/>
          <a:ln>
            <a:noFill/>
          </a:ln>
        </p:spPr>
      </p:pic>
      <p:pic>
        <p:nvPicPr>
          <p:cNvPr id="159" name="Google Shape;159;p27"/>
          <p:cNvPicPr preferRelativeResize="0"/>
          <p:nvPr/>
        </p:nvPicPr>
        <p:blipFill>
          <a:blip r:embed="rId4">
            <a:alphaModFix/>
          </a:blip>
          <a:stretch>
            <a:fillRect/>
          </a:stretch>
        </p:blipFill>
        <p:spPr>
          <a:xfrm>
            <a:off x="5452500" y="2763600"/>
            <a:ext cx="3510524" cy="18729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169900"/>
            <a:ext cx="8520600" cy="56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65" name="Google Shape;165;p28"/>
          <p:cNvSpPr txBox="1"/>
          <p:nvPr>
            <p:ph idx="1" type="body"/>
          </p:nvPr>
        </p:nvSpPr>
        <p:spPr>
          <a:xfrm>
            <a:off x="311700" y="771850"/>
            <a:ext cx="5394900" cy="426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t>Statistical Record of Total Calls:</a:t>
            </a:r>
            <a:endParaRPr b="1" sz="1100"/>
          </a:p>
          <a:p>
            <a:pPr indent="0" lvl="0" marL="0" rtl="0" algn="l">
              <a:spcBef>
                <a:spcPts val="1200"/>
              </a:spcBef>
              <a:spcAft>
                <a:spcPts val="0"/>
              </a:spcAft>
              <a:buClr>
                <a:schemeClr val="dk1"/>
              </a:buClr>
              <a:buSzPts val="1100"/>
              <a:buFont typeface="Arial"/>
              <a:buNone/>
            </a:pPr>
            <a:r>
              <a:rPr lang="en" sz="900"/>
              <a:t>SELECT</a:t>
            </a:r>
            <a:endParaRPr sz="900"/>
          </a:p>
          <a:p>
            <a:pPr indent="0" lvl="0" marL="0" rtl="0" algn="l">
              <a:spcBef>
                <a:spcPts val="1200"/>
              </a:spcBef>
              <a:spcAft>
                <a:spcPts val="0"/>
              </a:spcAft>
              <a:buClr>
                <a:schemeClr val="dk1"/>
              </a:buClr>
              <a:buSzPts val="1100"/>
              <a:buFont typeface="Arial"/>
              <a:buNone/>
            </a:pPr>
            <a:r>
              <a:rPr lang="en" sz="900"/>
              <a:t>    COUNT(*) AS total_calls,</a:t>
            </a:r>
            <a:endParaRPr sz="900"/>
          </a:p>
          <a:p>
            <a:pPr indent="0" lvl="0" marL="0" rtl="0" algn="l">
              <a:spcBef>
                <a:spcPts val="1200"/>
              </a:spcBef>
              <a:spcAft>
                <a:spcPts val="0"/>
              </a:spcAft>
              <a:buClr>
                <a:schemeClr val="dk1"/>
              </a:buClr>
              <a:buSzPts val="1100"/>
              <a:buFont typeface="Arial"/>
              <a:buNone/>
            </a:pPr>
            <a:r>
              <a:rPr lang="en" sz="900"/>
              <a:t>    COUNT(*) FILTER (WHERE "Outcome_1" NOT IN ('Not Connected', 'Disconnected')) AS connected_calls,</a:t>
            </a:r>
            <a:endParaRPr sz="900"/>
          </a:p>
          <a:p>
            <a:pPr indent="0" lvl="0" marL="0" rtl="0" algn="l">
              <a:spcBef>
                <a:spcPts val="1200"/>
              </a:spcBef>
              <a:spcAft>
                <a:spcPts val="0"/>
              </a:spcAft>
              <a:buClr>
                <a:schemeClr val="dk1"/>
              </a:buClr>
              <a:buSzPts val="1100"/>
              <a:buFont typeface="Arial"/>
              <a:buNone/>
            </a:pPr>
            <a:r>
              <a:rPr lang="en" sz="900"/>
              <a:t>    COUNT(*) FILTER (WHERE "Outcome_1" IN ('Not Connected', 'Disconnected')) AS disconnected_calls</a:t>
            </a:r>
            <a:endParaRPr sz="900"/>
          </a:p>
          <a:p>
            <a:pPr indent="0" lvl="0" marL="0" rtl="0" algn="l">
              <a:spcBef>
                <a:spcPts val="1200"/>
              </a:spcBef>
              <a:spcAft>
                <a:spcPts val="0"/>
              </a:spcAft>
              <a:buClr>
                <a:schemeClr val="dk1"/>
              </a:buClr>
              <a:buSzPts val="1100"/>
              <a:buFont typeface="Arial"/>
              <a:buNone/>
            </a:pPr>
            <a:r>
              <a:rPr lang="en" sz="900"/>
              <a:t>FROM "Cleaned_OutreachData";</a:t>
            </a:r>
            <a:endParaRPr sz="900"/>
          </a:p>
          <a:p>
            <a:pPr indent="0" lvl="0" marL="0" rtl="0" algn="l">
              <a:spcBef>
                <a:spcPts val="1200"/>
              </a:spcBef>
              <a:spcAft>
                <a:spcPts val="0"/>
              </a:spcAft>
              <a:buNone/>
            </a:pPr>
            <a:r>
              <a:rPr lang="en" sz="1000"/>
              <a:t>Here, Connected calls = 31769, Disconnected calls = 1350, and Total calls = 33119</a:t>
            </a:r>
            <a:endParaRPr sz="1000"/>
          </a:p>
          <a:p>
            <a:pPr indent="0" lvl="0" marL="0" rtl="0" algn="l">
              <a:spcBef>
                <a:spcPts val="1200"/>
              </a:spcBef>
              <a:spcAft>
                <a:spcPts val="0"/>
              </a:spcAft>
              <a:buClr>
                <a:schemeClr val="dk1"/>
              </a:buClr>
              <a:buSzPts val="1100"/>
              <a:buFont typeface="Arial"/>
              <a:buNone/>
            </a:pPr>
            <a:r>
              <a:rPr lang="en" sz="1000"/>
              <a:t>For business rule validation, we classified all call outcomes as either Connected or Disconnected.</a:t>
            </a:r>
            <a:endParaRPr sz="1000"/>
          </a:p>
          <a:p>
            <a:pPr indent="0" lvl="0" marL="0" rtl="0" algn="l">
              <a:spcBef>
                <a:spcPts val="1200"/>
              </a:spcBef>
              <a:spcAft>
                <a:spcPts val="0"/>
              </a:spcAft>
              <a:buClr>
                <a:schemeClr val="dk1"/>
              </a:buClr>
              <a:buSzPts val="1100"/>
              <a:buFont typeface="Arial"/>
              <a:buNone/>
            </a:pPr>
            <a:r>
              <a:rPr lang="en" sz="1000"/>
              <a:t>‘Not Connected’ and ‘Disconnected’ outcomes were grouped as Disconnected, while all other outcomes were considered Connected.</a:t>
            </a:r>
            <a:endParaRPr sz="1000"/>
          </a:p>
          <a:p>
            <a:pPr indent="0" lvl="0" marL="0" rtl="0" algn="l">
              <a:spcBef>
                <a:spcPts val="1200"/>
              </a:spcBef>
              <a:spcAft>
                <a:spcPts val="0"/>
              </a:spcAft>
              <a:buNone/>
            </a:pPr>
            <a:r>
              <a:rPr lang="en" sz="1000"/>
              <a:t>This allowed us to validate total calls against connected and disconnected counts for consistency</a:t>
            </a:r>
            <a:endParaRPr sz="1000"/>
          </a:p>
          <a:p>
            <a:pPr indent="0" lvl="0" marL="0" rtl="0" algn="l">
              <a:spcBef>
                <a:spcPts val="1200"/>
              </a:spcBef>
              <a:spcAft>
                <a:spcPts val="1200"/>
              </a:spcAft>
              <a:buNone/>
            </a:pPr>
            <a:r>
              <a:t/>
            </a:r>
            <a:endParaRPr sz="1100"/>
          </a:p>
        </p:txBody>
      </p:sp>
      <p:pic>
        <p:nvPicPr>
          <p:cNvPr id="166" name="Google Shape;166;p28"/>
          <p:cNvPicPr preferRelativeResize="0"/>
          <p:nvPr/>
        </p:nvPicPr>
        <p:blipFill>
          <a:blip r:embed="rId3">
            <a:alphaModFix/>
          </a:blip>
          <a:stretch>
            <a:fillRect/>
          </a:stretch>
        </p:blipFill>
        <p:spPr>
          <a:xfrm>
            <a:off x="5820375" y="884200"/>
            <a:ext cx="3171224" cy="2623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169900"/>
            <a:ext cx="8520600" cy="56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72" name="Google Shape;172;p29"/>
          <p:cNvSpPr txBox="1"/>
          <p:nvPr>
            <p:ph idx="1" type="body"/>
          </p:nvPr>
        </p:nvSpPr>
        <p:spPr>
          <a:xfrm>
            <a:off x="311700" y="771850"/>
            <a:ext cx="5394900" cy="426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t>Statistical Record of Total Calls:</a:t>
            </a:r>
            <a:endParaRPr b="1" sz="1100"/>
          </a:p>
          <a:p>
            <a:pPr indent="0" lvl="0" marL="0" rtl="0" algn="l">
              <a:spcBef>
                <a:spcPts val="1200"/>
              </a:spcBef>
              <a:spcAft>
                <a:spcPts val="0"/>
              </a:spcAft>
              <a:buNone/>
            </a:pPr>
            <a:r>
              <a:rPr lang="en" sz="900"/>
              <a:t>SELECT</a:t>
            </a:r>
            <a:endParaRPr sz="900"/>
          </a:p>
          <a:p>
            <a:pPr indent="0" lvl="0" marL="0" rtl="0" algn="l">
              <a:spcBef>
                <a:spcPts val="1200"/>
              </a:spcBef>
              <a:spcAft>
                <a:spcPts val="0"/>
              </a:spcAft>
              <a:buNone/>
            </a:pPr>
            <a:r>
              <a:rPr lang="en" sz="900"/>
              <a:t>    COUNT(*) AS total_calls,</a:t>
            </a:r>
            <a:endParaRPr sz="900"/>
          </a:p>
          <a:p>
            <a:pPr indent="0" lvl="0" marL="0" rtl="0" algn="l">
              <a:spcBef>
                <a:spcPts val="1200"/>
              </a:spcBef>
              <a:spcAft>
                <a:spcPts val="0"/>
              </a:spcAft>
              <a:buNone/>
            </a:pPr>
            <a:r>
              <a:rPr lang="en" sz="900"/>
              <a:t>    COUNT(*) FILTER (WHERE "Outcome_1" NOT IN ('Not Connected', 'Disconnected')) AS connected_calls,</a:t>
            </a:r>
            <a:endParaRPr sz="900"/>
          </a:p>
          <a:p>
            <a:pPr indent="0" lvl="0" marL="0" rtl="0" algn="l">
              <a:spcBef>
                <a:spcPts val="1200"/>
              </a:spcBef>
              <a:spcAft>
                <a:spcPts val="0"/>
              </a:spcAft>
              <a:buNone/>
            </a:pPr>
            <a:r>
              <a:rPr lang="en" sz="900"/>
              <a:t>    COUNT(*) FILTER (WHERE "Outcome_1" IN ('Not Connected', 'Disconnected')) AS disconnected_calls</a:t>
            </a:r>
            <a:endParaRPr sz="900"/>
          </a:p>
          <a:p>
            <a:pPr indent="0" lvl="0" marL="0" rtl="0" algn="l">
              <a:spcBef>
                <a:spcPts val="1200"/>
              </a:spcBef>
              <a:spcAft>
                <a:spcPts val="0"/>
              </a:spcAft>
              <a:buNone/>
            </a:pPr>
            <a:r>
              <a:rPr lang="en" sz="900"/>
              <a:t>FROM "Cleaned_OutreachData";</a:t>
            </a:r>
            <a:endParaRPr sz="900"/>
          </a:p>
          <a:p>
            <a:pPr indent="0" lvl="0" marL="0" rtl="0" algn="l">
              <a:spcBef>
                <a:spcPts val="1200"/>
              </a:spcBef>
              <a:spcAft>
                <a:spcPts val="0"/>
              </a:spcAft>
              <a:buNone/>
            </a:pPr>
            <a:r>
              <a:rPr lang="en" sz="1000"/>
              <a:t>Here, Connected calls = 31769, Disconnected calls = 1350, and Total calls = 33119</a:t>
            </a:r>
            <a:endParaRPr sz="1000"/>
          </a:p>
          <a:p>
            <a:pPr indent="0" lvl="0" marL="0" rtl="0" algn="l">
              <a:spcBef>
                <a:spcPts val="1200"/>
              </a:spcBef>
              <a:spcAft>
                <a:spcPts val="0"/>
              </a:spcAft>
              <a:buNone/>
            </a:pPr>
            <a:r>
              <a:rPr lang="en" sz="1000"/>
              <a:t>For business rule validation, we classified all call outcomes as either Connected or Disconnected.</a:t>
            </a:r>
            <a:endParaRPr sz="1000"/>
          </a:p>
          <a:p>
            <a:pPr indent="0" lvl="0" marL="0" rtl="0" algn="l">
              <a:spcBef>
                <a:spcPts val="1200"/>
              </a:spcBef>
              <a:spcAft>
                <a:spcPts val="0"/>
              </a:spcAft>
              <a:buNone/>
            </a:pPr>
            <a:r>
              <a:rPr lang="en" sz="1000"/>
              <a:t>‘Not Connected’ and ‘Disconnected’ outcomes were grouped as Disconnected, while all other outcomes were considered Connected.</a:t>
            </a:r>
            <a:endParaRPr sz="1000"/>
          </a:p>
          <a:p>
            <a:pPr indent="0" lvl="0" marL="0" rtl="0" algn="l">
              <a:spcBef>
                <a:spcPts val="1200"/>
              </a:spcBef>
              <a:spcAft>
                <a:spcPts val="0"/>
              </a:spcAft>
              <a:buNone/>
            </a:pPr>
            <a:r>
              <a:rPr lang="en" sz="1000"/>
              <a:t>This allowed us to validate total calls against connected and disconnected counts for consistency</a:t>
            </a:r>
            <a:endParaRPr sz="1000"/>
          </a:p>
          <a:p>
            <a:pPr indent="0" lvl="0" marL="0" rtl="0" algn="l">
              <a:spcBef>
                <a:spcPts val="1200"/>
              </a:spcBef>
              <a:spcAft>
                <a:spcPts val="1200"/>
              </a:spcAft>
              <a:buNone/>
            </a:pPr>
            <a:r>
              <a:t/>
            </a:r>
            <a:endParaRPr sz="1100"/>
          </a:p>
        </p:txBody>
      </p:sp>
      <p:pic>
        <p:nvPicPr>
          <p:cNvPr id="173" name="Google Shape;173;p29"/>
          <p:cNvPicPr preferRelativeResize="0"/>
          <p:nvPr/>
        </p:nvPicPr>
        <p:blipFill>
          <a:blip r:embed="rId3">
            <a:alphaModFix/>
          </a:blip>
          <a:stretch>
            <a:fillRect/>
          </a:stretch>
        </p:blipFill>
        <p:spPr>
          <a:xfrm>
            <a:off x="5820375" y="884200"/>
            <a:ext cx="3171224" cy="2623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169900"/>
            <a:ext cx="8520600" cy="561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Rule Validation</a:t>
            </a:r>
            <a:endParaRPr/>
          </a:p>
        </p:txBody>
      </p:sp>
      <p:sp>
        <p:nvSpPr>
          <p:cNvPr id="179" name="Google Shape;179;p30"/>
          <p:cNvSpPr txBox="1"/>
          <p:nvPr>
            <p:ph idx="1" type="body"/>
          </p:nvPr>
        </p:nvSpPr>
        <p:spPr>
          <a:xfrm>
            <a:off x="311700" y="785225"/>
            <a:ext cx="5394900" cy="3972900"/>
          </a:xfrm>
          <a:prstGeom prst="rect">
            <a:avLst/>
          </a:prstGeom>
        </p:spPr>
        <p:txBody>
          <a:bodyPr anchorCtr="0" anchor="t" bIns="91425" lIns="91425" spcFirstLastPara="1" rIns="91425" wrap="square" tIns="91425">
            <a:normAutofit fontScale="32500" lnSpcReduction="10000"/>
          </a:bodyPr>
          <a:lstStyle/>
          <a:p>
            <a:pPr indent="0" lvl="0" marL="0" rtl="0" algn="l">
              <a:lnSpc>
                <a:spcPct val="100000"/>
              </a:lnSpc>
              <a:spcBef>
                <a:spcPts val="0"/>
              </a:spcBef>
              <a:spcAft>
                <a:spcPts val="0"/>
              </a:spcAft>
              <a:buNone/>
            </a:pPr>
            <a:r>
              <a:rPr b="1" lang="en" sz="4400"/>
              <a:t>Validation of Campaign and Outreach Timeframes</a:t>
            </a:r>
            <a:r>
              <a:rPr b="1" lang="en" sz="4400"/>
              <a:t>:</a:t>
            </a:r>
            <a:endParaRPr b="1" sz="4400"/>
          </a:p>
          <a:p>
            <a:pPr indent="0" lvl="0" marL="0" rtl="0" algn="l">
              <a:lnSpc>
                <a:spcPct val="100000"/>
              </a:lnSpc>
              <a:spcBef>
                <a:spcPts val="1200"/>
              </a:spcBef>
              <a:spcAft>
                <a:spcPts val="0"/>
              </a:spcAft>
              <a:buNone/>
            </a:pPr>
            <a:r>
              <a:rPr lang="en" sz="2100"/>
              <a:t>SELECT o."Outreach_ID", o."Campaign_ID", c."Intake", c."Start_Date" AS campaign_start,</a:t>
            </a:r>
            <a:endParaRPr sz="2100"/>
          </a:p>
          <a:p>
            <a:pPr indent="0" lvl="0" marL="0" rtl="0" algn="l">
              <a:lnSpc>
                <a:spcPct val="100000"/>
              </a:lnSpc>
              <a:spcBef>
                <a:spcPts val="1200"/>
              </a:spcBef>
              <a:spcAft>
                <a:spcPts val="0"/>
              </a:spcAft>
              <a:buNone/>
            </a:pPr>
            <a:r>
              <a:rPr lang="en" sz="2100"/>
              <a:t>       o."Recieved_At" AS outreach_date</a:t>
            </a:r>
            <a:endParaRPr sz="2100"/>
          </a:p>
          <a:p>
            <a:pPr indent="0" lvl="0" marL="0" rtl="0" algn="l">
              <a:lnSpc>
                <a:spcPct val="100000"/>
              </a:lnSpc>
              <a:spcBef>
                <a:spcPts val="1200"/>
              </a:spcBef>
              <a:spcAft>
                <a:spcPts val="0"/>
              </a:spcAft>
              <a:buNone/>
            </a:pPr>
            <a:r>
              <a:rPr lang="en" sz="2100"/>
              <a:t>FROM "Cleaned_OutreachData" o</a:t>
            </a:r>
            <a:endParaRPr sz="2100"/>
          </a:p>
          <a:p>
            <a:pPr indent="0" lvl="0" marL="0" rtl="0" algn="l">
              <a:lnSpc>
                <a:spcPct val="100000"/>
              </a:lnSpc>
              <a:spcBef>
                <a:spcPts val="1200"/>
              </a:spcBef>
              <a:spcAft>
                <a:spcPts val="0"/>
              </a:spcAft>
              <a:buNone/>
            </a:pPr>
            <a:r>
              <a:rPr lang="en" sz="2100"/>
              <a:t>JOIN "Cleaned_CampaignData" c</a:t>
            </a:r>
            <a:endParaRPr sz="2100"/>
          </a:p>
          <a:p>
            <a:pPr indent="0" lvl="0" marL="0" rtl="0" algn="l">
              <a:lnSpc>
                <a:spcPct val="100000"/>
              </a:lnSpc>
              <a:spcBef>
                <a:spcPts val="1200"/>
              </a:spcBef>
              <a:spcAft>
                <a:spcPts val="0"/>
              </a:spcAft>
              <a:buNone/>
            </a:pPr>
            <a:r>
              <a:rPr lang="en" sz="2100"/>
              <a:t>ON o."Campaign_ID" = c."ID"</a:t>
            </a:r>
            <a:endParaRPr sz="2100"/>
          </a:p>
          <a:p>
            <a:pPr indent="0" lvl="0" marL="0" rtl="0" algn="l">
              <a:lnSpc>
                <a:spcPct val="100000"/>
              </a:lnSpc>
              <a:spcBef>
                <a:spcPts val="1200"/>
              </a:spcBef>
              <a:spcAft>
                <a:spcPts val="0"/>
              </a:spcAft>
              <a:buNone/>
            </a:pPr>
            <a:r>
              <a:rPr lang="en" sz="2100"/>
              <a:t>WHERE o."Recieved_At" &lt; c."Start_Date"</a:t>
            </a:r>
            <a:endParaRPr sz="2100"/>
          </a:p>
          <a:p>
            <a:pPr indent="0" lvl="0" marL="0" rtl="0" algn="l">
              <a:lnSpc>
                <a:spcPct val="100000"/>
              </a:lnSpc>
              <a:spcBef>
                <a:spcPts val="1200"/>
              </a:spcBef>
              <a:spcAft>
                <a:spcPts val="0"/>
              </a:spcAft>
              <a:buNone/>
            </a:pPr>
            <a:r>
              <a:rPr lang="en" sz="2100"/>
              <a:t>   OR o."Recieved_At" &gt; </a:t>
            </a:r>
            <a:endParaRPr sz="2100"/>
          </a:p>
          <a:p>
            <a:pPr indent="0" lvl="0" marL="0" rtl="0" algn="l">
              <a:lnSpc>
                <a:spcPct val="100000"/>
              </a:lnSpc>
              <a:spcBef>
                <a:spcPts val="1200"/>
              </a:spcBef>
              <a:spcAft>
                <a:spcPts val="0"/>
              </a:spcAft>
              <a:buNone/>
            </a:pPr>
            <a:r>
              <a:rPr lang="en" sz="2100"/>
              <a:t>      CASE </a:t>
            </a:r>
            <a:endParaRPr sz="2100"/>
          </a:p>
          <a:p>
            <a:pPr indent="0" lvl="0" marL="0" rtl="0" algn="l">
              <a:lnSpc>
                <a:spcPct val="100000"/>
              </a:lnSpc>
              <a:spcBef>
                <a:spcPts val="1200"/>
              </a:spcBef>
              <a:spcAft>
                <a:spcPts val="0"/>
              </a:spcAft>
              <a:buNone/>
            </a:pPr>
            <a:r>
              <a:rPr lang="en" sz="2100"/>
              <a:t>          WHEN c."Intake" LIKE '%24%' THEN '2024-12-31'::date</a:t>
            </a:r>
            <a:endParaRPr sz="2100"/>
          </a:p>
          <a:p>
            <a:pPr indent="0" lvl="0" marL="0" rtl="0" algn="l">
              <a:lnSpc>
                <a:spcPct val="100000"/>
              </a:lnSpc>
              <a:spcBef>
                <a:spcPts val="1200"/>
              </a:spcBef>
              <a:spcAft>
                <a:spcPts val="0"/>
              </a:spcAft>
              <a:buNone/>
            </a:pPr>
            <a:r>
              <a:rPr lang="en" sz="2100"/>
              <a:t>          WHEN c."Intake" LIKE '%25%' THEN '2025-12-31'::date</a:t>
            </a:r>
            <a:endParaRPr sz="2100"/>
          </a:p>
          <a:p>
            <a:pPr indent="0" lvl="0" marL="0" rtl="0" algn="l">
              <a:lnSpc>
                <a:spcPct val="100000"/>
              </a:lnSpc>
              <a:spcBef>
                <a:spcPts val="1200"/>
              </a:spcBef>
              <a:spcAft>
                <a:spcPts val="0"/>
              </a:spcAft>
              <a:buNone/>
            </a:pPr>
            <a:r>
              <a:rPr lang="en" sz="2100"/>
              <a:t>          ELSE o."Recieved_At"</a:t>
            </a:r>
            <a:endParaRPr sz="2100"/>
          </a:p>
          <a:p>
            <a:pPr indent="0" lvl="0" marL="0" rtl="0" algn="l">
              <a:lnSpc>
                <a:spcPct val="100000"/>
              </a:lnSpc>
              <a:spcBef>
                <a:spcPts val="1200"/>
              </a:spcBef>
              <a:spcAft>
                <a:spcPts val="0"/>
              </a:spcAft>
              <a:buNone/>
            </a:pPr>
            <a:r>
              <a:rPr lang="en" sz="2100"/>
              <a:t>      END;</a:t>
            </a:r>
            <a:endParaRPr sz="2100"/>
          </a:p>
          <a:p>
            <a:pPr indent="0" lvl="0" marL="0" rtl="0" algn="l">
              <a:lnSpc>
                <a:spcPct val="100000"/>
              </a:lnSpc>
              <a:spcBef>
                <a:spcPts val="1200"/>
              </a:spcBef>
              <a:spcAft>
                <a:spcPts val="0"/>
              </a:spcAft>
              <a:buNone/>
            </a:pPr>
            <a:r>
              <a:t/>
            </a:r>
            <a:endParaRPr b="1" sz="1100"/>
          </a:p>
          <a:p>
            <a:pPr indent="0" lvl="0" marL="0" rtl="0" algn="l">
              <a:lnSpc>
                <a:spcPct val="100000"/>
              </a:lnSpc>
              <a:spcBef>
                <a:spcPts val="1200"/>
              </a:spcBef>
              <a:spcAft>
                <a:spcPts val="0"/>
              </a:spcAft>
              <a:buNone/>
            </a:pPr>
            <a:r>
              <a:t/>
            </a:r>
            <a:endParaRPr sz="1000"/>
          </a:p>
          <a:p>
            <a:pPr indent="0" lvl="0" marL="0" rtl="0" algn="l">
              <a:lnSpc>
                <a:spcPct val="100000"/>
              </a:lnSpc>
              <a:spcBef>
                <a:spcPts val="1200"/>
              </a:spcBef>
              <a:spcAft>
                <a:spcPts val="1200"/>
              </a:spcAft>
              <a:buNone/>
            </a:pPr>
            <a:r>
              <a:t/>
            </a:r>
            <a:endParaRPr sz="1100"/>
          </a:p>
        </p:txBody>
      </p:sp>
      <p:pic>
        <p:nvPicPr>
          <p:cNvPr id="180" name="Google Shape;180;p30"/>
          <p:cNvPicPr preferRelativeResize="0"/>
          <p:nvPr/>
        </p:nvPicPr>
        <p:blipFill>
          <a:blip r:embed="rId3">
            <a:alphaModFix/>
          </a:blip>
          <a:stretch>
            <a:fillRect/>
          </a:stretch>
        </p:blipFill>
        <p:spPr>
          <a:xfrm>
            <a:off x="5859000" y="450800"/>
            <a:ext cx="3132599" cy="2508225"/>
          </a:xfrm>
          <a:prstGeom prst="rect">
            <a:avLst/>
          </a:prstGeom>
          <a:noFill/>
          <a:ln>
            <a:noFill/>
          </a:ln>
        </p:spPr>
      </p:pic>
      <p:sp>
        <p:nvSpPr>
          <p:cNvPr id="181" name="Google Shape;181;p30"/>
          <p:cNvSpPr txBox="1"/>
          <p:nvPr/>
        </p:nvSpPr>
        <p:spPr>
          <a:xfrm>
            <a:off x="5873900" y="3326900"/>
            <a:ext cx="3076800" cy="17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000">
                <a:solidFill>
                  <a:schemeClr val="dk2"/>
                </a:solidFill>
              </a:rPr>
              <a:t>Campaigns for intakes FA24 and SP25 were planned for 2024 and 2025, respectively. Outreach and marketing activities began earlier, with some Start_Dates in 2023, which is consistent with standard marketing practice and does not indicate a data error.</a:t>
            </a:r>
            <a:br>
              <a:rPr lang="en" sz="1000">
                <a:solidFill>
                  <a:schemeClr val="dk2"/>
                </a:solidFill>
              </a:rPr>
            </a:br>
            <a:r>
              <a:rPr lang="en" sz="1000">
                <a:solidFill>
                  <a:schemeClr val="dk2"/>
                </a:solidFill>
              </a:rPr>
              <a:t>Business rule validation confirms that no campaign Start_Date exceeds its intake year range. </a:t>
            </a:r>
            <a:endParaRPr sz="10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a:t>Key</a:t>
            </a:r>
            <a:r>
              <a:rPr lang="en" sz="1800">
                <a:solidFill>
                  <a:schemeClr val="dk2"/>
                </a:solidFill>
              </a:rPr>
              <a:t> </a:t>
            </a:r>
            <a:r>
              <a:rPr lang="en"/>
              <a:t>metrics</a:t>
            </a:r>
            <a:endParaRPr/>
          </a:p>
        </p:txBody>
      </p:sp>
      <p:sp>
        <p:nvSpPr>
          <p:cNvPr id="187" name="Google Shape;18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Connectivity rates </a:t>
            </a:r>
            <a:endParaRPr/>
          </a:p>
          <a:p>
            <a:pPr indent="-342900" lvl="0" marL="457200" rtl="0" algn="l">
              <a:spcBef>
                <a:spcPts val="0"/>
              </a:spcBef>
              <a:spcAft>
                <a:spcPts val="0"/>
              </a:spcAft>
              <a:buSzPts val="1800"/>
              <a:buChar char="●"/>
            </a:pPr>
            <a:r>
              <a:rPr lang="en"/>
              <a:t>Agent performance measured by: </a:t>
            </a:r>
            <a:endParaRPr/>
          </a:p>
          <a:p>
            <a:pPr indent="-317500" lvl="1" marL="914400" rtl="0" algn="l">
              <a:spcBef>
                <a:spcPts val="0"/>
              </a:spcBef>
              <a:spcAft>
                <a:spcPts val="0"/>
              </a:spcAft>
              <a:buSzPts val="1400"/>
              <a:buChar char="○"/>
            </a:pPr>
            <a:r>
              <a:rPr lang="en"/>
              <a:t>Connected calls, deposit, admit* , etc. </a:t>
            </a:r>
            <a:endParaRPr/>
          </a:p>
          <a:p>
            <a:pPr indent="-342900" lvl="0" marL="457200" rtl="0" algn="l">
              <a:spcBef>
                <a:spcPts val="0"/>
              </a:spcBef>
              <a:spcAft>
                <a:spcPts val="0"/>
              </a:spcAft>
              <a:buSzPts val="1800"/>
              <a:buChar char="●"/>
            </a:pPr>
            <a:r>
              <a:rPr lang="en"/>
              <a:t>Campaign</a:t>
            </a:r>
            <a:r>
              <a:rPr lang="en"/>
              <a:t> success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Connectivity rate</a:t>
            </a:r>
            <a:endParaRPr/>
          </a:p>
        </p:txBody>
      </p:sp>
      <p:sp>
        <p:nvSpPr>
          <p:cNvPr id="193" name="Google Shape;19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29.86% of the calls where connected.</a:t>
            </a:r>
            <a:endParaRPr/>
          </a:p>
          <a:p>
            <a:pPr indent="-342900" lvl="0" marL="457200" rtl="0" algn="l">
              <a:spcBef>
                <a:spcPts val="0"/>
              </a:spcBef>
              <a:spcAft>
                <a:spcPts val="0"/>
              </a:spcAft>
              <a:buSzPts val="1800"/>
              <a:buChar char="●"/>
            </a:pPr>
            <a:r>
              <a:rPr lang="en"/>
              <a:t>Total call was 33119</a:t>
            </a:r>
            <a:endParaRPr/>
          </a:p>
          <a:p>
            <a:pPr indent="-342900" lvl="0" marL="457200" rtl="0" algn="l">
              <a:spcBef>
                <a:spcPts val="0"/>
              </a:spcBef>
              <a:spcAft>
                <a:spcPts val="0"/>
              </a:spcAft>
              <a:buSzPts val="1800"/>
              <a:buChar char="●"/>
            </a:pPr>
            <a:r>
              <a:rPr lang="en"/>
              <a:t>Connected calls = 31769</a:t>
            </a:r>
            <a:endParaRPr/>
          </a:p>
          <a:p>
            <a:pPr indent="-342900" lvl="0" marL="457200" rtl="0" algn="l">
              <a:spcBef>
                <a:spcPts val="0"/>
              </a:spcBef>
              <a:spcAft>
                <a:spcPts val="0"/>
              </a:spcAft>
              <a:buSzPts val="1800"/>
              <a:buChar char="●"/>
            </a:pPr>
            <a:r>
              <a:rPr lang="en"/>
              <a:t>Disconnected calls = 1350</a:t>
            </a:r>
            <a:endParaRPr/>
          </a:p>
          <a:p>
            <a:pPr indent="-342900" lvl="0" marL="457200" rtl="0" algn="l">
              <a:spcBef>
                <a:spcPts val="0"/>
              </a:spcBef>
              <a:spcAft>
                <a:spcPts val="0"/>
              </a:spcAft>
              <a:buSzPts val="1800"/>
              <a:buChar char="●"/>
            </a:pPr>
            <a:r>
              <a:rPr lang="en"/>
              <a:t>Majority of the calls were not connected.</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Types  </a:t>
            </a:r>
            <a:endParaRPr/>
          </a:p>
        </p:txBody>
      </p:sp>
      <p:sp>
        <p:nvSpPr>
          <p:cNvPr id="199" name="Google Shape;199;p33"/>
          <p:cNvSpPr txBox="1"/>
          <p:nvPr>
            <p:ph idx="1" type="body"/>
          </p:nvPr>
        </p:nvSpPr>
        <p:spPr>
          <a:xfrm>
            <a:off x="311700" y="1152475"/>
            <a:ext cx="4119000" cy="36036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The GR GS SP25 campaign, dominated, accounting for most of the calls. This could be due to an increase in number of applicants or maybe less clarity </a:t>
            </a:r>
            <a:r>
              <a:rPr lang="en"/>
              <a:t>during</a:t>
            </a:r>
            <a:r>
              <a:rPr lang="en"/>
              <a:t> that application season. This campaign was most </a:t>
            </a:r>
            <a:r>
              <a:rPr lang="en"/>
              <a:t>successful</a:t>
            </a:r>
            <a:r>
              <a:rPr lang="en"/>
              <a:t> in attracting applicants. (More resources can be allocated to this season).  </a:t>
            </a:r>
            <a:endParaRPr>
              <a:solidFill>
                <a:srgbClr val="FF0000"/>
              </a:solidFill>
            </a:endParaRPr>
          </a:p>
          <a:p>
            <a:pPr indent="0" lvl="0" marL="0" rtl="0" algn="l">
              <a:spcBef>
                <a:spcPts val="1200"/>
              </a:spcBef>
              <a:spcAft>
                <a:spcPts val="1200"/>
              </a:spcAft>
              <a:buNone/>
            </a:pPr>
            <a:r>
              <a:rPr lang="en"/>
              <a:t>31.5% of the calls were not attributed to a known campaign. More </a:t>
            </a:r>
            <a:r>
              <a:rPr lang="en"/>
              <a:t>effort</a:t>
            </a:r>
            <a:r>
              <a:rPr lang="en"/>
              <a:t> sure be put in to ensure that the calls are accurately categorized. Also, if needed more categorizes </a:t>
            </a:r>
            <a:r>
              <a:rPr lang="en"/>
              <a:t>should</a:t>
            </a:r>
            <a:r>
              <a:rPr lang="en"/>
              <a:t> be </a:t>
            </a:r>
            <a:r>
              <a:rPr lang="en"/>
              <a:t>included</a:t>
            </a:r>
            <a:r>
              <a:rPr lang="en"/>
              <a:t> to capture the </a:t>
            </a:r>
            <a:r>
              <a:rPr lang="en"/>
              <a:t>miscellaneous</a:t>
            </a:r>
            <a:r>
              <a:rPr lang="en"/>
              <a:t> calls*. </a:t>
            </a:r>
            <a:endParaRPr/>
          </a:p>
        </p:txBody>
      </p:sp>
      <p:pic>
        <p:nvPicPr>
          <p:cNvPr id="200" name="Google Shape;200;p33"/>
          <p:cNvPicPr preferRelativeResize="0"/>
          <p:nvPr/>
        </p:nvPicPr>
        <p:blipFill rotWithShape="1">
          <a:blip r:embed="rId3">
            <a:alphaModFix/>
          </a:blip>
          <a:srcRect b="0" l="-5510" r="5509" t="0"/>
          <a:stretch/>
        </p:blipFill>
        <p:spPr>
          <a:xfrm>
            <a:off x="4305300" y="1243013"/>
            <a:ext cx="4838700" cy="2657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6" name="Google Shape;206;p34"/>
          <p:cNvSpPr txBox="1"/>
          <p:nvPr>
            <p:ph idx="1" type="body"/>
          </p:nvPr>
        </p:nvSpPr>
        <p:spPr>
          <a:xfrm>
            <a:off x="311700" y="2167500"/>
            <a:ext cx="8520600" cy="2401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The trend here also shows that the spring season, is the most season active/busy.</a:t>
            </a:r>
            <a:endParaRPr/>
          </a:p>
          <a:p>
            <a:pPr indent="0" lvl="0" marL="0" rtl="0" algn="l">
              <a:spcBef>
                <a:spcPts val="1200"/>
              </a:spcBef>
              <a:spcAft>
                <a:spcPts val="0"/>
              </a:spcAft>
              <a:buNone/>
            </a:pPr>
            <a:r>
              <a:rPr lang="en"/>
              <a:t>There is spike in activity in April 2023 and July 2023, and a similar trend is observed in 2024, but starting in </a:t>
            </a:r>
            <a:r>
              <a:rPr lang="en"/>
              <a:t>February</a:t>
            </a:r>
            <a:r>
              <a:rPr lang="en"/>
              <a:t>.  </a:t>
            </a:r>
            <a:endParaRPr/>
          </a:p>
          <a:p>
            <a:pPr indent="0" lvl="0" marL="0" rtl="0" algn="l">
              <a:spcBef>
                <a:spcPts val="1200"/>
              </a:spcBef>
              <a:spcAft>
                <a:spcPts val="0"/>
              </a:spcAft>
              <a:buNone/>
            </a:pPr>
            <a:r>
              <a:rPr lang="en"/>
              <a:t>Between </a:t>
            </a:r>
            <a:r>
              <a:rPr lang="en"/>
              <a:t>February</a:t>
            </a:r>
            <a:r>
              <a:rPr lang="en"/>
              <a:t> </a:t>
            </a:r>
            <a:r>
              <a:rPr lang="en"/>
              <a:t>and</a:t>
            </a:r>
            <a:r>
              <a:rPr lang="en"/>
              <a:t> July 2024 there is significant call activity, although there is a slow down in the month of May. </a:t>
            </a:r>
            <a:endParaRPr/>
          </a:p>
          <a:p>
            <a:pPr indent="0" lvl="0" marL="0" rtl="0" algn="l">
              <a:spcBef>
                <a:spcPts val="1200"/>
              </a:spcBef>
              <a:spcAft>
                <a:spcPts val="1200"/>
              </a:spcAft>
              <a:buNone/>
            </a:pPr>
            <a:r>
              <a:rPr lang="en"/>
              <a:t>Although less, there is also more call activity in October and November. With a spike at the onset of September with the commencement of studies*. </a:t>
            </a:r>
            <a:endParaRPr/>
          </a:p>
        </p:txBody>
      </p:sp>
      <p:pic>
        <p:nvPicPr>
          <p:cNvPr id="207" name="Google Shape;207;p34"/>
          <p:cNvPicPr preferRelativeResize="0"/>
          <p:nvPr/>
        </p:nvPicPr>
        <p:blipFill>
          <a:blip r:embed="rId3">
            <a:alphaModFix/>
          </a:blip>
          <a:stretch>
            <a:fillRect/>
          </a:stretch>
        </p:blipFill>
        <p:spPr>
          <a:xfrm>
            <a:off x="0" y="-7"/>
            <a:ext cx="9144002" cy="216751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Distribution</a:t>
            </a:r>
            <a:endParaRPr/>
          </a:p>
        </p:txBody>
      </p:sp>
      <p:sp>
        <p:nvSpPr>
          <p:cNvPr id="213" name="Google Shape;21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Similarly this chart shows that June and July are the most </a:t>
            </a:r>
            <a:r>
              <a:rPr lang="en"/>
              <a:t>active</a:t>
            </a:r>
            <a:r>
              <a:rPr lang="en"/>
              <a:t> months in terms of calls.. </a:t>
            </a:r>
            <a:endParaRPr/>
          </a:p>
        </p:txBody>
      </p:sp>
      <p:pic>
        <p:nvPicPr>
          <p:cNvPr id="214" name="Google Shape;214;p35"/>
          <p:cNvPicPr preferRelativeResize="0"/>
          <p:nvPr/>
        </p:nvPicPr>
        <p:blipFill>
          <a:blip r:embed="rId3">
            <a:alphaModFix/>
          </a:blip>
          <a:stretch>
            <a:fillRect/>
          </a:stretch>
        </p:blipFill>
        <p:spPr>
          <a:xfrm>
            <a:off x="210925" y="2388000"/>
            <a:ext cx="4476239" cy="2364325"/>
          </a:xfrm>
          <a:prstGeom prst="rect">
            <a:avLst/>
          </a:prstGeom>
          <a:noFill/>
          <a:ln>
            <a:noFill/>
          </a:ln>
        </p:spPr>
      </p:pic>
      <p:pic>
        <p:nvPicPr>
          <p:cNvPr id="215" name="Google Shape;215;p35"/>
          <p:cNvPicPr preferRelativeResize="0"/>
          <p:nvPr/>
        </p:nvPicPr>
        <p:blipFill rotWithShape="1">
          <a:blip r:embed="rId4">
            <a:alphaModFix/>
          </a:blip>
          <a:srcRect b="1371" l="1085" r="1095" t="1361"/>
          <a:stretch/>
        </p:blipFill>
        <p:spPr>
          <a:xfrm>
            <a:off x="4800600" y="2326950"/>
            <a:ext cx="4343400" cy="2486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1" name="Google Shape;221;p36"/>
          <p:cNvSpPr txBox="1"/>
          <p:nvPr>
            <p:ph idx="1" type="body"/>
          </p:nvPr>
        </p:nvSpPr>
        <p:spPr>
          <a:xfrm>
            <a:off x="311700" y="2978300"/>
            <a:ext cx="8520600" cy="159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Make it interactive to show the percentage of calls disconnected by each caller, in other words, the success rate per each agent.</a:t>
            </a:r>
            <a:endParaRPr/>
          </a:p>
          <a:p>
            <a:pPr indent="0" lvl="0" marL="0" rtl="0" algn="l">
              <a:spcBef>
                <a:spcPts val="1200"/>
              </a:spcBef>
              <a:spcAft>
                <a:spcPts val="1200"/>
              </a:spcAft>
              <a:buNone/>
            </a:pPr>
            <a:r>
              <a:rPr lang="en"/>
              <a:t>Rudra serves the most calls while Namrata has the least. </a:t>
            </a:r>
            <a:endParaRPr/>
          </a:p>
        </p:txBody>
      </p:sp>
      <p:pic>
        <p:nvPicPr>
          <p:cNvPr id="222" name="Google Shape;222;p36"/>
          <p:cNvPicPr preferRelativeResize="0"/>
          <p:nvPr/>
        </p:nvPicPr>
        <p:blipFill>
          <a:blip r:embed="rId3">
            <a:alphaModFix/>
          </a:blip>
          <a:stretch>
            <a:fillRect/>
          </a:stretch>
        </p:blipFill>
        <p:spPr>
          <a:xfrm>
            <a:off x="135976" y="0"/>
            <a:ext cx="6707051" cy="3092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8" name="Google Shape;228;p37"/>
          <p:cNvSpPr txBox="1"/>
          <p:nvPr>
            <p:ph idx="1" type="body"/>
          </p:nvPr>
        </p:nvSpPr>
        <p:spPr>
          <a:xfrm>
            <a:off x="311700" y="3333575"/>
            <a:ext cx="8520600" cy="123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Among agents who serviced over 1000 calls, Prajwal has the least percentage of unconnected calls, whiles Jyoti has the most proportion of unconnected calls. </a:t>
            </a:r>
            <a:endParaRPr/>
          </a:p>
        </p:txBody>
      </p:sp>
      <p:pic>
        <p:nvPicPr>
          <p:cNvPr id="229" name="Google Shape;229;p37"/>
          <p:cNvPicPr preferRelativeResize="0"/>
          <p:nvPr/>
        </p:nvPicPr>
        <p:blipFill>
          <a:blip r:embed="rId3">
            <a:alphaModFix/>
          </a:blip>
          <a:stretch>
            <a:fillRect/>
          </a:stretch>
        </p:blipFill>
        <p:spPr>
          <a:xfrm>
            <a:off x="4718350" y="77550"/>
            <a:ext cx="4278076" cy="3256024"/>
          </a:xfrm>
          <a:prstGeom prst="rect">
            <a:avLst/>
          </a:prstGeom>
          <a:noFill/>
          <a:ln>
            <a:noFill/>
          </a:ln>
        </p:spPr>
      </p:pic>
      <p:pic>
        <p:nvPicPr>
          <p:cNvPr id="230" name="Google Shape;230;p37"/>
          <p:cNvPicPr preferRelativeResize="0"/>
          <p:nvPr/>
        </p:nvPicPr>
        <p:blipFill>
          <a:blip r:embed="rId4">
            <a:alphaModFix/>
          </a:blip>
          <a:stretch>
            <a:fillRect/>
          </a:stretch>
        </p:blipFill>
        <p:spPr>
          <a:xfrm>
            <a:off x="0" y="0"/>
            <a:ext cx="4014775" cy="3059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6" name="Google Shape;236;p38"/>
          <p:cNvSpPr txBox="1"/>
          <p:nvPr>
            <p:ph idx="1" type="body"/>
          </p:nvPr>
        </p:nvSpPr>
        <p:spPr>
          <a:xfrm>
            <a:off x="311700" y="2960600"/>
            <a:ext cx="8520600" cy="160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Rudra had the greates proportion of </a:t>
            </a:r>
            <a:r>
              <a:rPr b="1" lang="en"/>
              <a:t>disconnected </a:t>
            </a:r>
            <a:r>
              <a:rPr lang="en"/>
              <a:t>calls. </a:t>
            </a:r>
            <a:endParaRPr/>
          </a:p>
        </p:txBody>
      </p:sp>
      <p:pic>
        <p:nvPicPr>
          <p:cNvPr id="237" name="Google Shape;237;p38"/>
          <p:cNvPicPr preferRelativeResize="0"/>
          <p:nvPr/>
        </p:nvPicPr>
        <p:blipFill>
          <a:blip r:embed="rId3">
            <a:alphaModFix/>
          </a:blip>
          <a:stretch>
            <a:fillRect/>
          </a:stretch>
        </p:blipFill>
        <p:spPr>
          <a:xfrm>
            <a:off x="60425" y="0"/>
            <a:ext cx="3868049" cy="2960600"/>
          </a:xfrm>
          <a:prstGeom prst="rect">
            <a:avLst/>
          </a:prstGeom>
          <a:noFill/>
          <a:ln>
            <a:noFill/>
          </a:ln>
        </p:spPr>
      </p:pic>
      <p:sp>
        <p:nvSpPr>
          <p:cNvPr id="238" name="Google Shape;238;p38"/>
          <p:cNvSpPr txBox="1"/>
          <p:nvPr/>
        </p:nvSpPr>
        <p:spPr>
          <a:xfrm>
            <a:off x="4834525" y="1270775"/>
            <a:ext cx="3391800" cy="11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Group the fields into unconnected, need meet, success, failure(not interested, </a:t>
            </a:r>
            <a:r>
              <a:rPr lang="en" sz="1800">
                <a:solidFill>
                  <a:schemeClr val="dk2"/>
                </a:solidFill>
              </a:rPr>
              <a:t>deferral</a:t>
            </a:r>
            <a:r>
              <a:rPr lang="en" sz="1800">
                <a:solidFill>
                  <a:schemeClr val="dk2"/>
                </a:solidFill>
              </a:rPr>
              <a:t>, wrong number)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210025"/>
            <a:ext cx="8520600" cy="474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Calls by Campaign</a:t>
            </a:r>
            <a:endParaRPr b="1"/>
          </a:p>
        </p:txBody>
      </p:sp>
      <p:sp>
        <p:nvSpPr>
          <p:cNvPr id="244" name="Google Shape;244;p39"/>
          <p:cNvSpPr txBox="1"/>
          <p:nvPr>
            <p:ph idx="1" type="body"/>
          </p:nvPr>
        </p:nvSpPr>
        <p:spPr>
          <a:xfrm>
            <a:off x="311700" y="872200"/>
            <a:ext cx="4438500" cy="369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Here, SP25 </a:t>
            </a:r>
            <a:r>
              <a:rPr lang="en"/>
              <a:t>campaign have the highest calls records and most of them was not connected with the caller.</a:t>
            </a:r>
            <a:endParaRPr/>
          </a:p>
          <a:p>
            <a:pPr indent="0" lvl="0" marL="0" rtl="0" algn="l">
              <a:spcBef>
                <a:spcPts val="1200"/>
              </a:spcBef>
              <a:spcAft>
                <a:spcPts val="1200"/>
              </a:spcAft>
              <a:buNone/>
            </a:pPr>
            <a:r>
              <a:rPr lang="en"/>
              <a:t>12916 calls not connected and 3020 will submit their docs.</a:t>
            </a:r>
            <a:endParaRPr/>
          </a:p>
        </p:txBody>
      </p:sp>
      <p:pic>
        <p:nvPicPr>
          <p:cNvPr id="245" name="Google Shape;245;p39"/>
          <p:cNvPicPr preferRelativeResize="0"/>
          <p:nvPr/>
        </p:nvPicPr>
        <p:blipFill>
          <a:blip r:embed="rId3">
            <a:alphaModFix/>
          </a:blip>
          <a:stretch>
            <a:fillRect/>
          </a:stretch>
        </p:blipFill>
        <p:spPr>
          <a:xfrm>
            <a:off x="5131450" y="939075"/>
            <a:ext cx="3825876" cy="3413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345150" y="190850"/>
            <a:ext cx="460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Agent Performance</a:t>
            </a:r>
            <a:endParaRPr/>
          </a:p>
        </p:txBody>
      </p:sp>
      <p:sp>
        <p:nvSpPr>
          <p:cNvPr id="251" name="Google Shape;251;p40"/>
          <p:cNvSpPr txBox="1"/>
          <p:nvPr>
            <p:ph idx="1" type="body"/>
          </p:nvPr>
        </p:nvSpPr>
        <p:spPr>
          <a:xfrm>
            <a:off x="311700" y="863550"/>
            <a:ext cx="4672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 is prominent from the bar chart that Rudra has called more applicants. After Rudra, prajwal, jyoti and palak’s performance was </a:t>
            </a:r>
            <a:r>
              <a:rPr lang="en"/>
              <a:t>noticeable</a:t>
            </a:r>
            <a:r>
              <a:rPr lang="en"/>
              <a:t>. </a:t>
            </a:r>
            <a:endParaRPr/>
          </a:p>
          <a:p>
            <a:pPr indent="0" lvl="0" marL="0" rtl="0" algn="l">
              <a:spcBef>
                <a:spcPts val="1200"/>
              </a:spcBef>
              <a:spcAft>
                <a:spcPts val="1200"/>
              </a:spcAft>
              <a:buNone/>
            </a:pPr>
            <a:r>
              <a:rPr lang="en"/>
              <a:t>As Rudra contacted more, he has more calls “Not connected” and also engaged </a:t>
            </a:r>
            <a:r>
              <a:rPr lang="en"/>
              <a:t>with</a:t>
            </a:r>
            <a:r>
              <a:rPr lang="en"/>
              <a:t> more </a:t>
            </a:r>
            <a:r>
              <a:rPr lang="en"/>
              <a:t>positive</a:t>
            </a:r>
            <a:r>
              <a:rPr lang="en"/>
              <a:t> communications on documents submission.</a:t>
            </a:r>
            <a:endParaRPr/>
          </a:p>
        </p:txBody>
      </p:sp>
      <p:pic>
        <p:nvPicPr>
          <p:cNvPr id="252" name="Google Shape;252;p40"/>
          <p:cNvPicPr preferRelativeResize="0"/>
          <p:nvPr/>
        </p:nvPicPr>
        <p:blipFill>
          <a:blip r:embed="rId3">
            <a:alphaModFix/>
          </a:blip>
          <a:stretch>
            <a:fillRect/>
          </a:stretch>
        </p:blipFill>
        <p:spPr>
          <a:xfrm>
            <a:off x="4984293" y="571500"/>
            <a:ext cx="3926351" cy="4000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Type by Record Count</a:t>
            </a:r>
            <a:endParaRPr/>
          </a:p>
        </p:txBody>
      </p:sp>
      <p:sp>
        <p:nvSpPr>
          <p:cNvPr id="258" name="Google Shape;258;p41"/>
          <p:cNvSpPr txBox="1"/>
          <p:nvPr>
            <p:ph idx="1" type="body"/>
          </p:nvPr>
        </p:nvSpPr>
        <p:spPr>
          <a:xfrm>
            <a:off x="311700" y="1152475"/>
            <a:ext cx="4578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Call Campaign has 31% applicants.</a:t>
            </a:r>
            <a:endParaRPr/>
          </a:p>
          <a:p>
            <a:pPr indent="0" lvl="0" marL="0" rtl="0" algn="l">
              <a:spcBef>
                <a:spcPts val="1200"/>
              </a:spcBef>
              <a:spcAft>
                <a:spcPts val="0"/>
              </a:spcAft>
              <a:buNone/>
            </a:pPr>
            <a:r>
              <a:rPr lang="en"/>
              <a:t>Normal Campaign has 69% of applicants.</a:t>
            </a:r>
            <a:endParaRPr/>
          </a:p>
          <a:p>
            <a:pPr indent="0" lvl="0" marL="0" rtl="0" algn="l">
              <a:spcBef>
                <a:spcPts val="1200"/>
              </a:spcBef>
              <a:spcAft>
                <a:spcPts val="1200"/>
              </a:spcAft>
              <a:buNone/>
            </a:pPr>
            <a:r>
              <a:rPr lang="en"/>
              <a:t>Shows applicants prefer interacting in normal campaigns.</a:t>
            </a:r>
            <a:endParaRPr/>
          </a:p>
        </p:txBody>
      </p:sp>
      <p:pic>
        <p:nvPicPr>
          <p:cNvPr id="259" name="Google Shape;259;p41"/>
          <p:cNvPicPr preferRelativeResize="0"/>
          <p:nvPr/>
        </p:nvPicPr>
        <p:blipFill>
          <a:blip r:embed="rId3">
            <a:alphaModFix/>
          </a:blip>
          <a:stretch>
            <a:fillRect/>
          </a:stretch>
        </p:blipFill>
        <p:spPr>
          <a:xfrm>
            <a:off x="4964250" y="1527175"/>
            <a:ext cx="4034700" cy="2667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Campaign Regions</a:t>
            </a:r>
            <a:endParaRPr/>
          </a:p>
        </p:txBody>
      </p:sp>
      <p:sp>
        <p:nvSpPr>
          <p:cNvPr id="265" name="Google Shape;265;p42"/>
          <p:cNvSpPr txBox="1"/>
          <p:nvPr>
            <p:ph idx="1" type="body"/>
          </p:nvPr>
        </p:nvSpPr>
        <p:spPr>
          <a:xfrm>
            <a:off x="311700" y="1152475"/>
            <a:ext cx="4625700" cy="37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Normal campaign (70%) does not have region informations. And that is why more than 70% has “not mentioned” in region column.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On the other hand, 30% of the call campaign have region information which is why 11% (China, taiwan, korea), 7% other and 6% india are found where these campaigns were held.</a:t>
            </a:r>
            <a:endParaRPr/>
          </a:p>
        </p:txBody>
      </p:sp>
      <p:pic>
        <p:nvPicPr>
          <p:cNvPr id="266" name="Google Shape;266;p42"/>
          <p:cNvPicPr preferRelativeResize="0"/>
          <p:nvPr/>
        </p:nvPicPr>
        <p:blipFill>
          <a:blip r:embed="rId3">
            <a:alphaModFix/>
          </a:blip>
          <a:stretch>
            <a:fillRect/>
          </a:stretch>
        </p:blipFill>
        <p:spPr>
          <a:xfrm>
            <a:off x="5164897" y="1152475"/>
            <a:ext cx="3745149" cy="3286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type="title"/>
          </p:nvPr>
        </p:nvSpPr>
        <p:spPr>
          <a:xfrm>
            <a:off x="311700" y="50400"/>
            <a:ext cx="8520600" cy="44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Distribution: Month &amp; Weekday</a:t>
            </a:r>
            <a:endParaRPr/>
          </a:p>
        </p:txBody>
      </p:sp>
      <p:sp>
        <p:nvSpPr>
          <p:cNvPr id="272" name="Google Shape;272;p43"/>
          <p:cNvSpPr txBox="1"/>
          <p:nvPr>
            <p:ph idx="1" type="body"/>
          </p:nvPr>
        </p:nvSpPr>
        <p:spPr>
          <a:xfrm>
            <a:off x="311700" y="577900"/>
            <a:ext cx="4260300" cy="426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Here, we can see, June, and July months has more applicants communicating with agents. And August month has less interactions than other months. </a:t>
            </a:r>
            <a:endParaRPr/>
          </a:p>
          <a:p>
            <a:pPr indent="0" lvl="0" marL="0" rtl="0" algn="l">
              <a:spcBef>
                <a:spcPts val="1200"/>
              </a:spcBef>
              <a:spcAft>
                <a:spcPts val="1200"/>
              </a:spcAft>
              <a:buNone/>
            </a:pPr>
            <a:br>
              <a:rPr lang="en"/>
            </a:br>
            <a:r>
              <a:rPr lang="en"/>
              <a:t>Also, Monday, Thursday, Tuesday are the busiest day. And Saturday and Friday seems very less interactions which is almost </a:t>
            </a:r>
            <a:r>
              <a:rPr lang="en"/>
              <a:t>negligible. It may be because, Saturday and Friday are majorly the holidays all around the world.</a:t>
            </a:r>
            <a:endParaRPr/>
          </a:p>
        </p:txBody>
      </p:sp>
      <p:pic>
        <p:nvPicPr>
          <p:cNvPr id="273" name="Google Shape;273;p43"/>
          <p:cNvPicPr preferRelativeResize="0"/>
          <p:nvPr/>
        </p:nvPicPr>
        <p:blipFill>
          <a:blip r:embed="rId3">
            <a:alphaModFix/>
          </a:blip>
          <a:stretch>
            <a:fillRect/>
          </a:stretch>
        </p:blipFill>
        <p:spPr>
          <a:xfrm>
            <a:off x="4683325" y="775675"/>
            <a:ext cx="4148974" cy="3595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 Distribution: Hours</a:t>
            </a:r>
            <a:endParaRPr/>
          </a:p>
        </p:txBody>
      </p:sp>
      <p:sp>
        <p:nvSpPr>
          <p:cNvPr id="279" name="Google Shape;279;p44"/>
          <p:cNvSpPr txBox="1"/>
          <p:nvPr>
            <p:ph idx="1" type="body"/>
          </p:nvPr>
        </p:nvSpPr>
        <p:spPr>
          <a:xfrm>
            <a:off x="311700" y="1152475"/>
            <a:ext cx="4378200" cy="37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have used filter to visualize call times distribution on call_month, call_hour, call_Weekday. </a:t>
            </a:r>
            <a:endParaRPr/>
          </a:p>
          <a:p>
            <a:pPr indent="0" lvl="0" marL="0" rtl="0" algn="l">
              <a:spcBef>
                <a:spcPts val="1200"/>
              </a:spcBef>
              <a:spcAft>
                <a:spcPts val="1200"/>
              </a:spcAft>
              <a:buClr>
                <a:schemeClr val="dk1"/>
              </a:buClr>
              <a:buSzPts val="1100"/>
              <a:buFont typeface="Arial"/>
              <a:buNone/>
            </a:pPr>
            <a:r>
              <a:rPr lang="en"/>
              <a:t>Here we can see 10am to 6pm are the busy period of communication. After 6pm and before 10am there are less interactions between agents and applicants.</a:t>
            </a:r>
            <a:endParaRPr/>
          </a:p>
        </p:txBody>
      </p:sp>
      <p:pic>
        <p:nvPicPr>
          <p:cNvPr id="280" name="Google Shape;280;p44"/>
          <p:cNvPicPr preferRelativeResize="0"/>
          <p:nvPr/>
        </p:nvPicPr>
        <p:blipFill>
          <a:blip r:embed="rId3">
            <a:alphaModFix/>
          </a:blip>
          <a:stretch>
            <a:fillRect/>
          </a:stretch>
        </p:blipFill>
        <p:spPr>
          <a:xfrm>
            <a:off x="5156175" y="510375"/>
            <a:ext cx="3718825" cy="2321550"/>
          </a:xfrm>
          <a:prstGeom prst="rect">
            <a:avLst/>
          </a:prstGeom>
          <a:noFill/>
          <a:ln>
            <a:noFill/>
          </a:ln>
        </p:spPr>
      </p:pic>
      <p:pic>
        <p:nvPicPr>
          <p:cNvPr id="281" name="Google Shape;281;p44"/>
          <p:cNvPicPr preferRelativeResize="0"/>
          <p:nvPr/>
        </p:nvPicPr>
        <p:blipFill>
          <a:blip r:embed="rId4">
            <a:alphaModFix/>
          </a:blip>
          <a:stretch>
            <a:fillRect/>
          </a:stretch>
        </p:blipFill>
        <p:spPr>
          <a:xfrm>
            <a:off x="5156175" y="2992450"/>
            <a:ext cx="3718825" cy="18938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Distribution: Weekday</a:t>
            </a:r>
            <a:endParaRPr/>
          </a:p>
        </p:txBody>
      </p:sp>
      <p:sp>
        <p:nvSpPr>
          <p:cNvPr id="287" name="Google Shape;287;p45"/>
          <p:cNvSpPr txBox="1"/>
          <p:nvPr>
            <p:ph idx="1" type="body"/>
          </p:nvPr>
        </p:nvSpPr>
        <p:spPr>
          <a:xfrm>
            <a:off x="311700" y="1152475"/>
            <a:ext cx="4338300" cy="36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have used filter to visualize call times distribution on call_month, call_hour, call_Weekday. </a:t>
            </a:r>
            <a:endParaRPr/>
          </a:p>
          <a:p>
            <a:pPr indent="0" lvl="0" marL="0" rtl="0" algn="l">
              <a:spcBef>
                <a:spcPts val="1200"/>
              </a:spcBef>
              <a:spcAft>
                <a:spcPts val="1200"/>
              </a:spcAft>
              <a:buClr>
                <a:schemeClr val="dk1"/>
              </a:buClr>
              <a:buSzPts val="1100"/>
              <a:buFont typeface="Arial"/>
              <a:buNone/>
            </a:pPr>
            <a:r>
              <a:rPr lang="en"/>
              <a:t>Here it is visible that Monday, Thursday, Tuesday, Wednesday, and Friday are the busiest day. </a:t>
            </a:r>
            <a:br>
              <a:rPr lang="en"/>
            </a:br>
            <a:r>
              <a:rPr lang="en"/>
              <a:t>Saturday has almost no interactions which shows us it is the weekly holiday all around the world.</a:t>
            </a:r>
            <a:endParaRPr/>
          </a:p>
        </p:txBody>
      </p:sp>
      <p:pic>
        <p:nvPicPr>
          <p:cNvPr id="288" name="Google Shape;288;p45"/>
          <p:cNvPicPr preferRelativeResize="0"/>
          <p:nvPr/>
        </p:nvPicPr>
        <p:blipFill>
          <a:blip r:embed="rId3">
            <a:alphaModFix/>
          </a:blip>
          <a:stretch>
            <a:fillRect/>
          </a:stretch>
        </p:blipFill>
        <p:spPr>
          <a:xfrm>
            <a:off x="4910750" y="1226675"/>
            <a:ext cx="3979674" cy="3451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Times Distribution: Month</a:t>
            </a:r>
            <a:endParaRPr/>
          </a:p>
        </p:txBody>
      </p:sp>
      <p:sp>
        <p:nvSpPr>
          <p:cNvPr id="294" name="Google Shape;294;p46"/>
          <p:cNvSpPr txBox="1"/>
          <p:nvPr>
            <p:ph idx="1" type="body"/>
          </p:nvPr>
        </p:nvSpPr>
        <p:spPr>
          <a:xfrm>
            <a:off x="311700" y="1152475"/>
            <a:ext cx="4672500" cy="375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have used filter to visualize call times distribution on call_month, call_hour, call_Weekday. </a:t>
            </a:r>
            <a:endParaRPr/>
          </a:p>
          <a:p>
            <a:pPr indent="0" lvl="0" marL="0" rtl="0" algn="l">
              <a:spcBef>
                <a:spcPts val="1200"/>
              </a:spcBef>
              <a:spcAft>
                <a:spcPts val="1200"/>
              </a:spcAft>
              <a:buNone/>
            </a:pPr>
            <a:r>
              <a:rPr lang="en"/>
              <a:t>July and June has most interactions between applicants and agents. And August has the least interactions.</a:t>
            </a:r>
            <a:endParaRPr/>
          </a:p>
        </p:txBody>
      </p:sp>
      <p:pic>
        <p:nvPicPr>
          <p:cNvPr id="295" name="Google Shape;295;p46"/>
          <p:cNvPicPr preferRelativeResize="0"/>
          <p:nvPr/>
        </p:nvPicPr>
        <p:blipFill>
          <a:blip r:embed="rId3">
            <a:alphaModFix/>
          </a:blip>
          <a:stretch>
            <a:fillRect/>
          </a:stretch>
        </p:blipFill>
        <p:spPr>
          <a:xfrm>
            <a:off x="5298675" y="1107300"/>
            <a:ext cx="3650500" cy="3838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 Records by Country</a:t>
            </a:r>
            <a:endParaRPr/>
          </a:p>
        </p:txBody>
      </p:sp>
      <p:sp>
        <p:nvSpPr>
          <p:cNvPr id="301" name="Google Shape;301;p47"/>
          <p:cNvSpPr txBox="1"/>
          <p:nvPr>
            <p:ph idx="1" type="body"/>
          </p:nvPr>
        </p:nvSpPr>
        <p:spPr>
          <a:xfrm>
            <a:off x="311700" y="1152475"/>
            <a:ext cx="8520600" cy="389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From the bar chart it is the visible that </a:t>
            </a:r>
            <a:r>
              <a:rPr lang="en">
                <a:solidFill>
                  <a:srgbClr val="FF0000"/>
                </a:solidFill>
              </a:rPr>
              <a:t>India</a:t>
            </a:r>
            <a:r>
              <a:rPr lang="en"/>
              <a:t> has the highest number of applicants in Illinois Institute of Technology’s marketing campaigns. After India, </a:t>
            </a:r>
            <a:r>
              <a:rPr lang="en">
                <a:solidFill>
                  <a:srgbClr val="FF9900"/>
                </a:solidFill>
              </a:rPr>
              <a:t>Ghana</a:t>
            </a:r>
            <a:r>
              <a:rPr lang="en"/>
              <a:t> and </a:t>
            </a:r>
            <a:r>
              <a:rPr lang="en">
                <a:solidFill>
                  <a:srgbClr val="FF9900"/>
                </a:solidFill>
              </a:rPr>
              <a:t>Nigeria</a:t>
            </a:r>
            <a:r>
              <a:rPr lang="en"/>
              <a:t> has more applicants. And Pakistan, Iran, Bangladesh comes after them.</a:t>
            </a:r>
            <a:endParaRPr/>
          </a:p>
        </p:txBody>
      </p:sp>
      <p:pic>
        <p:nvPicPr>
          <p:cNvPr id="302" name="Google Shape;302;p47"/>
          <p:cNvPicPr preferRelativeResize="0"/>
          <p:nvPr/>
        </p:nvPicPr>
        <p:blipFill>
          <a:blip r:embed="rId3">
            <a:alphaModFix/>
          </a:blip>
          <a:stretch>
            <a:fillRect/>
          </a:stretch>
        </p:blipFill>
        <p:spPr>
          <a:xfrm>
            <a:off x="429400" y="1152475"/>
            <a:ext cx="8369074" cy="25757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data</a:t>
            </a:r>
            <a:endParaRPr/>
          </a:p>
        </p:txBody>
      </p:sp>
      <p:sp>
        <p:nvSpPr>
          <p:cNvPr id="308" name="Google Shape;308;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These KPI’s shows, there are 15,159 total applicant who contacted with 12 agents in calls. These applicant were from 143 different countries and engaged with 3 campaigns.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There were total </a:t>
            </a:r>
            <a:r>
              <a:rPr lang="en">
                <a:solidFill>
                  <a:srgbClr val="FF0000"/>
                </a:solidFill>
              </a:rPr>
              <a:t>33119 </a:t>
            </a:r>
            <a:r>
              <a:rPr lang="en"/>
              <a:t>interactions between applicants and campaign’s marketing agents which have almost </a:t>
            </a:r>
            <a:r>
              <a:rPr lang="en">
                <a:solidFill>
                  <a:srgbClr val="9900FF"/>
                </a:solidFill>
              </a:rPr>
              <a:t>30%</a:t>
            </a:r>
            <a:r>
              <a:rPr lang="en"/>
              <a:t> successful calls.</a:t>
            </a:r>
            <a:endParaRPr/>
          </a:p>
        </p:txBody>
      </p:sp>
      <p:pic>
        <p:nvPicPr>
          <p:cNvPr id="309" name="Google Shape;309;p48"/>
          <p:cNvPicPr preferRelativeResize="0"/>
          <p:nvPr/>
        </p:nvPicPr>
        <p:blipFill>
          <a:blip r:embed="rId3">
            <a:alphaModFix/>
          </a:blip>
          <a:stretch>
            <a:fillRect/>
          </a:stretch>
        </p:blipFill>
        <p:spPr>
          <a:xfrm>
            <a:off x="625825" y="2285400"/>
            <a:ext cx="7465624" cy="572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key takeaways?</a:t>
            </a:r>
            <a:endParaRPr/>
          </a:p>
        </p:txBody>
      </p:sp>
      <p:sp>
        <p:nvSpPr>
          <p:cNvPr id="315" name="Google Shape;31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 sz="1300">
                <a:solidFill>
                  <a:schemeClr val="dk1"/>
                </a:solidFill>
              </a:rPr>
              <a:t>Findings</a:t>
            </a:r>
            <a:endParaRPr b="1" sz="1300">
              <a:solidFill>
                <a:schemeClr val="dk1"/>
              </a:solidFill>
            </a:endParaRPr>
          </a:p>
          <a:p>
            <a:pPr indent="-298450" lvl="0" marL="457200" rtl="0" algn="l">
              <a:lnSpc>
                <a:spcPct val="150000"/>
              </a:lnSpc>
              <a:spcBef>
                <a:spcPts val="1200"/>
              </a:spcBef>
              <a:spcAft>
                <a:spcPts val="0"/>
              </a:spcAft>
              <a:buClr>
                <a:schemeClr val="dk1"/>
              </a:buClr>
              <a:buSzPts val="1100"/>
              <a:buChar char="●"/>
            </a:pPr>
            <a:r>
              <a:rPr lang="en" sz="1100">
                <a:solidFill>
                  <a:schemeClr val="dk1"/>
                </a:solidFill>
              </a:rPr>
              <a:t>India has most applicants.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June and July are the most busy period of the year in this marketing campaign.</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Monday to Friday are busy period of week and Saturday is off day.</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10am to 6pm is the peak period of the day for calls.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Rudra is the Top performer from all the agents/callers.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Country column had 361 missing values (0.2%).</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42 outreach records had no matching applicant IDs (orphan records).</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Duplicate outreach entries inflated total calls by </a:t>
            </a:r>
            <a:r>
              <a:rPr b="1" lang="en" sz="1100">
                <a:solidFill>
                  <a:schemeClr val="dk1"/>
                </a:solidFill>
              </a:rPr>
              <a:t>5 records (0.01%)</a:t>
            </a:r>
            <a:r>
              <a:rPr lang="en" sz="1100">
                <a:solidFill>
                  <a:schemeClr val="dk1"/>
                </a:solidFill>
              </a:rPr>
              <a:t>.</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Connected + Disconnected calls = Total calls (business rule validated).</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Campaign Start_Dates began in 2023 for FA24 and 2024 for SP25, consistent with marketing practice.</a:t>
            </a:r>
            <a:endParaRPr sz="1100">
              <a:solidFill>
                <a:schemeClr val="dk1"/>
              </a:solidFill>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rPr>
              <a:t>No campaign exceeded its intake year timeframe.</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Recommendations</a:t>
            </a:r>
            <a:endParaRPr/>
          </a:p>
        </p:txBody>
      </p:sp>
      <p:sp>
        <p:nvSpPr>
          <p:cNvPr id="321" name="Google Shape;32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Provide bonuses or other </a:t>
            </a:r>
            <a:r>
              <a:rPr lang="en"/>
              <a:t>commissions</a:t>
            </a:r>
            <a:r>
              <a:rPr lang="en"/>
              <a:t> to agents which will improve productivity.</a:t>
            </a:r>
            <a:endParaRPr/>
          </a:p>
          <a:p>
            <a:pPr indent="-342900" lvl="0" marL="457200" rtl="0" algn="l">
              <a:spcBef>
                <a:spcPts val="0"/>
              </a:spcBef>
              <a:spcAft>
                <a:spcPts val="0"/>
              </a:spcAft>
              <a:buSzPts val="1800"/>
              <a:buChar char="●"/>
            </a:pPr>
            <a:r>
              <a:rPr lang="en"/>
              <a:t>Continue early marketing since 2023 outreach supported 2024 intakes.</a:t>
            </a:r>
            <a:endParaRPr/>
          </a:p>
          <a:p>
            <a:pPr indent="-342900" lvl="0" marL="457200" rtl="0" algn="l">
              <a:spcBef>
                <a:spcPts val="0"/>
              </a:spcBef>
              <a:spcAft>
                <a:spcPts val="0"/>
              </a:spcAft>
              <a:buSzPts val="1800"/>
              <a:buChar char="●"/>
            </a:pPr>
            <a:r>
              <a:rPr lang="en"/>
              <a:t>Focus campaigns in high-engagement regions for better ROI.</a:t>
            </a:r>
            <a:endParaRPr/>
          </a:p>
          <a:p>
            <a:pPr indent="-342900" lvl="0" marL="457200" rtl="0" algn="l">
              <a:spcBef>
                <a:spcPts val="0"/>
              </a:spcBef>
              <a:spcAft>
                <a:spcPts val="0"/>
              </a:spcAft>
              <a:buSzPts val="1800"/>
              <a:buChar char="●"/>
            </a:pPr>
            <a:r>
              <a:rPr lang="en"/>
              <a:t>Engage more with Indian applicants as they are showing more interest.</a:t>
            </a:r>
            <a:endParaRPr/>
          </a:p>
          <a:p>
            <a:pPr indent="-342900" lvl="0" marL="457200" rtl="0" algn="l">
              <a:spcBef>
                <a:spcPts val="0"/>
              </a:spcBef>
              <a:spcAft>
                <a:spcPts val="0"/>
              </a:spcAft>
              <a:buSzPts val="1800"/>
              <a:buChar char="●"/>
            </a:pPr>
            <a:r>
              <a:rPr lang="en"/>
              <a:t>Providing discounts for applicants from low income countries like Nigeria, Ghana will increase the positive interactions.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327" name="Google Shape;327;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Address missing applicant data through better collection methods.</a:t>
            </a:r>
            <a:endParaRPr/>
          </a:p>
          <a:p>
            <a:pPr indent="-342900" lvl="0" marL="457200" rtl="0" algn="l">
              <a:spcBef>
                <a:spcPts val="0"/>
              </a:spcBef>
              <a:spcAft>
                <a:spcPts val="0"/>
              </a:spcAft>
              <a:buSzPts val="1800"/>
              <a:buChar char="●"/>
            </a:pPr>
            <a:r>
              <a:rPr lang="en"/>
              <a:t>Remove duplicates before reporting to avoid inflated metrics.</a:t>
            </a:r>
            <a:endParaRPr/>
          </a:p>
          <a:p>
            <a:pPr indent="-342900" lvl="0" marL="457200" rtl="0" algn="l">
              <a:spcBef>
                <a:spcPts val="0"/>
              </a:spcBef>
              <a:spcAft>
                <a:spcPts val="0"/>
              </a:spcAft>
              <a:buSzPts val="1800"/>
              <a:buChar char="●"/>
            </a:pPr>
            <a:r>
              <a:rPr lang="en"/>
              <a:t>Improve applicant linkage for outreach to reduce orphan records.</a:t>
            </a:r>
            <a:endParaRPr/>
          </a:p>
          <a:p>
            <a:pPr indent="-342900" lvl="0" marL="457200" rtl="0" algn="l">
              <a:spcBef>
                <a:spcPts val="0"/>
              </a:spcBef>
              <a:spcAft>
                <a:spcPts val="0"/>
              </a:spcAft>
              <a:buSzPts val="1800"/>
              <a:buChar char="●"/>
            </a:pPr>
            <a:r>
              <a:rPr lang="en"/>
              <a:t>Removing data of those 43 Reference_Id’s which is </a:t>
            </a:r>
            <a:r>
              <a:rPr lang="en"/>
              <a:t>connected</a:t>
            </a:r>
            <a:r>
              <a:rPr lang="en"/>
              <a:t> with 43 null App_IDs.</a:t>
            </a:r>
            <a:br>
              <a:rPr lang="en"/>
            </a:b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