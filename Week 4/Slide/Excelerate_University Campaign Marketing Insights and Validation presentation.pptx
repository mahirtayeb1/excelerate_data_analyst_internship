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embeddedFontLst>
    <p:embeddedFont>
      <p:font typeface="Proxima Nova"/>
      <p:regular r:id="rId54"/>
      <p:bold r:id="rId55"/>
      <p:italic r:id="rId56"/>
      <p:boldItalic r:id="rId57"/>
    </p:embeddedFont>
    <p:embeddedFont>
      <p:font typeface="Robot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font" Target="fonts/Robo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ProximaNova-bold.fntdata"/><Relationship Id="rId10" Type="http://schemas.openxmlformats.org/officeDocument/2006/relationships/slide" Target="slides/slide5.xml"/><Relationship Id="rId54" Type="http://schemas.openxmlformats.org/officeDocument/2006/relationships/font" Target="fonts/ProximaNova-regular.fntdata"/><Relationship Id="rId13" Type="http://schemas.openxmlformats.org/officeDocument/2006/relationships/slide" Target="slides/slide8.xml"/><Relationship Id="rId57" Type="http://schemas.openxmlformats.org/officeDocument/2006/relationships/font" Target="fonts/ProximaNova-boldItalic.fntdata"/><Relationship Id="rId12" Type="http://schemas.openxmlformats.org/officeDocument/2006/relationships/slide" Target="slides/slide7.xml"/><Relationship Id="rId56" Type="http://schemas.openxmlformats.org/officeDocument/2006/relationships/font" Target="fonts/ProximaNova-italic.fntdata"/><Relationship Id="rId15" Type="http://schemas.openxmlformats.org/officeDocument/2006/relationships/slide" Target="slides/slide10.xml"/><Relationship Id="rId59" Type="http://schemas.openxmlformats.org/officeDocument/2006/relationships/font" Target="fonts/Roboto-bold.fntdata"/><Relationship Id="rId14" Type="http://schemas.openxmlformats.org/officeDocument/2006/relationships/slide" Target="slides/slide9.xml"/><Relationship Id="rId58" Type="http://schemas.openxmlformats.org/officeDocument/2006/relationships/font" Target="fonts/Robo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472703ac4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472703ac4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4761502d5f77b8b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4761502d5f77b8b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8472703ac4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8472703ac4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4761502d5f77b8bd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4761502d5f77b8bd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4761502d5f77b8bd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4761502d5f77b8bd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4761502d5f77b8bd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4761502d5f77b8bd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4761502d5f77b8bd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4761502d5f77b8bd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4761502d5f77b8bd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4761502d5f77b8bd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4761502d5f77b8bd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4761502d5f77b8bd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761502d5f77b8bd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4761502d5f77b8bd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4761502d5f77b8bd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4761502d5f77b8bd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761502d5f77b8bd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4761502d5f77b8bd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4761502d5f77b8bd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4761502d5f77b8bd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4761502d5f77b8bd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4761502d5f77b8bd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4761502d5f77b8bd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4761502d5f77b8bd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4761502d5f77b8bd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4761502d5f77b8bd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4761502d5f77b8bd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4761502d5f77b8bd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4761502d5f77b8bd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4761502d5f77b8bd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4761502d5f77b8bd_1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4761502d5f77b8bd_1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8472703ac4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8472703ac4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40a314d7c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840a314d7c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840a314d7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840a314d7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40a314d7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840a314d7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cb6aff16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8cb6aff16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4761502d5f77b8bd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4761502d5f77b8bd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40a314d7c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840a314d7c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40a314d7c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840a314d7c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The trend here also shows that the spring season, is the most season active.</a:t>
            </a:r>
            <a:endParaRPr sz="1200">
              <a:solidFill>
                <a:srgbClr val="616161"/>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There is spike in activity in April 2023 and July 2023, and a similar trend is observed in 2024, but starting in February.  </a:t>
            </a:r>
            <a:endParaRPr sz="1200">
              <a:solidFill>
                <a:srgbClr val="616161"/>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Between February and July 2024 there is significant call activity, although there is a slow down in the month of May. </a:t>
            </a:r>
            <a:endParaRPr sz="1200">
              <a:solidFill>
                <a:srgbClr val="61616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rgbClr val="616161"/>
                </a:solidFill>
                <a:latin typeface="Proxima Nova"/>
                <a:ea typeface="Proxima Nova"/>
                <a:cs typeface="Proxima Nova"/>
                <a:sym typeface="Proxima Nova"/>
              </a:rPr>
              <a:t>Although less, there is also call activity in October and November. With a spike at the onset of September with the commencement of studies.</a:t>
            </a:r>
            <a:endParaRPr sz="1200">
              <a:solidFill>
                <a:srgbClr val="616161"/>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rPr lang="en" sz="1200">
                <a:solidFill>
                  <a:srgbClr val="616161"/>
                </a:solidFill>
                <a:latin typeface="Proxima Nova"/>
                <a:ea typeface="Proxima Nova"/>
                <a:cs typeface="Proxima Nova"/>
                <a:sym typeface="Proxima Nova"/>
              </a:rPr>
              <a:t>Call activity is strongly correlated to campaign dates, as it should be. Thus displaying the success of these campaigns.</a:t>
            </a:r>
            <a:r>
              <a:rPr lang="en" sz="1600">
                <a:solidFill>
                  <a:srgbClr val="616161"/>
                </a:solidFill>
                <a:latin typeface="Proxima Nova"/>
                <a:ea typeface="Proxima Nova"/>
                <a:cs typeface="Proxima Nova"/>
                <a:sym typeface="Proxima Nova"/>
              </a:rPr>
              <a:t> </a:t>
            </a:r>
            <a:endParaRPr sz="1600">
              <a:solidFill>
                <a:srgbClr val="616161"/>
              </a:solidFill>
              <a:latin typeface="Proxima Nova"/>
              <a:ea typeface="Proxima Nova"/>
              <a:cs typeface="Proxima Nova"/>
              <a:sym typeface="Proxima Nov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160129a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160129a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8160129a3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8160129a3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9739f25c1d10a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49739f25c1d10a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80f8d1bde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80f8d1bde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Saturday has very little activity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8cb6aff16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8cb6aff16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cb6aff16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8cb6aff16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cb6aff1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8cb6aff1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160129a3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8160129a3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8160129a3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8160129a3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8cb6aff16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8cb6aff16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separated ‘wrong number’ from the general ‘not connected’ </a:t>
            </a:r>
            <a:r>
              <a:rPr lang="en"/>
              <a:t>outcome in an effort to visualize the amount of resource, ie time, used up on inevitably unproductive outcomes, *beyond the control of the agent.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8cb6aff16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8cb6aff16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80f8d1bde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80f8d1bde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0f8d1bde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80f8d1bde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8472703ac4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8472703ac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80f8d1bde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80f8d1bde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4761502d5f77b8bd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4761502d5f77b8bd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840a314d7c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840a314d7c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8472703ac4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8472703ac4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841783297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841783297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4761502d5f77b8bd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4761502d5f77b8bd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222222"/>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980000"/>
              </a:buClr>
              <a:buSzPts val="2800"/>
              <a:buFont typeface="Trebuchet MS"/>
              <a:buNone/>
              <a:defRPr>
                <a:solidFill>
                  <a:srgbClr val="980000"/>
                </a:solidFill>
                <a:latin typeface="Trebuchet MS"/>
                <a:ea typeface="Trebuchet MS"/>
                <a:cs typeface="Trebuchet MS"/>
                <a:sym typeface="Trebuchet M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980000"/>
              </a:buClr>
              <a:buSzPts val="2800"/>
              <a:buFont typeface="Trebuchet MS"/>
              <a:buNone/>
              <a:defRPr>
                <a:solidFill>
                  <a:srgbClr val="980000"/>
                </a:solidFill>
                <a:latin typeface="Trebuchet MS"/>
                <a:ea typeface="Trebuchet MS"/>
                <a:cs typeface="Trebuchet MS"/>
                <a:sym typeface="Trebuchet M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Trebuchet MS"/>
              <a:buNone/>
              <a:defRPr>
                <a:latin typeface="Trebuchet MS"/>
                <a:ea typeface="Trebuchet MS"/>
                <a:cs typeface="Trebuchet MS"/>
                <a:sym typeface="Trebuchet M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100"/>
              <a:buFont typeface="Trebuchet MS"/>
              <a:buNone/>
              <a:defRPr sz="4100">
                <a:solidFill>
                  <a:schemeClr val="lt2"/>
                </a:solidFill>
                <a:latin typeface="Trebuchet MS"/>
                <a:ea typeface="Trebuchet MS"/>
                <a:cs typeface="Trebuchet MS"/>
                <a:sym typeface="Trebuchet MS"/>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2.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University Campaign Marketing Insights and Visualization</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12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 Structure</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Introduction </a:t>
            </a:r>
            <a:endParaRPr sz="2000"/>
          </a:p>
          <a:p>
            <a:pPr indent="-355600" lvl="0" marL="457200" rtl="0" algn="l">
              <a:spcBef>
                <a:spcPts val="0"/>
              </a:spcBef>
              <a:spcAft>
                <a:spcPts val="0"/>
              </a:spcAft>
              <a:buSzPts val="2000"/>
              <a:buChar char="●"/>
            </a:pPr>
            <a:r>
              <a:rPr lang="en" sz="2000"/>
              <a:t>Validation</a:t>
            </a:r>
            <a:endParaRPr sz="2000"/>
          </a:p>
          <a:p>
            <a:pPr indent="-355600" lvl="0" marL="457200" rtl="0" algn="l">
              <a:spcBef>
                <a:spcPts val="0"/>
              </a:spcBef>
              <a:spcAft>
                <a:spcPts val="0"/>
              </a:spcAft>
              <a:buSzPts val="2000"/>
              <a:buChar char="●"/>
            </a:pPr>
            <a:r>
              <a:rPr lang="en" sz="2000"/>
              <a:t>Findings</a:t>
            </a:r>
            <a:endParaRPr sz="2000"/>
          </a:p>
          <a:p>
            <a:pPr indent="-330200" lvl="1" marL="914400" rtl="0" algn="l">
              <a:spcBef>
                <a:spcPts val="0"/>
              </a:spcBef>
              <a:spcAft>
                <a:spcPts val="0"/>
              </a:spcAft>
              <a:buSzPts val="1600"/>
              <a:buChar char="○"/>
            </a:pPr>
            <a:r>
              <a:rPr lang="en" sz="1600"/>
              <a:t>Overview &amp; Key Metrics</a:t>
            </a:r>
            <a:endParaRPr sz="1600"/>
          </a:p>
          <a:p>
            <a:pPr indent="-330200" lvl="1" marL="914400" rtl="0" algn="l">
              <a:spcBef>
                <a:spcPts val="0"/>
              </a:spcBef>
              <a:spcAft>
                <a:spcPts val="0"/>
              </a:spcAft>
              <a:buSzPts val="1600"/>
              <a:buChar char="○"/>
            </a:pPr>
            <a:r>
              <a:rPr lang="en" sz="1600"/>
              <a:t>Campaign Types</a:t>
            </a:r>
            <a:endParaRPr sz="1600"/>
          </a:p>
          <a:p>
            <a:pPr indent="-330200" lvl="1" marL="914400" rtl="0" algn="l">
              <a:spcBef>
                <a:spcPts val="0"/>
              </a:spcBef>
              <a:spcAft>
                <a:spcPts val="0"/>
              </a:spcAft>
              <a:buSzPts val="1600"/>
              <a:buChar char="○"/>
            </a:pPr>
            <a:r>
              <a:rPr lang="en" sz="1600"/>
              <a:t>Calls Over Time</a:t>
            </a:r>
            <a:endParaRPr sz="1600"/>
          </a:p>
          <a:p>
            <a:pPr indent="-330200" lvl="1" marL="914400" rtl="0" algn="l">
              <a:spcBef>
                <a:spcPts val="0"/>
              </a:spcBef>
              <a:spcAft>
                <a:spcPts val="0"/>
              </a:spcAft>
              <a:buSzPts val="1600"/>
              <a:buChar char="○"/>
            </a:pPr>
            <a:r>
              <a:rPr lang="en" sz="1600"/>
              <a:t>Agent Performance </a:t>
            </a:r>
            <a:endParaRPr sz="1600"/>
          </a:p>
          <a:p>
            <a:pPr indent="-330200" lvl="1" marL="914400" rtl="0" algn="l">
              <a:spcBef>
                <a:spcPts val="0"/>
              </a:spcBef>
              <a:spcAft>
                <a:spcPts val="0"/>
              </a:spcAft>
              <a:buSzPts val="1600"/>
              <a:buChar char="○"/>
            </a:pPr>
            <a:r>
              <a:rPr lang="en" sz="1600"/>
              <a:t>Region Distribution</a:t>
            </a:r>
            <a:endParaRPr sz="1600"/>
          </a:p>
          <a:p>
            <a:pPr indent="-355600" lvl="0" marL="457200" rtl="0" algn="l">
              <a:spcBef>
                <a:spcPts val="0"/>
              </a:spcBef>
              <a:spcAft>
                <a:spcPts val="0"/>
              </a:spcAft>
              <a:buSzPts val="2000"/>
              <a:buChar char="●"/>
            </a:pPr>
            <a:r>
              <a:rPr lang="en" sz="2000"/>
              <a:t>Summary and Recommendations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lang="en"/>
              <a:t>“The purpose of this presentation is to identify key trends in our outreach campaigns and to find ways to improve campaign success. </a:t>
            </a:r>
            <a:r>
              <a:rPr lang="en"/>
              <a:t>In simple terms, we want to understand what makes a campaign successful, and how we can ensure more applicants get responses to their inquiries.” This presentation also contains the validation of the dashboard.”</a:t>
            </a:r>
            <a:endParaRPr/>
          </a:p>
          <a:p>
            <a:pPr indent="0" lvl="0" marL="0" rtl="0" algn="l">
              <a:lnSpc>
                <a:spcPct val="115000"/>
              </a:lnSpc>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2"/>
                </a:solidFill>
                <a:latin typeface="Trebuchet MS"/>
                <a:ea typeface="Trebuchet MS"/>
                <a:cs typeface="Trebuchet MS"/>
                <a:sym typeface="Trebuchet MS"/>
              </a:rPr>
              <a:t>Data Validation</a:t>
            </a:r>
            <a:endParaRPr>
              <a:solidFill>
                <a:schemeClr val="lt2"/>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Validation</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Data Consistency Check</a:t>
            </a:r>
            <a:endParaRPr/>
          </a:p>
          <a:p>
            <a:pPr indent="-317500" lvl="1" marL="914400" rtl="0" algn="l">
              <a:lnSpc>
                <a:spcPct val="115000"/>
              </a:lnSpc>
              <a:spcBef>
                <a:spcPts val="0"/>
              </a:spcBef>
              <a:spcAft>
                <a:spcPts val="0"/>
              </a:spcAft>
              <a:buSzPts val="1400"/>
              <a:buChar char="○"/>
            </a:pPr>
            <a:r>
              <a:rPr lang="en" sz="1400"/>
              <a:t>Data types &amp; formats</a:t>
            </a:r>
            <a:endParaRPr sz="1400"/>
          </a:p>
          <a:p>
            <a:pPr indent="-317500" lvl="1" marL="914400" rtl="0" algn="l">
              <a:lnSpc>
                <a:spcPct val="115000"/>
              </a:lnSpc>
              <a:spcBef>
                <a:spcPts val="0"/>
              </a:spcBef>
              <a:spcAft>
                <a:spcPts val="0"/>
              </a:spcAft>
              <a:buSzPts val="1400"/>
              <a:buChar char="○"/>
            </a:pPr>
            <a:r>
              <a:rPr lang="en" sz="1400"/>
              <a:t>Correlation between key identifiers</a:t>
            </a:r>
            <a:endParaRPr sz="1400"/>
          </a:p>
          <a:p>
            <a:pPr indent="-342900" lvl="0" marL="457200" rtl="0" algn="l">
              <a:lnSpc>
                <a:spcPct val="115000"/>
              </a:lnSpc>
              <a:spcBef>
                <a:spcPts val="0"/>
              </a:spcBef>
              <a:spcAft>
                <a:spcPts val="0"/>
              </a:spcAft>
              <a:buSzPts val="1800"/>
              <a:buChar char="●"/>
            </a:pPr>
            <a:r>
              <a:rPr lang="en"/>
              <a:t>Completeness Verification</a:t>
            </a:r>
            <a:endParaRPr sz="1400"/>
          </a:p>
          <a:p>
            <a:pPr indent="-317500" lvl="1" marL="914400" rtl="0" algn="l">
              <a:lnSpc>
                <a:spcPct val="115000"/>
              </a:lnSpc>
              <a:spcBef>
                <a:spcPts val="0"/>
              </a:spcBef>
              <a:spcAft>
                <a:spcPts val="0"/>
              </a:spcAft>
              <a:buSzPts val="1400"/>
              <a:buChar char="○"/>
            </a:pPr>
            <a:r>
              <a:rPr lang="en" sz="1400"/>
              <a:t>Finding missing values</a:t>
            </a:r>
            <a:endParaRPr sz="1400"/>
          </a:p>
          <a:p>
            <a:pPr indent="-342900" lvl="0" marL="457200" rtl="0" algn="l">
              <a:lnSpc>
                <a:spcPct val="115000"/>
              </a:lnSpc>
              <a:spcBef>
                <a:spcPts val="0"/>
              </a:spcBef>
              <a:spcAft>
                <a:spcPts val="0"/>
              </a:spcAft>
              <a:buSzPts val="1800"/>
              <a:buChar char="●"/>
            </a:pPr>
            <a:r>
              <a:rPr lang="en"/>
              <a:t>Duplicate Detection</a:t>
            </a:r>
            <a:endParaRPr/>
          </a:p>
          <a:p>
            <a:pPr indent="-317500" lvl="1" marL="914400" rtl="0" algn="l">
              <a:lnSpc>
                <a:spcPct val="115000"/>
              </a:lnSpc>
              <a:spcBef>
                <a:spcPts val="0"/>
              </a:spcBef>
              <a:spcAft>
                <a:spcPts val="0"/>
              </a:spcAft>
              <a:buSzPts val="1400"/>
              <a:buChar char="○"/>
            </a:pPr>
            <a:r>
              <a:rPr lang="en" sz="1400"/>
              <a:t>Finding duplicate entries</a:t>
            </a:r>
            <a:endParaRPr sz="1400"/>
          </a:p>
          <a:p>
            <a:pPr indent="-342900" lvl="0" marL="457200" rtl="0" algn="l">
              <a:lnSpc>
                <a:spcPct val="115000"/>
              </a:lnSpc>
              <a:spcBef>
                <a:spcPts val="0"/>
              </a:spcBef>
              <a:spcAft>
                <a:spcPts val="0"/>
              </a:spcAft>
              <a:buSzPts val="1800"/>
              <a:buChar char="●"/>
            </a:pPr>
            <a:r>
              <a:rPr lang="en"/>
              <a:t>Business Rule Validation</a:t>
            </a:r>
            <a:endParaRPr/>
          </a:p>
          <a:p>
            <a:pPr indent="-317500" lvl="1" marL="914400" rtl="0" algn="l">
              <a:lnSpc>
                <a:spcPct val="115000"/>
              </a:lnSpc>
              <a:spcBef>
                <a:spcPts val="0"/>
              </a:spcBef>
              <a:spcAft>
                <a:spcPts val="0"/>
              </a:spcAft>
              <a:buSzPts val="1400"/>
              <a:buChar char="○"/>
            </a:pPr>
            <a:r>
              <a:rPr lang="en" sz="1400"/>
              <a:t>Connected &amp; disconnected calls matchs total calls</a:t>
            </a:r>
            <a:endParaRPr sz="1400"/>
          </a:p>
          <a:p>
            <a:pPr indent="-317500" lvl="1" marL="914400" rtl="0" algn="l">
              <a:lnSpc>
                <a:spcPct val="115000"/>
              </a:lnSpc>
              <a:spcBef>
                <a:spcPts val="0"/>
              </a:spcBef>
              <a:spcAft>
                <a:spcPts val="0"/>
              </a:spcAft>
              <a:buSzPts val="1400"/>
              <a:buChar char="○"/>
            </a:pPr>
            <a:r>
              <a:rPr lang="en" sz="1400"/>
              <a:t>Campaign dates with valid timeframes</a:t>
            </a:r>
            <a:endParaRPr sz="1400"/>
          </a:p>
          <a:p>
            <a:pPr indent="0" lvl="0" marL="0" rtl="0" algn="l">
              <a:spcBef>
                <a:spcPts val="0"/>
              </a:spcBef>
              <a:spcAft>
                <a:spcPts val="1200"/>
              </a:spcAft>
              <a:buNone/>
            </a:pPr>
            <a:r>
              <a:t/>
            </a:r>
            <a:endParaRPr/>
          </a:p>
        </p:txBody>
      </p:sp>
      <p:pic>
        <p:nvPicPr>
          <p:cNvPr id="84" name="Google Shape;84;p17"/>
          <p:cNvPicPr preferRelativeResize="0"/>
          <p:nvPr/>
        </p:nvPicPr>
        <p:blipFill>
          <a:blip r:embed="rId3">
            <a:alphaModFix/>
          </a:blip>
          <a:stretch>
            <a:fillRect/>
          </a:stretch>
        </p:blipFill>
        <p:spPr>
          <a:xfrm>
            <a:off x="5290576" y="1152475"/>
            <a:ext cx="3110196" cy="341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Consistency Check</a:t>
            </a:r>
            <a:endParaRPr/>
          </a:p>
        </p:txBody>
      </p:sp>
      <p:sp>
        <p:nvSpPr>
          <p:cNvPr id="90" name="Google Shape;90;p18"/>
          <p:cNvSpPr txBox="1"/>
          <p:nvPr>
            <p:ph idx="1" type="body"/>
          </p:nvPr>
        </p:nvSpPr>
        <p:spPr>
          <a:xfrm>
            <a:off x="311700" y="1152475"/>
            <a:ext cx="3876900" cy="366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350"/>
              <a:t>Datatype of App_ID:</a:t>
            </a:r>
            <a:endParaRPr b="1" sz="1350"/>
          </a:p>
          <a:p>
            <a:pPr indent="0" lvl="0" marL="0" rtl="0" algn="l">
              <a:spcBef>
                <a:spcPts val="1200"/>
              </a:spcBef>
              <a:spcAft>
                <a:spcPts val="0"/>
              </a:spcAft>
              <a:buClr>
                <a:schemeClr val="dk1"/>
              </a:buClr>
              <a:buSzPts val="1100"/>
              <a:buFont typeface="Arial"/>
              <a:buNone/>
            </a:pPr>
            <a:r>
              <a:rPr lang="en" sz="1350"/>
              <a:t>SELECT pg_typeof("App_ID") AS app_id_type</a:t>
            </a:r>
            <a:endParaRPr sz="1350"/>
          </a:p>
          <a:p>
            <a:pPr indent="0" lvl="0" marL="0" rtl="0" algn="l">
              <a:spcBef>
                <a:spcPts val="1200"/>
              </a:spcBef>
              <a:spcAft>
                <a:spcPts val="0"/>
              </a:spcAft>
              <a:buClr>
                <a:schemeClr val="dk1"/>
              </a:buClr>
              <a:buSzPts val="1100"/>
              <a:buFont typeface="Arial"/>
              <a:buNone/>
            </a:pPr>
            <a:r>
              <a:rPr lang="en" sz="1350"/>
              <a:t>FROM "CleanApplicantData"</a:t>
            </a:r>
            <a:endParaRPr sz="1350"/>
          </a:p>
          <a:p>
            <a:pPr indent="0" lvl="0" marL="0" rtl="0" algn="l">
              <a:spcBef>
                <a:spcPts val="1200"/>
              </a:spcBef>
              <a:spcAft>
                <a:spcPts val="0"/>
              </a:spcAft>
              <a:buClr>
                <a:schemeClr val="dk1"/>
              </a:buClr>
              <a:buSzPts val="1100"/>
              <a:buFont typeface="Arial"/>
              <a:buNone/>
            </a:pPr>
            <a:r>
              <a:rPr lang="en" sz="1350"/>
              <a:t>LIMIT 1;</a:t>
            </a:r>
            <a:endParaRPr sz="1350"/>
          </a:p>
          <a:p>
            <a:pPr indent="0" lvl="0" marL="0" rtl="0" algn="l">
              <a:spcBef>
                <a:spcPts val="1200"/>
              </a:spcBef>
              <a:spcAft>
                <a:spcPts val="0"/>
              </a:spcAft>
              <a:buClr>
                <a:schemeClr val="dk1"/>
              </a:buClr>
              <a:buSzPts val="1100"/>
              <a:buFont typeface="Arial"/>
              <a:buNone/>
            </a:pPr>
            <a:r>
              <a:rPr b="1" lang="en" sz="1350"/>
              <a:t>Datatype of Reference_ID of Cleaned_OutreachData:</a:t>
            </a:r>
            <a:endParaRPr b="1" sz="1350"/>
          </a:p>
          <a:p>
            <a:pPr indent="0" lvl="0" marL="0" rtl="0" algn="l">
              <a:spcBef>
                <a:spcPts val="1200"/>
              </a:spcBef>
              <a:spcAft>
                <a:spcPts val="0"/>
              </a:spcAft>
              <a:buClr>
                <a:schemeClr val="dk1"/>
              </a:buClr>
              <a:buSzPts val="1100"/>
              <a:buFont typeface="Arial"/>
              <a:buNone/>
            </a:pPr>
            <a:r>
              <a:rPr lang="en" sz="1350"/>
              <a:t>SELECT pg_typeof("Reference_ID") AS app_id_type</a:t>
            </a:r>
            <a:endParaRPr sz="1350"/>
          </a:p>
          <a:p>
            <a:pPr indent="0" lvl="0" marL="0" rtl="0" algn="l">
              <a:spcBef>
                <a:spcPts val="1200"/>
              </a:spcBef>
              <a:spcAft>
                <a:spcPts val="0"/>
              </a:spcAft>
              <a:buClr>
                <a:schemeClr val="dk1"/>
              </a:buClr>
              <a:buSzPts val="1100"/>
              <a:buFont typeface="Arial"/>
              <a:buNone/>
            </a:pPr>
            <a:r>
              <a:rPr lang="en" sz="1350"/>
              <a:t>FROM "Cleaned_OutreachData"</a:t>
            </a:r>
            <a:endParaRPr sz="1350"/>
          </a:p>
          <a:p>
            <a:pPr indent="0" lvl="0" marL="0" rtl="0" algn="l">
              <a:spcBef>
                <a:spcPts val="1200"/>
              </a:spcBef>
              <a:spcAft>
                <a:spcPts val="0"/>
              </a:spcAft>
              <a:buClr>
                <a:schemeClr val="dk1"/>
              </a:buClr>
              <a:buSzPts val="1100"/>
              <a:buFont typeface="Arial"/>
              <a:buNone/>
            </a:pPr>
            <a:r>
              <a:rPr lang="en" sz="1350"/>
              <a:t>LIMIT 1;</a:t>
            </a:r>
            <a:endParaRPr sz="1350"/>
          </a:p>
          <a:p>
            <a:pPr indent="0" lvl="0" marL="0" rtl="0" algn="l">
              <a:spcBef>
                <a:spcPts val="0"/>
              </a:spcBef>
              <a:spcAft>
                <a:spcPts val="1200"/>
              </a:spcAft>
              <a:buNone/>
            </a:pPr>
            <a:r>
              <a:t/>
            </a:r>
            <a:endParaRPr/>
          </a:p>
        </p:txBody>
      </p:sp>
      <p:pic>
        <p:nvPicPr>
          <p:cNvPr id="91" name="Google Shape;91;p18"/>
          <p:cNvPicPr preferRelativeResize="0"/>
          <p:nvPr/>
        </p:nvPicPr>
        <p:blipFill>
          <a:blip r:embed="rId3">
            <a:alphaModFix/>
          </a:blip>
          <a:stretch>
            <a:fillRect/>
          </a:stretch>
        </p:blipFill>
        <p:spPr>
          <a:xfrm>
            <a:off x="4242600" y="499225"/>
            <a:ext cx="4540526" cy="1991800"/>
          </a:xfrm>
          <a:prstGeom prst="rect">
            <a:avLst/>
          </a:prstGeom>
          <a:noFill/>
          <a:ln>
            <a:noFill/>
          </a:ln>
        </p:spPr>
      </p:pic>
      <p:pic>
        <p:nvPicPr>
          <p:cNvPr id="92" name="Google Shape;92;p18"/>
          <p:cNvPicPr preferRelativeResize="0"/>
          <p:nvPr/>
        </p:nvPicPr>
        <p:blipFill>
          <a:blip r:embed="rId4">
            <a:alphaModFix/>
          </a:blip>
          <a:stretch>
            <a:fillRect/>
          </a:stretch>
        </p:blipFill>
        <p:spPr>
          <a:xfrm>
            <a:off x="4269375" y="2571750"/>
            <a:ext cx="4744200" cy="2177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Consistency Check</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50"/>
              <a:t>Finding rows where App_ID is non-numeric:</a:t>
            </a:r>
            <a:endParaRPr b="1" sz="1150"/>
          </a:p>
          <a:p>
            <a:pPr indent="0" lvl="0" marL="0" rtl="0" algn="l">
              <a:spcBef>
                <a:spcPts val="1200"/>
              </a:spcBef>
              <a:spcAft>
                <a:spcPts val="0"/>
              </a:spcAft>
              <a:buClr>
                <a:schemeClr val="dk1"/>
              </a:buClr>
              <a:buSzPts val="1100"/>
              <a:buFont typeface="Arial"/>
              <a:buNone/>
            </a:pPr>
            <a:r>
              <a:rPr lang="en" sz="1150"/>
              <a:t>SELECT COUNT(*) AS null_ids</a:t>
            </a:r>
            <a:endParaRPr sz="1150"/>
          </a:p>
          <a:p>
            <a:pPr indent="0" lvl="0" marL="0" rtl="0" algn="l">
              <a:spcBef>
                <a:spcPts val="1200"/>
              </a:spcBef>
              <a:spcAft>
                <a:spcPts val="0"/>
              </a:spcAft>
              <a:buClr>
                <a:schemeClr val="dk1"/>
              </a:buClr>
              <a:buSzPts val="1100"/>
              <a:buFont typeface="Arial"/>
              <a:buNone/>
            </a:pPr>
            <a:r>
              <a:rPr lang="en" sz="1150"/>
              <a:t>FROM "CleanApplicantData"</a:t>
            </a:r>
            <a:endParaRPr sz="1150"/>
          </a:p>
          <a:p>
            <a:pPr indent="0" lvl="0" marL="0" rtl="0" algn="l">
              <a:spcBef>
                <a:spcPts val="1200"/>
              </a:spcBef>
              <a:spcAft>
                <a:spcPts val="0"/>
              </a:spcAft>
              <a:buClr>
                <a:schemeClr val="dk1"/>
              </a:buClr>
              <a:buSzPts val="1100"/>
              <a:buFont typeface="Arial"/>
              <a:buNone/>
            </a:pPr>
            <a:r>
              <a:rPr lang="en" sz="1150"/>
              <a:t>WHERE "App_ID" IS NULL;</a:t>
            </a:r>
            <a:endParaRPr sz="1150"/>
          </a:p>
          <a:p>
            <a:pPr indent="0" lvl="0" marL="0" rtl="0" algn="l">
              <a:spcBef>
                <a:spcPts val="1200"/>
              </a:spcBef>
              <a:spcAft>
                <a:spcPts val="0"/>
              </a:spcAft>
              <a:buClr>
                <a:schemeClr val="dk1"/>
              </a:buClr>
              <a:buSzPts val="1100"/>
              <a:buFont typeface="Arial"/>
              <a:buNone/>
            </a:pPr>
            <a:r>
              <a:rPr b="1" lang="en" sz="1150"/>
              <a:t>Checking texts in App_ID:</a:t>
            </a:r>
            <a:endParaRPr b="1" sz="1150"/>
          </a:p>
          <a:p>
            <a:pPr indent="0" lvl="0" marL="0" rtl="0" algn="l">
              <a:spcBef>
                <a:spcPts val="1200"/>
              </a:spcBef>
              <a:spcAft>
                <a:spcPts val="0"/>
              </a:spcAft>
              <a:buClr>
                <a:schemeClr val="dk1"/>
              </a:buClr>
              <a:buSzPts val="1100"/>
              <a:buFont typeface="Arial"/>
              <a:buNone/>
            </a:pPr>
            <a:r>
              <a:rPr lang="en" sz="1150"/>
              <a:t>SELECT COUNT(*)</a:t>
            </a:r>
            <a:endParaRPr sz="1150"/>
          </a:p>
          <a:p>
            <a:pPr indent="0" lvl="0" marL="0" rtl="0" algn="l">
              <a:spcBef>
                <a:spcPts val="1200"/>
              </a:spcBef>
              <a:spcAft>
                <a:spcPts val="0"/>
              </a:spcAft>
              <a:buClr>
                <a:schemeClr val="dk1"/>
              </a:buClr>
              <a:buSzPts val="1100"/>
              <a:buFont typeface="Arial"/>
              <a:buNone/>
            </a:pPr>
            <a:r>
              <a:rPr lang="en" sz="1150"/>
              <a:t>FROM "CleanApplicantData"</a:t>
            </a:r>
            <a:endParaRPr sz="1150"/>
          </a:p>
          <a:p>
            <a:pPr indent="0" lvl="0" marL="0" rtl="0" algn="l">
              <a:spcBef>
                <a:spcPts val="1200"/>
              </a:spcBef>
              <a:spcAft>
                <a:spcPts val="0"/>
              </a:spcAft>
              <a:buClr>
                <a:schemeClr val="dk1"/>
              </a:buClr>
              <a:buSzPts val="1100"/>
              <a:buFont typeface="Arial"/>
              <a:buNone/>
            </a:pPr>
            <a:r>
              <a:rPr lang="en" sz="1150"/>
              <a:t>WHERE CAST("App_ID" AS TEXT) !~ '^[0-9]+$';</a:t>
            </a:r>
            <a:endParaRPr sz="1150"/>
          </a:p>
          <a:p>
            <a:pPr indent="0" lvl="0" marL="0" rtl="0" algn="l">
              <a:spcBef>
                <a:spcPts val="0"/>
              </a:spcBef>
              <a:spcAft>
                <a:spcPts val="1200"/>
              </a:spcAft>
              <a:buNone/>
            </a:pPr>
            <a:r>
              <a:t/>
            </a:r>
            <a:endParaRPr/>
          </a:p>
        </p:txBody>
      </p:sp>
      <p:pic>
        <p:nvPicPr>
          <p:cNvPr id="99" name="Google Shape;99;p19"/>
          <p:cNvPicPr preferRelativeResize="0"/>
          <p:nvPr/>
        </p:nvPicPr>
        <p:blipFill>
          <a:blip r:embed="rId3">
            <a:alphaModFix/>
          </a:blip>
          <a:stretch>
            <a:fillRect/>
          </a:stretch>
        </p:blipFill>
        <p:spPr>
          <a:xfrm>
            <a:off x="3920100" y="185725"/>
            <a:ext cx="4919099" cy="2487659"/>
          </a:xfrm>
          <a:prstGeom prst="rect">
            <a:avLst/>
          </a:prstGeom>
          <a:noFill/>
          <a:ln>
            <a:noFill/>
          </a:ln>
        </p:spPr>
      </p:pic>
      <p:pic>
        <p:nvPicPr>
          <p:cNvPr id="100" name="Google Shape;100;p19"/>
          <p:cNvPicPr preferRelativeResize="0"/>
          <p:nvPr/>
        </p:nvPicPr>
        <p:blipFill>
          <a:blip r:embed="rId4">
            <a:alphaModFix/>
          </a:blip>
          <a:stretch>
            <a:fillRect/>
          </a:stretch>
        </p:blipFill>
        <p:spPr>
          <a:xfrm>
            <a:off x="4072500" y="2825784"/>
            <a:ext cx="4919099" cy="21503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Consistency Check</a:t>
            </a:r>
            <a:endParaRPr/>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1100"/>
              <a:t>How many applicant ID not null after joining:</a:t>
            </a:r>
            <a:endParaRPr b="1" sz="1100"/>
          </a:p>
          <a:p>
            <a:pPr indent="0" lvl="0" marL="0" rtl="0" algn="l">
              <a:spcBef>
                <a:spcPts val="1200"/>
              </a:spcBef>
              <a:spcAft>
                <a:spcPts val="0"/>
              </a:spcAft>
              <a:buClr>
                <a:schemeClr val="dk1"/>
              </a:buClr>
              <a:buSzPts val="1100"/>
              <a:buFont typeface="Arial"/>
              <a:buNone/>
            </a:pPr>
            <a:r>
              <a:rPr lang="en" sz="900"/>
              <a:t>SELECT COUNT(*) AS valid_applicants</a:t>
            </a:r>
            <a:endParaRPr sz="900"/>
          </a:p>
          <a:p>
            <a:pPr indent="0" lvl="0" marL="0" rtl="0" algn="l">
              <a:spcBef>
                <a:spcPts val="1200"/>
              </a:spcBef>
              <a:spcAft>
                <a:spcPts val="0"/>
              </a:spcAft>
              <a:buClr>
                <a:schemeClr val="dk1"/>
              </a:buClr>
              <a:buSzPts val="1100"/>
              <a:buFont typeface="Arial"/>
              <a:buNone/>
            </a:pPr>
            <a:r>
              <a:rPr lang="en" sz="900"/>
              <a:t>FROM "Cleaned_OutreachData" o</a:t>
            </a:r>
            <a:endParaRPr sz="900"/>
          </a:p>
          <a:p>
            <a:pPr indent="0" lvl="0" marL="0" rtl="0" algn="l">
              <a:spcBef>
                <a:spcPts val="1200"/>
              </a:spcBef>
              <a:spcAft>
                <a:spcPts val="0"/>
              </a:spcAft>
              <a:buClr>
                <a:schemeClr val="dk1"/>
              </a:buClr>
              <a:buSzPts val="1100"/>
              <a:buFont typeface="Arial"/>
              <a:buNone/>
            </a:pPr>
            <a:r>
              <a:rPr lang="en" sz="900"/>
              <a:t>LEFT JOIN "CleanApplicantData" a ON o."Reference_ID" = a."App_ID"</a:t>
            </a:r>
            <a:endParaRPr sz="900"/>
          </a:p>
          <a:p>
            <a:pPr indent="0" lvl="0" marL="0" rtl="0" algn="l">
              <a:spcBef>
                <a:spcPts val="1200"/>
              </a:spcBef>
              <a:spcAft>
                <a:spcPts val="0"/>
              </a:spcAft>
              <a:buClr>
                <a:schemeClr val="dk1"/>
              </a:buClr>
              <a:buSzPts val="1100"/>
              <a:buFont typeface="Arial"/>
              <a:buNone/>
            </a:pPr>
            <a:r>
              <a:rPr lang="en" sz="900"/>
              <a:t>WHERE a."App_ID" IS not NULL;</a:t>
            </a:r>
            <a:endParaRPr sz="900"/>
          </a:p>
          <a:p>
            <a:pPr indent="0" lvl="0" marL="0" rtl="0" algn="l">
              <a:spcBef>
                <a:spcPts val="1200"/>
              </a:spcBef>
              <a:spcAft>
                <a:spcPts val="0"/>
              </a:spcAft>
              <a:buClr>
                <a:schemeClr val="dk1"/>
              </a:buClr>
              <a:buSzPts val="1100"/>
              <a:buFont typeface="Arial"/>
              <a:buNone/>
            </a:pPr>
            <a:r>
              <a:rPr b="1" lang="en" sz="1000"/>
              <a:t>Outreach Reference_ID should match ApplicantData.App_ID:</a:t>
            </a:r>
            <a:endParaRPr b="1" sz="1000"/>
          </a:p>
          <a:p>
            <a:pPr indent="0" lvl="0" marL="0" rtl="0" algn="l">
              <a:spcBef>
                <a:spcPts val="1200"/>
              </a:spcBef>
              <a:spcAft>
                <a:spcPts val="0"/>
              </a:spcAft>
              <a:buClr>
                <a:schemeClr val="dk1"/>
              </a:buClr>
              <a:buSzPts val="1100"/>
              <a:buFont typeface="Arial"/>
              <a:buNone/>
            </a:pPr>
            <a:r>
              <a:rPr lang="en" sz="900"/>
              <a:t>SELECT COUNT(*) AS missing_applicants</a:t>
            </a:r>
            <a:endParaRPr sz="900"/>
          </a:p>
          <a:p>
            <a:pPr indent="0" lvl="0" marL="0" rtl="0" algn="l">
              <a:spcBef>
                <a:spcPts val="1200"/>
              </a:spcBef>
              <a:spcAft>
                <a:spcPts val="0"/>
              </a:spcAft>
              <a:buClr>
                <a:schemeClr val="dk1"/>
              </a:buClr>
              <a:buSzPts val="1100"/>
              <a:buFont typeface="Arial"/>
              <a:buNone/>
            </a:pPr>
            <a:r>
              <a:rPr lang="en" sz="900"/>
              <a:t>FROM "Cleaned_OutreachData" o</a:t>
            </a:r>
            <a:endParaRPr sz="900"/>
          </a:p>
          <a:p>
            <a:pPr indent="0" lvl="0" marL="0" rtl="0" algn="l">
              <a:spcBef>
                <a:spcPts val="1200"/>
              </a:spcBef>
              <a:spcAft>
                <a:spcPts val="0"/>
              </a:spcAft>
              <a:buClr>
                <a:schemeClr val="dk1"/>
              </a:buClr>
              <a:buSzPts val="1100"/>
              <a:buFont typeface="Arial"/>
              <a:buNone/>
            </a:pPr>
            <a:r>
              <a:rPr lang="en" sz="900"/>
              <a:t>LEFT JOIN "CleanApplicantData" a ON o."Reference_ID" = a."App_ID"</a:t>
            </a:r>
            <a:endParaRPr sz="900"/>
          </a:p>
          <a:p>
            <a:pPr indent="0" lvl="0" marL="0" rtl="0" algn="l">
              <a:spcBef>
                <a:spcPts val="1200"/>
              </a:spcBef>
              <a:spcAft>
                <a:spcPts val="0"/>
              </a:spcAft>
              <a:buClr>
                <a:schemeClr val="dk1"/>
              </a:buClr>
              <a:buSzPts val="1100"/>
              <a:buFont typeface="Arial"/>
              <a:buNone/>
            </a:pPr>
            <a:r>
              <a:rPr lang="en" sz="900"/>
              <a:t>WHERE a."App_ID" IS NULL;</a:t>
            </a:r>
            <a:endParaRPr sz="900"/>
          </a:p>
          <a:p>
            <a:pPr indent="0" lvl="0" marL="0" rtl="0" algn="l">
              <a:spcBef>
                <a:spcPts val="0"/>
              </a:spcBef>
              <a:spcAft>
                <a:spcPts val="1200"/>
              </a:spcAft>
              <a:buNone/>
            </a:pPr>
            <a:r>
              <a:t/>
            </a:r>
            <a:endParaRPr/>
          </a:p>
        </p:txBody>
      </p:sp>
      <p:sp>
        <p:nvSpPr>
          <p:cNvPr id="107" name="Google Shape;107;p20"/>
          <p:cNvSpPr txBox="1"/>
          <p:nvPr/>
        </p:nvSpPr>
        <p:spPr>
          <a:xfrm>
            <a:off x="4306250" y="3815100"/>
            <a:ext cx="4426500" cy="97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lt2"/>
                </a:solidFill>
              </a:rPr>
              <a:t>So, those null App_ID’s also has null on country and other columns which shows it will not create any issue with other columns.</a:t>
            </a:r>
            <a:endParaRPr sz="1300">
              <a:solidFill>
                <a:schemeClr val="lt2"/>
              </a:solidFill>
            </a:endParaRPr>
          </a:p>
          <a:p>
            <a:pPr indent="0" lvl="0" marL="0" rtl="0" algn="l">
              <a:spcBef>
                <a:spcPts val="0"/>
              </a:spcBef>
              <a:spcAft>
                <a:spcPts val="0"/>
              </a:spcAft>
              <a:buNone/>
            </a:pPr>
            <a:r>
              <a:t/>
            </a:r>
            <a:endParaRPr sz="1800">
              <a:solidFill>
                <a:schemeClr val="dk2"/>
              </a:solidFill>
            </a:endParaRPr>
          </a:p>
        </p:txBody>
      </p:sp>
      <p:pic>
        <p:nvPicPr>
          <p:cNvPr id="108" name="Google Shape;108;p20"/>
          <p:cNvPicPr preferRelativeResize="0"/>
          <p:nvPr/>
        </p:nvPicPr>
        <p:blipFill>
          <a:blip r:embed="rId3">
            <a:alphaModFix/>
          </a:blip>
          <a:stretch>
            <a:fillRect/>
          </a:stretch>
        </p:blipFill>
        <p:spPr>
          <a:xfrm>
            <a:off x="4509900" y="1170125"/>
            <a:ext cx="3932307" cy="2492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Consistency Check</a:t>
            </a:r>
            <a:endParaRPr/>
          </a:p>
        </p:txBody>
      </p:sp>
      <p:sp>
        <p:nvSpPr>
          <p:cNvPr id="114" name="Google Shape;11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400"/>
              <a:t>checking other informations of those null app_id's:</a:t>
            </a:r>
            <a:endParaRPr b="1" sz="1400"/>
          </a:p>
          <a:p>
            <a:pPr indent="0" lvl="0" marL="0" rtl="0" algn="l">
              <a:spcBef>
                <a:spcPts val="1200"/>
              </a:spcBef>
              <a:spcAft>
                <a:spcPts val="0"/>
              </a:spcAft>
              <a:buClr>
                <a:schemeClr val="dk1"/>
              </a:buClr>
              <a:buSzPts val="1100"/>
              <a:buFont typeface="Arial"/>
              <a:buNone/>
            </a:pPr>
            <a:r>
              <a:rPr lang="en" sz="1150"/>
              <a:t>SELECT "App_ID", "Country", "Phone_Number"</a:t>
            </a:r>
            <a:endParaRPr sz="1150"/>
          </a:p>
          <a:p>
            <a:pPr indent="0" lvl="0" marL="0" rtl="0" algn="l">
              <a:spcBef>
                <a:spcPts val="1200"/>
              </a:spcBef>
              <a:spcAft>
                <a:spcPts val="0"/>
              </a:spcAft>
              <a:buClr>
                <a:schemeClr val="dk1"/>
              </a:buClr>
              <a:buSzPts val="1100"/>
              <a:buFont typeface="Arial"/>
              <a:buNone/>
            </a:pPr>
            <a:r>
              <a:rPr lang="en" sz="1150"/>
              <a:t>FROM "Cleaned_OutreachData" o</a:t>
            </a:r>
            <a:endParaRPr sz="1150"/>
          </a:p>
          <a:p>
            <a:pPr indent="0" lvl="0" marL="0" rtl="0" algn="l">
              <a:spcBef>
                <a:spcPts val="1200"/>
              </a:spcBef>
              <a:spcAft>
                <a:spcPts val="0"/>
              </a:spcAft>
              <a:buClr>
                <a:schemeClr val="dk1"/>
              </a:buClr>
              <a:buSzPts val="1100"/>
              <a:buFont typeface="Arial"/>
              <a:buNone/>
            </a:pPr>
            <a:r>
              <a:rPr lang="en" sz="1150"/>
              <a:t>LEFT JOIN "CleanApplicantData" a ON o."Reference_ID" = a."App_ID"</a:t>
            </a:r>
            <a:endParaRPr sz="1150"/>
          </a:p>
          <a:p>
            <a:pPr indent="0" lvl="0" marL="0" rtl="0" algn="l">
              <a:spcBef>
                <a:spcPts val="1200"/>
              </a:spcBef>
              <a:spcAft>
                <a:spcPts val="0"/>
              </a:spcAft>
              <a:buClr>
                <a:schemeClr val="dk1"/>
              </a:buClr>
              <a:buSzPts val="1100"/>
              <a:buFont typeface="Arial"/>
              <a:buNone/>
            </a:pPr>
            <a:r>
              <a:rPr lang="en" sz="1150"/>
              <a:t>WHERE a."App_ID" IS NULL;</a:t>
            </a:r>
            <a:endParaRPr sz="1150"/>
          </a:p>
          <a:p>
            <a:pPr indent="0" lvl="0" marL="0" rtl="0" algn="l">
              <a:spcBef>
                <a:spcPts val="0"/>
              </a:spcBef>
              <a:spcAft>
                <a:spcPts val="1200"/>
              </a:spcAft>
              <a:buNone/>
            </a:pPr>
            <a:r>
              <a:t/>
            </a:r>
            <a:endParaRPr/>
          </a:p>
        </p:txBody>
      </p:sp>
      <p:pic>
        <p:nvPicPr>
          <p:cNvPr id="115" name="Google Shape;115;p21"/>
          <p:cNvPicPr preferRelativeResize="0"/>
          <p:nvPr/>
        </p:nvPicPr>
        <p:blipFill>
          <a:blip r:embed="rId3">
            <a:alphaModFix/>
          </a:blip>
          <a:stretch>
            <a:fillRect/>
          </a:stretch>
        </p:blipFill>
        <p:spPr>
          <a:xfrm>
            <a:off x="4932950" y="696725"/>
            <a:ext cx="4135374" cy="2339950"/>
          </a:xfrm>
          <a:prstGeom prst="rect">
            <a:avLst/>
          </a:prstGeom>
          <a:noFill/>
          <a:ln>
            <a:noFill/>
          </a:ln>
        </p:spPr>
      </p:pic>
      <p:sp>
        <p:nvSpPr>
          <p:cNvPr id="116" name="Google Shape;116;p21"/>
          <p:cNvSpPr txBox="1"/>
          <p:nvPr/>
        </p:nvSpPr>
        <p:spPr>
          <a:xfrm>
            <a:off x="375625" y="3036675"/>
            <a:ext cx="5349900" cy="170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1. Out of all outreach records, </a:t>
            </a:r>
            <a:r>
              <a:rPr b="1" lang="en" sz="800">
                <a:solidFill>
                  <a:schemeClr val="dk1"/>
                </a:solidFill>
              </a:rPr>
              <a:t>42 records referenced invalid applicant IDs</a:t>
            </a:r>
            <a:r>
              <a:rPr lang="en" sz="800">
                <a:solidFill>
                  <a:schemeClr val="dk1"/>
                </a:solidFill>
              </a:rPr>
              <a:t> that did not exist in the Applicant dataset.</a:t>
            </a:r>
            <a:endParaRPr sz="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2. These represent </a:t>
            </a:r>
            <a:r>
              <a:rPr b="1" lang="en" sz="800">
                <a:solidFill>
                  <a:schemeClr val="dk1"/>
                </a:solidFill>
              </a:rPr>
              <a:t>~0.1%</a:t>
            </a:r>
            <a:r>
              <a:rPr lang="en" sz="800">
                <a:solidFill>
                  <a:schemeClr val="dk1"/>
                </a:solidFill>
              </a:rPr>
              <a:t> of the total (42 / (33076+42)), which is statistically insignificant for overall trends.</a:t>
            </a:r>
            <a:endParaRPr sz="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3. For the current analysis and visualizations, these records were </a:t>
            </a:r>
            <a:r>
              <a:rPr b="1" lang="en" sz="800">
                <a:solidFill>
                  <a:schemeClr val="dk1"/>
                </a:solidFill>
              </a:rPr>
              <a:t>excluded</a:t>
            </a:r>
            <a:r>
              <a:rPr lang="en" sz="800">
                <a:solidFill>
                  <a:schemeClr val="dk1"/>
                </a:solidFill>
              </a:rPr>
              <a:t> to maintain data consistency.</a:t>
            </a:r>
            <a:endParaRPr sz="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4. Future work may involve:</a:t>
            </a:r>
            <a:endParaRPr sz="800">
              <a:solidFill>
                <a:schemeClr val="dk1"/>
              </a:solidFill>
            </a:endParaRPr>
          </a:p>
          <a:p>
            <a:pPr indent="0" lvl="0" marL="12700" rtl="0" algn="l">
              <a:lnSpc>
                <a:spcPct val="115000"/>
              </a:lnSpc>
              <a:spcBef>
                <a:spcPts val="1200"/>
              </a:spcBef>
              <a:spcAft>
                <a:spcPts val="0"/>
              </a:spcAft>
              <a:buClr>
                <a:schemeClr val="dk1"/>
              </a:buClr>
              <a:buSzPts val="1100"/>
              <a:buFont typeface="Arial"/>
              <a:buNone/>
            </a:pPr>
            <a:r>
              <a:rPr lang="en" sz="800">
                <a:solidFill>
                  <a:schemeClr val="dk1"/>
                </a:solidFill>
              </a:rPr>
              <a:t>1.Investigating why these IDs are missing (data entry error, system issue, external applicants).</a:t>
            </a:r>
            <a:endParaRPr sz="8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sz="800">
                <a:solidFill>
                  <a:schemeClr val="dk1"/>
                </a:solidFill>
              </a:rPr>
              <a:t>2.Either </a:t>
            </a:r>
            <a:r>
              <a:rPr b="1" lang="en" sz="800">
                <a:solidFill>
                  <a:schemeClr val="dk1"/>
                </a:solidFill>
              </a:rPr>
              <a:t>removing them permanently</a:t>
            </a:r>
            <a:r>
              <a:rPr lang="en" sz="800">
                <a:solidFill>
                  <a:schemeClr val="dk1"/>
                </a:solidFill>
              </a:rPr>
              <a:t> or </a:t>
            </a:r>
            <a:r>
              <a:rPr b="1" lang="en" sz="800">
                <a:solidFill>
                  <a:schemeClr val="dk1"/>
                </a:solidFill>
              </a:rPr>
              <a:t>fixing them</a:t>
            </a:r>
            <a:r>
              <a:rPr lang="en" sz="800">
                <a:solidFill>
                  <a:schemeClr val="dk1"/>
                </a:solidFill>
              </a:rPr>
              <a:t> if correct references can be found.</a:t>
            </a:r>
            <a:endParaRPr sz="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Completeness Verification</a:t>
            </a:r>
            <a:endParaRPr/>
          </a:p>
        </p:txBody>
      </p:sp>
      <p:sp>
        <p:nvSpPr>
          <p:cNvPr id="122" name="Google Shape;122;p22"/>
          <p:cNvSpPr txBox="1"/>
          <p:nvPr>
            <p:ph idx="1" type="body"/>
          </p:nvPr>
        </p:nvSpPr>
        <p:spPr>
          <a:xfrm>
            <a:off x="311700" y="1152475"/>
            <a:ext cx="4963200" cy="39909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100"/>
              <a:t>ApplicantData missing values:</a:t>
            </a:r>
            <a:endParaRPr b="1" sz="1100"/>
          </a:p>
          <a:p>
            <a:pPr indent="0" lvl="0" marL="0" rtl="0" algn="l">
              <a:lnSpc>
                <a:spcPct val="115000"/>
              </a:lnSpc>
              <a:spcBef>
                <a:spcPts val="1200"/>
              </a:spcBef>
              <a:spcAft>
                <a:spcPts val="0"/>
              </a:spcAft>
              <a:buClr>
                <a:schemeClr val="dk1"/>
              </a:buClr>
              <a:buSzPts val="1100"/>
              <a:buFont typeface="Arial"/>
              <a:buNone/>
            </a:pPr>
            <a:r>
              <a:rPr lang="en" sz="1100"/>
              <a:t>SELECT</a:t>
            </a:r>
            <a:endParaRPr sz="1100"/>
          </a:p>
          <a:p>
            <a:pPr indent="0" lvl="0" marL="0" rtl="0" algn="l">
              <a:lnSpc>
                <a:spcPct val="115000"/>
              </a:lnSpc>
              <a:spcBef>
                <a:spcPts val="1200"/>
              </a:spcBef>
              <a:spcAft>
                <a:spcPts val="0"/>
              </a:spcAft>
              <a:buClr>
                <a:schemeClr val="dk1"/>
              </a:buClr>
              <a:buSzPts val="1100"/>
              <a:buFont typeface="Arial"/>
              <a:buNone/>
            </a:pPr>
            <a:r>
              <a:rPr lang="en" sz="1100"/>
              <a:t>	COUNT(*) FILTER (WHERE "Country" IS NULL OR "Country" = '') AS missing_country,</a:t>
            </a:r>
            <a:endParaRPr sz="1100"/>
          </a:p>
          <a:p>
            <a:pPr indent="0" lvl="0" marL="0" rtl="0" algn="l">
              <a:lnSpc>
                <a:spcPct val="115000"/>
              </a:lnSpc>
              <a:spcBef>
                <a:spcPts val="1200"/>
              </a:spcBef>
              <a:spcAft>
                <a:spcPts val="0"/>
              </a:spcAft>
              <a:buClr>
                <a:schemeClr val="dk1"/>
              </a:buClr>
              <a:buSzPts val="1100"/>
              <a:buFont typeface="Arial"/>
              <a:buNone/>
            </a:pPr>
            <a:r>
              <a:rPr lang="en" sz="1100"/>
              <a:t>	COUNT(*) FILTER (WHERE "University" IS NULL OR "University" = '') AS missing_university,</a:t>
            </a:r>
            <a:endParaRPr sz="1100"/>
          </a:p>
          <a:p>
            <a:pPr indent="0" lvl="0" marL="0" rtl="0" algn="l">
              <a:lnSpc>
                <a:spcPct val="115000"/>
              </a:lnSpc>
              <a:spcBef>
                <a:spcPts val="1200"/>
              </a:spcBef>
              <a:spcAft>
                <a:spcPts val="0"/>
              </a:spcAft>
              <a:buClr>
                <a:schemeClr val="dk1"/>
              </a:buClr>
              <a:buSzPts val="1100"/>
              <a:buFont typeface="Arial"/>
              <a:buNone/>
            </a:pPr>
            <a:r>
              <a:rPr lang="en" sz="1100"/>
              <a:t>	COUNT(*) FILTER (WHERE "Phone_Number" IS NULL OR "Phone_Number" = '') AS missing_phone</a:t>
            </a:r>
            <a:endParaRPr sz="1100"/>
          </a:p>
          <a:p>
            <a:pPr indent="0" lvl="0" marL="0" rtl="0" algn="l">
              <a:lnSpc>
                <a:spcPct val="115000"/>
              </a:lnSpc>
              <a:spcBef>
                <a:spcPts val="1200"/>
              </a:spcBef>
              <a:spcAft>
                <a:spcPts val="0"/>
              </a:spcAft>
              <a:buClr>
                <a:schemeClr val="dk1"/>
              </a:buClr>
              <a:buSzPts val="1100"/>
              <a:buFont typeface="Arial"/>
              <a:buNone/>
            </a:pPr>
            <a:r>
              <a:rPr lang="en" sz="1100"/>
              <a:t>FROM "CleanApplicantData";</a:t>
            </a:r>
            <a:endParaRPr sz="1100"/>
          </a:p>
          <a:p>
            <a:pPr indent="0" lvl="0" marL="0" rtl="0" algn="l">
              <a:spcBef>
                <a:spcPts val="0"/>
              </a:spcBef>
              <a:spcAft>
                <a:spcPts val="1200"/>
              </a:spcAft>
              <a:buNone/>
            </a:pPr>
            <a:r>
              <a:t/>
            </a:r>
            <a:endParaRPr/>
          </a:p>
        </p:txBody>
      </p:sp>
      <p:pic>
        <p:nvPicPr>
          <p:cNvPr id="123" name="Google Shape;123;p22"/>
          <p:cNvPicPr preferRelativeResize="0"/>
          <p:nvPr/>
        </p:nvPicPr>
        <p:blipFill>
          <a:blip r:embed="rId3">
            <a:alphaModFix/>
          </a:blip>
          <a:stretch>
            <a:fillRect/>
          </a:stretch>
        </p:blipFill>
        <p:spPr>
          <a:xfrm>
            <a:off x="5472600" y="1170125"/>
            <a:ext cx="3518999" cy="2516534"/>
          </a:xfrm>
          <a:prstGeom prst="rect">
            <a:avLst/>
          </a:prstGeom>
          <a:noFill/>
          <a:ln>
            <a:noFill/>
          </a:ln>
        </p:spPr>
      </p:pic>
      <p:sp>
        <p:nvSpPr>
          <p:cNvPr id="124" name="Google Shape;124;p22"/>
          <p:cNvSpPr txBox="1"/>
          <p:nvPr/>
        </p:nvSpPr>
        <p:spPr>
          <a:xfrm>
            <a:off x="5560775" y="3990100"/>
            <a:ext cx="3456300" cy="100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lt2"/>
                </a:solidFill>
              </a:rPr>
              <a:t>The Country column has 361 missing values, representing only 0.2% of the dataset. To account for this, a country filter was in the dashboard to ensure accurate analysis. added</a:t>
            </a:r>
            <a:endParaRPr sz="1100">
              <a:solidFill>
                <a:schemeClr val="lt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Completeness Verification</a:t>
            </a:r>
            <a:endParaRPr/>
          </a:p>
        </p:txBody>
      </p:sp>
      <p:sp>
        <p:nvSpPr>
          <p:cNvPr id="130" name="Google Shape;130;p23"/>
          <p:cNvSpPr txBox="1"/>
          <p:nvPr>
            <p:ph idx="1" type="body"/>
          </p:nvPr>
        </p:nvSpPr>
        <p:spPr>
          <a:xfrm>
            <a:off x="311700" y="1152475"/>
            <a:ext cx="5178900" cy="3721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450"/>
              <a:t>CampaignData missing values:</a:t>
            </a:r>
            <a:endParaRPr b="1" sz="1450"/>
          </a:p>
          <a:p>
            <a:pPr indent="0" lvl="0" marL="0" rtl="0" algn="l">
              <a:lnSpc>
                <a:spcPct val="115000"/>
              </a:lnSpc>
              <a:spcBef>
                <a:spcPts val="1200"/>
              </a:spcBef>
              <a:spcAft>
                <a:spcPts val="0"/>
              </a:spcAft>
              <a:buClr>
                <a:schemeClr val="dk1"/>
              </a:buClr>
              <a:buSzPts val="1100"/>
              <a:buFont typeface="Arial"/>
              <a:buNone/>
            </a:pPr>
            <a:r>
              <a:rPr lang="en" sz="1200"/>
              <a:t>SELECT</a:t>
            </a:r>
            <a:endParaRPr sz="1200"/>
          </a:p>
          <a:p>
            <a:pPr indent="0" lvl="0" marL="0" rtl="0" algn="l">
              <a:lnSpc>
                <a:spcPct val="115000"/>
              </a:lnSpc>
              <a:spcBef>
                <a:spcPts val="1200"/>
              </a:spcBef>
              <a:spcAft>
                <a:spcPts val="0"/>
              </a:spcAft>
              <a:buClr>
                <a:schemeClr val="dk1"/>
              </a:buClr>
              <a:buSzPts val="1100"/>
              <a:buFont typeface="Arial"/>
              <a:buNone/>
            </a:pPr>
            <a:r>
              <a:rPr lang="en" sz="1200"/>
              <a:t>	COUNT(*) FILTER (WHERE "Name" IS NULL OR "Name" = '') AS missing_name,</a:t>
            </a:r>
            <a:endParaRPr sz="1200"/>
          </a:p>
          <a:p>
            <a:pPr indent="0" lvl="0" marL="0" rtl="0" algn="l">
              <a:lnSpc>
                <a:spcPct val="115000"/>
              </a:lnSpc>
              <a:spcBef>
                <a:spcPts val="1200"/>
              </a:spcBef>
              <a:spcAft>
                <a:spcPts val="0"/>
              </a:spcAft>
              <a:buClr>
                <a:schemeClr val="dk1"/>
              </a:buClr>
              <a:buSzPts val="1100"/>
              <a:buFont typeface="Arial"/>
              <a:buNone/>
            </a:pPr>
            <a:r>
              <a:rPr lang="en" sz="1200"/>
              <a:t>	COUNT(*) FILTER (WHERE "Start_Date" IS NULL) AS missing_start_date,</a:t>
            </a:r>
            <a:endParaRPr sz="1200"/>
          </a:p>
          <a:p>
            <a:pPr indent="0" lvl="0" marL="0" rtl="0" algn="l">
              <a:lnSpc>
                <a:spcPct val="115000"/>
              </a:lnSpc>
              <a:spcBef>
                <a:spcPts val="1200"/>
              </a:spcBef>
              <a:spcAft>
                <a:spcPts val="0"/>
              </a:spcAft>
              <a:buClr>
                <a:schemeClr val="dk1"/>
              </a:buClr>
              <a:buSzPts val="1100"/>
              <a:buFont typeface="Arial"/>
              <a:buNone/>
            </a:pPr>
            <a:r>
              <a:rPr lang="en" sz="1200"/>
              <a:t>	COUNT(*) FILTER (WHERE "Campaign_Type" IS NULL OR "Campaign_Type" = '') AS missing_campaign_type</a:t>
            </a:r>
            <a:endParaRPr sz="1200"/>
          </a:p>
          <a:p>
            <a:pPr indent="0" lvl="0" marL="0" rtl="0" algn="l">
              <a:lnSpc>
                <a:spcPct val="115000"/>
              </a:lnSpc>
              <a:spcBef>
                <a:spcPts val="1200"/>
              </a:spcBef>
              <a:spcAft>
                <a:spcPts val="0"/>
              </a:spcAft>
              <a:buClr>
                <a:schemeClr val="dk1"/>
              </a:buClr>
              <a:buSzPts val="1100"/>
              <a:buFont typeface="Arial"/>
              <a:buNone/>
            </a:pPr>
            <a:r>
              <a:rPr lang="en" sz="1200"/>
              <a:t>FROM "Cleaned_CampaignData";</a:t>
            </a:r>
            <a:endParaRPr sz="1200"/>
          </a:p>
          <a:p>
            <a:pPr indent="0" lvl="0" marL="0" rtl="0" algn="l">
              <a:spcBef>
                <a:spcPts val="0"/>
              </a:spcBef>
              <a:spcAft>
                <a:spcPts val="1200"/>
              </a:spcAft>
              <a:buNone/>
            </a:pPr>
            <a:r>
              <a:t/>
            </a:r>
            <a:endParaRPr/>
          </a:p>
        </p:txBody>
      </p:sp>
      <p:pic>
        <p:nvPicPr>
          <p:cNvPr id="131" name="Google Shape;131;p23"/>
          <p:cNvPicPr preferRelativeResize="0"/>
          <p:nvPr/>
        </p:nvPicPr>
        <p:blipFill>
          <a:blip r:embed="rId3">
            <a:alphaModFix/>
          </a:blip>
          <a:stretch>
            <a:fillRect/>
          </a:stretch>
        </p:blipFill>
        <p:spPr>
          <a:xfrm>
            <a:off x="5647500" y="1170125"/>
            <a:ext cx="3344100" cy="303799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Completeness Verification</a:t>
            </a:r>
            <a:endParaRPr/>
          </a:p>
        </p:txBody>
      </p:sp>
      <p:sp>
        <p:nvSpPr>
          <p:cNvPr id="137" name="Google Shape;137;p24"/>
          <p:cNvSpPr txBox="1"/>
          <p:nvPr>
            <p:ph idx="1" type="body"/>
          </p:nvPr>
        </p:nvSpPr>
        <p:spPr>
          <a:xfrm>
            <a:off x="311700" y="1152475"/>
            <a:ext cx="4475700" cy="3585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300"/>
              <a:t>OutreachData missing values</a:t>
            </a:r>
            <a:endParaRPr b="1" sz="1300"/>
          </a:p>
          <a:p>
            <a:pPr indent="0" lvl="0" marL="0" rtl="0" algn="l">
              <a:lnSpc>
                <a:spcPct val="115000"/>
              </a:lnSpc>
              <a:spcBef>
                <a:spcPts val="1200"/>
              </a:spcBef>
              <a:spcAft>
                <a:spcPts val="0"/>
              </a:spcAft>
              <a:buClr>
                <a:schemeClr val="dk1"/>
              </a:buClr>
              <a:buSzPts val="1100"/>
              <a:buFont typeface="Arial"/>
              <a:buNone/>
            </a:pPr>
            <a:r>
              <a:rPr lang="en" sz="1100"/>
              <a:t>SELECT</a:t>
            </a:r>
            <a:endParaRPr sz="1100"/>
          </a:p>
          <a:p>
            <a:pPr indent="0" lvl="0" marL="0" rtl="0" algn="l">
              <a:lnSpc>
                <a:spcPct val="115000"/>
              </a:lnSpc>
              <a:spcBef>
                <a:spcPts val="1200"/>
              </a:spcBef>
              <a:spcAft>
                <a:spcPts val="0"/>
              </a:spcAft>
              <a:buClr>
                <a:schemeClr val="dk1"/>
              </a:buClr>
              <a:buSzPts val="1100"/>
              <a:buFont typeface="Arial"/>
              <a:buNone/>
            </a:pPr>
            <a:r>
              <a:rPr lang="en" sz="1100"/>
              <a:t>	COUNT(*) FILTER (WHERE "University" IS NULL OR "University" = '') AS missing_university,</a:t>
            </a:r>
            <a:endParaRPr sz="1100"/>
          </a:p>
          <a:p>
            <a:pPr indent="0" lvl="0" marL="0" rtl="0" algn="l">
              <a:lnSpc>
                <a:spcPct val="115000"/>
              </a:lnSpc>
              <a:spcBef>
                <a:spcPts val="1200"/>
              </a:spcBef>
              <a:spcAft>
                <a:spcPts val="0"/>
              </a:spcAft>
              <a:buClr>
                <a:schemeClr val="dk1"/>
              </a:buClr>
              <a:buSzPts val="1100"/>
              <a:buFont typeface="Arial"/>
              <a:buNone/>
            </a:pPr>
            <a:r>
              <a:rPr lang="en" sz="1100"/>
              <a:t>	COUNT(*) FILTER (WHERE "Caller_Name" IS NULL OR "Caller_Name" = '') AS missing_caller,</a:t>
            </a:r>
            <a:endParaRPr sz="1100"/>
          </a:p>
          <a:p>
            <a:pPr indent="0" lvl="0" marL="0" rtl="0" algn="l">
              <a:lnSpc>
                <a:spcPct val="115000"/>
              </a:lnSpc>
              <a:spcBef>
                <a:spcPts val="1200"/>
              </a:spcBef>
              <a:spcAft>
                <a:spcPts val="0"/>
              </a:spcAft>
              <a:buClr>
                <a:schemeClr val="dk1"/>
              </a:buClr>
              <a:buSzPts val="1100"/>
              <a:buFont typeface="Arial"/>
              <a:buNone/>
            </a:pPr>
            <a:r>
              <a:rPr lang="en" sz="1100"/>
              <a:t>	COUNT(*) FILTER (WHERE "Outcome_1" IS NULL OR "Outcome_1" = '') AS missing_outcome</a:t>
            </a:r>
            <a:endParaRPr sz="1100"/>
          </a:p>
          <a:p>
            <a:pPr indent="0" lvl="0" marL="0" rtl="0" algn="l">
              <a:lnSpc>
                <a:spcPct val="115000"/>
              </a:lnSpc>
              <a:spcBef>
                <a:spcPts val="1200"/>
              </a:spcBef>
              <a:spcAft>
                <a:spcPts val="0"/>
              </a:spcAft>
              <a:buClr>
                <a:schemeClr val="dk1"/>
              </a:buClr>
              <a:buSzPts val="1100"/>
              <a:buFont typeface="Arial"/>
              <a:buNone/>
            </a:pPr>
            <a:r>
              <a:rPr lang="en" sz="1100"/>
              <a:t>FROM "Cleaned_OutreachData";</a:t>
            </a:r>
            <a:endParaRPr sz="1100"/>
          </a:p>
          <a:p>
            <a:pPr indent="0" lvl="0" marL="0" rtl="0" algn="l">
              <a:spcBef>
                <a:spcPts val="0"/>
              </a:spcBef>
              <a:spcAft>
                <a:spcPts val="1200"/>
              </a:spcAft>
              <a:buNone/>
            </a:pPr>
            <a:r>
              <a:t/>
            </a:r>
            <a:endParaRPr/>
          </a:p>
        </p:txBody>
      </p:sp>
      <p:pic>
        <p:nvPicPr>
          <p:cNvPr id="138" name="Google Shape;138;p24"/>
          <p:cNvPicPr preferRelativeResize="0"/>
          <p:nvPr/>
        </p:nvPicPr>
        <p:blipFill>
          <a:blip r:embed="rId3">
            <a:alphaModFix/>
          </a:blip>
          <a:stretch>
            <a:fillRect/>
          </a:stretch>
        </p:blipFill>
        <p:spPr>
          <a:xfrm>
            <a:off x="5297700" y="1170125"/>
            <a:ext cx="3693900" cy="29912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Completeness Verification</a:t>
            </a:r>
            <a:endParaRPr/>
          </a:p>
        </p:txBody>
      </p:sp>
      <p:sp>
        <p:nvSpPr>
          <p:cNvPr id="144" name="Google Shape;14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100"/>
              <a:t>Outreach Campaign_ID should match CampaignData.ID:</a:t>
            </a:r>
            <a:endParaRPr b="1" sz="1100"/>
          </a:p>
          <a:p>
            <a:pPr indent="0" lvl="0" marL="0" rtl="0" algn="l">
              <a:lnSpc>
                <a:spcPct val="115000"/>
              </a:lnSpc>
              <a:spcBef>
                <a:spcPts val="1200"/>
              </a:spcBef>
              <a:spcAft>
                <a:spcPts val="0"/>
              </a:spcAft>
              <a:buClr>
                <a:schemeClr val="dk1"/>
              </a:buClr>
              <a:buSzPts val="1100"/>
              <a:buFont typeface="Arial"/>
              <a:buNone/>
            </a:pPr>
            <a:r>
              <a:rPr lang="en" sz="1100"/>
              <a:t>SELECT COUNT(*) AS missing_campaigns</a:t>
            </a:r>
            <a:endParaRPr sz="1100"/>
          </a:p>
          <a:p>
            <a:pPr indent="0" lvl="0" marL="0" rtl="0" algn="l">
              <a:lnSpc>
                <a:spcPct val="115000"/>
              </a:lnSpc>
              <a:spcBef>
                <a:spcPts val="1200"/>
              </a:spcBef>
              <a:spcAft>
                <a:spcPts val="0"/>
              </a:spcAft>
              <a:buClr>
                <a:schemeClr val="dk1"/>
              </a:buClr>
              <a:buSzPts val="1100"/>
              <a:buFont typeface="Arial"/>
              <a:buNone/>
            </a:pPr>
            <a:r>
              <a:rPr lang="en" sz="1100"/>
              <a:t>FROM "Cleaned_OutreachData" o</a:t>
            </a:r>
            <a:endParaRPr sz="1100"/>
          </a:p>
          <a:p>
            <a:pPr indent="0" lvl="0" marL="0" rtl="0" algn="l">
              <a:lnSpc>
                <a:spcPct val="115000"/>
              </a:lnSpc>
              <a:spcBef>
                <a:spcPts val="1200"/>
              </a:spcBef>
              <a:spcAft>
                <a:spcPts val="0"/>
              </a:spcAft>
              <a:buClr>
                <a:schemeClr val="dk1"/>
              </a:buClr>
              <a:buSzPts val="1100"/>
              <a:buFont typeface="Arial"/>
              <a:buNone/>
            </a:pPr>
            <a:r>
              <a:rPr lang="en" sz="1100"/>
              <a:t>LEFT JOIN "Cleaned_CampaignData" c ON o."Campaign_ID" = c."ID"</a:t>
            </a:r>
            <a:endParaRPr sz="1100"/>
          </a:p>
          <a:p>
            <a:pPr indent="0" lvl="0" marL="0" rtl="0" algn="l">
              <a:lnSpc>
                <a:spcPct val="115000"/>
              </a:lnSpc>
              <a:spcBef>
                <a:spcPts val="1200"/>
              </a:spcBef>
              <a:spcAft>
                <a:spcPts val="0"/>
              </a:spcAft>
              <a:buClr>
                <a:schemeClr val="dk1"/>
              </a:buClr>
              <a:buSzPts val="1100"/>
              <a:buFont typeface="Arial"/>
              <a:buNone/>
            </a:pPr>
            <a:r>
              <a:rPr lang="en" sz="1100"/>
              <a:t>WHERE c."ID" IS NULL;</a:t>
            </a:r>
            <a:endParaRPr sz="1100"/>
          </a:p>
          <a:p>
            <a:pPr indent="0" lvl="0" marL="0" rtl="0" algn="l">
              <a:spcBef>
                <a:spcPts val="0"/>
              </a:spcBef>
              <a:spcAft>
                <a:spcPts val="1200"/>
              </a:spcAft>
              <a:buNone/>
            </a:pPr>
            <a:r>
              <a:t/>
            </a:r>
            <a:endParaRPr/>
          </a:p>
        </p:txBody>
      </p:sp>
      <p:pic>
        <p:nvPicPr>
          <p:cNvPr id="145" name="Google Shape;145;p25"/>
          <p:cNvPicPr preferRelativeResize="0"/>
          <p:nvPr/>
        </p:nvPicPr>
        <p:blipFill>
          <a:blip r:embed="rId3">
            <a:alphaModFix/>
          </a:blip>
          <a:stretch>
            <a:fillRect/>
          </a:stretch>
        </p:blipFill>
        <p:spPr>
          <a:xfrm>
            <a:off x="5232000" y="1170125"/>
            <a:ext cx="3759601" cy="301161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51" name="Google Shape;15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Clr>
                <a:schemeClr val="dk1"/>
              </a:buClr>
              <a:buSzPct val="84615"/>
              <a:buFont typeface="Arial"/>
              <a:buNone/>
            </a:pPr>
            <a:r>
              <a:rPr b="1" lang="en" sz="1300"/>
              <a:t>Checking duplicates in CleanApplicantData:</a:t>
            </a:r>
            <a:endParaRPr b="1" sz="1300"/>
          </a:p>
          <a:p>
            <a:pPr indent="0" lvl="0" marL="0" rtl="0" algn="l">
              <a:lnSpc>
                <a:spcPct val="115000"/>
              </a:lnSpc>
              <a:spcBef>
                <a:spcPts val="1200"/>
              </a:spcBef>
              <a:spcAft>
                <a:spcPts val="0"/>
              </a:spcAft>
              <a:buClr>
                <a:schemeClr val="dk1"/>
              </a:buClr>
              <a:buSzPct val="91666"/>
              <a:buFont typeface="Arial"/>
              <a:buNone/>
            </a:pPr>
            <a:r>
              <a:rPr lang="en" sz="1200"/>
              <a:t>SELECT "App_ID", COUNT(*) AS occurrences</a:t>
            </a:r>
            <a:endParaRPr sz="1200"/>
          </a:p>
          <a:p>
            <a:pPr indent="0" lvl="0" marL="0" rtl="0" algn="l">
              <a:lnSpc>
                <a:spcPct val="115000"/>
              </a:lnSpc>
              <a:spcBef>
                <a:spcPts val="1200"/>
              </a:spcBef>
              <a:spcAft>
                <a:spcPts val="0"/>
              </a:spcAft>
              <a:buClr>
                <a:schemeClr val="dk1"/>
              </a:buClr>
              <a:buSzPct val="91666"/>
              <a:buFont typeface="Arial"/>
              <a:buNone/>
            </a:pPr>
            <a:r>
              <a:rPr lang="en" sz="1200"/>
              <a:t>FROM "CleanApplicantData"</a:t>
            </a:r>
            <a:endParaRPr sz="1200"/>
          </a:p>
          <a:p>
            <a:pPr indent="0" lvl="0" marL="0" rtl="0" algn="l">
              <a:lnSpc>
                <a:spcPct val="115000"/>
              </a:lnSpc>
              <a:spcBef>
                <a:spcPts val="1200"/>
              </a:spcBef>
              <a:spcAft>
                <a:spcPts val="0"/>
              </a:spcAft>
              <a:buClr>
                <a:schemeClr val="dk1"/>
              </a:buClr>
              <a:buSzPct val="91666"/>
              <a:buFont typeface="Arial"/>
              <a:buNone/>
            </a:pPr>
            <a:r>
              <a:rPr lang="en" sz="1200"/>
              <a:t>GROUP BY "App_ID"</a:t>
            </a:r>
            <a:endParaRPr sz="1200"/>
          </a:p>
          <a:p>
            <a:pPr indent="0" lvl="0" marL="0" rtl="0" algn="l">
              <a:lnSpc>
                <a:spcPct val="115000"/>
              </a:lnSpc>
              <a:spcBef>
                <a:spcPts val="1200"/>
              </a:spcBef>
              <a:spcAft>
                <a:spcPts val="0"/>
              </a:spcAft>
              <a:buClr>
                <a:schemeClr val="dk1"/>
              </a:buClr>
              <a:buSzPct val="91666"/>
              <a:buFont typeface="Arial"/>
              <a:buNone/>
            </a:pPr>
            <a:r>
              <a:rPr lang="en" sz="1200"/>
              <a:t>HAVING COUNT(*) &gt; 1;</a:t>
            </a:r>
            <a:endParaRPr sz="1200"/>
          </a:p>
          <a:p>
            <a:pPr indent="0" lvl="0" marL="0" rtl="0" algn="l">
              <a:lnSpc>
                <a:spcPct val="115000"/>
              </a:lnSpc>
              <a:spcBef>
                <a:spcPts val="1200"/>
              </a:spcBef>
              <a:spcAft>
                <a:spcPts val="0"/>
              </a:spcAft>
              <a:buClr>
                <a:schemeClr val="dk1"/>
              </a:buClr>
              <a:buSzPct val="84615"/>
              <a:buFont typeface="Arial"/>
              <a:buNone/>
            </a:pPr>
            <a:r>
              <a:rPr b="1" lang="en" sz="1300"/>
              <a:t>Duplicates in Cleaned_CampaignData's IDs:</a:t>
            </a:r>
            <a:endParaRPr b="1" sz="1300"/>
          </a:p>
          <a:p>
            <a:pPr indent="0" lvl="0" marL="0" rtl="0" algn="l">
              <a:lnSpc>
                <a:spcPct val="115000"/>
              </a:lnSpc>
              <a:spcBef>
                <a:spcPts val="1200"/>
              </a:spcBef>
              <a:spcAft>
                <a:spcPts val="0"/>
              </a:spcAft>
              <a:buClr>
                <a:schemeClr val="dk1"/>
              </a:buClr>
              <a:buSzPct val="84615"/>
              <a:buFont typeface="Arial"/>
              <a:buNone/>
            </a:pPr>
            <a:r>
              <a:rPr lang="en" sz="1300"/>
              <a:t>SELECT "ID", COUNT(*)</a:t>
            </a:r>
            <a:endParaRPr sz="1300"/>
          </a:p>
          <a:p>
            <a:pPr indent="0" lvl="0" marL="0" rtl="0" algn="l">
              <a:lnSpc>
                <a:spcPct val="115000"/>
              </a:lnSpc>
              <a:spcBef>
                <a:spcPts val="1200"/>
              </a:spcBef>
              <a:spcAft>
                <a:spcPts val="0"/>
              </a:spcAft>
              <a:buClr>
                <a:schemeClr val="dk1"/>
              </a:buClr>
              <a:buSzPct val="84615"/>
              <a:buFont typeface="Arial"/>
              <a:buNone/>
            </a:pPr>
            <a:r>
              <a:rPr lang="en" sz="1300"/>
              <a:t>FROM "Cleaned_CampaignData"</a:t>
            </a:r>
            <a:endParaRPr sz="1300"/>
          </a:p>
          <a:p>
            <a:pPr indent="0" lvl="0" marL="0" rtl="0" algn="l">
              <a:lnSpc>
                <a:spcPct val="115000"/>
              </a:lnSpc>
              <a:spcBef>
                <a:spcPts val="1200"/>
              </a:spcBef>
              <a:spcAft>
                <a:spcPts val="0"/>
              </a:spcAft>
              <a:buClr>
                <a:schemeClr val="dk1"/>
              </a:buClr>
              <a:buSzPct val="84615"/>
              <a:buFont typeface="Arial"/>
              <a:buNone/>
            </a:pPr>
            <a:r>
              <a:rPr lang="en" sz="1300"/>
              <a:t>GROUP BY "ID"</a:t>
            </a:r>
            <a:endParaRPr sz="1300"/>
          </a:p>
          <a:p>
            <a:pPr indent="0" lvl="0" marL="0" rtl="0" algn="l">
              <a:lnSpc>
                <a:spcPct val="115000"/>
              </a:lnSpc>
              <a:spcBef>
                <a:spcPts val="1200"/>
              </a:spcBef>
              <a:spcAft>
                <a:spcPts val="0"/>
              </a:spcAft>
              <a:buClr>
                <a:schemeClr val="dk1"/>
              </a:buClr>
              <a:buSzPct val="84615"/>
              <a:buFont typeface="Arial"/>
              <a:buNone/>
            </a:pPr>
            <a:r>
              <a:rPr lang="en" sz="1300"/>
              <a:t>HAVING COUNT(*) &gt; 1;</a:t>
            </a:r>
            <a:endParaRPr sz="1300"/>
          </a:p>
          <a:p>
            <a:pPr indent="0" lvl="0" marL="0" rtl="0" algn="l">
              <a:spcBef>
                <a:spcPts val="0"/>
              </a:spcBef>
              <a:spcAft>
                <a:spcPts val="1200"/>
              </a:spcAft>
              <a:buNone/>
            </a:pPr>
            <a:r>
              <a:t/>
            </a:r>
            <a:endParaRPr/>
          </a:p>
        </p:txBody>
      </p:sp>
      <p:pic>
        <p:nvPicPr>
          <p:cNvPr id="152" name="Google Shape;152;p26"/>
          <p:cNvPicPr preferRelativeResize="0"/>
          <p:nvPr/>
        </p:nvPicPr>
        <p:blipFill>
          <a:blip r:embed="rId3">
            <a:alphaModFix/>
          </a:blip>
          <a:stretch>
            <a:fillRect/>
          </a:stretch>
        </p:blipFill>
        <p:spPr>
          <a:xfrm>
            <a:off x="3963850" y="445025"/>
            <a:ext cx="4765251" cy="2340325"/>
          </a:xfrm>
          <a:prstGeom prst="rect">
            <a:avLst/>
          </a:prstGeom>
          <a:noFill/>
          <a:ln>
            <a:noFill/>
          </a:ln>
        </p:spPr>
      </p:pic>
      <p:pic>
        <p:nvPicPr>
          <p:cNvPr id="153" name="Google Shape;153;p26"/>
          <p:cNvPicPr preferRelativeResize="0"/>
          <p:nvPr/>
        </p:nvPicPr>
        <p:blipFill>
          <a:blip r:embed="rId4">
            <a:alphaModFix/>
          </a:blip>
          <a:stretch>
            <a:fillRect/>
          </a:stretch>
        </p:blipFill>
        <p:spPr>
          <a:xfrm>
            <a:off x="4626050" y="2915875"/>
            <a:ext cx="4206256" cy="2053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59" name="Google Shape;15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550"/>
              <a:t>Duplicates in Cleaned_OutreachData's IDs:</a:t>
            </a:r>
            <a:endParaRPr b="1" sz="1550"/>
          </a:p>
          <a:p>
            <a:pPr indent="0" lvl="0" marL="0" rtl="0" algn="l">
              <a:lnSpc>
                <a:spcPct val="115000"/>
              </a:lnSpc>
              <a:spcBef>
                <a:spcPts val="1200"/>
              </a:spcBef>
              <a:spcAft>
                <a:spcPts val="0"/>
              </a:spcAft>
              <a:buClr>
                <a:schemeClr val="dk1"/>
              </a:buClr>
              <a:buSzPts val="1100"/>
              <a:buFont typeface="Arial"/>
              <a:buNone/>
            </a:pPr>
            <a:r>
              <a:rPr lang="en" sz="1250"/>
              <a:t>SELECT "Reference_ID", COUNT(*) as total_Duplicates</a:t>
            </a:r>
            <a:endParaRPr sz="1250"/>
          </a:p>
          <a:p>
            <a:pPr indent="0" lvl="0" marL="0" rtl="0" algn="l">
              <a:lnSpc>
                <a:spcPct val="115000"/>
              </a:lnSpc>
              <a:spcBef>
                <a:spcPts val="1200"/>
              </a:spcBef>
              <a:spcAft>
                <a:spcPts val="0"/>
              </a:spcAft>
              <a:buClr>
                <a:schemeClr val="dk1"/>
              </a:buClr>
              <a:buSzPts val="1100"/>
              <a:buFont typeface="Arial"/>
              <a:buNone/>
            </a:pPr>
            <a:r>
              <a:rPr lang="en" sz="1250"/>
              <a:t>FROM "Cleaned_OutreachData"</a:t>
            </a:r>
            <a:endParaRPr sz="1250"/>
          </a:p>
          <a:p>
            <a:pPr indent="0" lvl="0" marL="0" rtl="0" algn="l">
              <a:lnSpc>
                <a:spcPct val="115000"/>
              </a:lnSpc>
              <a:spcBef>
                <a:spcPts val="1200"/>
              </a:spcBef>
              <a:spcAft>
                <a:spcPts val="0"/>
              </a:spcAft>
              <a:buClr>
                <a:schemeClr val="dk1"/>
              </a:buClr>
              <a:buSzPts val="1100"/>
              <a:buFont typeface="Arial"/>
              <a:buNone/>
            </a:pPr>
            <a:r>
              <a:rPr lang="en" sz="1250"/>
              <a:t>GROUP BY "Reference_ID"</a:t>
            </a:r>
            <a:endParaRPr sz="1250"/>
          </a:p>
          <a:p>
            <a:pPr indent="0" lvl="0" marL="0" rtl="0" algn="l">
              <a:lnSpc>
                <a:spcPct val="115000"/>
              </a:lnSpc>
              <a:spcBef>
                <a:spcPts val="1200"/>
              </a:spcBef>
              <a:spcAft>
                <a:spcPts val="0"/>
              </a:spcAft>
              <a:buClr>
                <a:schemeClr val="dk1"/>
              </a:buClr>
              <a:buSzPts val="1100"/>
              <a:buFont typeface="Arial"/>
              <a:buNone/>
            </a:pPr>
            <a:r>
              <a:rPr lang="en" sz="1250"/>
              <a:t>HAVING COUNT(*) &gt; 1</a:t>
            </a:r>
            <a:endParaRPr sz="1250"/>
          </a:p>
          <a:p>
            <a:pPr indent="0" lvl="0" marL="0" rtl="0" algn="l">
              <a:lnSpc>
                <a:spcPct val="115000"/>
              </a:lnSpc>
              <a:spcBef>
                <a:spcPts val="1200"/>
              </a:spcBef>
              <a:spcAft>
                <a:spcPts val="0"/>
              </a:spcAft>
              <a:buClr>
                <a:schemeClr val="dk1"/>
              </a:buClr>
              <a:buSzPts val="1100"/>
              <a:buFont typeface="Arial"/>
              <a:buNone/>
            </a:pPr>
            <a:r>
              <a:rPr lang="en" sz="1250"/>
              <a:t>Order by total_Duplicates desc;</a:t>
            </a:r>
            <a:endParaRPr sz="1250"/>
          </a:p>
          <a:p>
            <a:pPr indent="0" lvl="0" marL="0" rtl="0" algn="l">
              <a:lnSpc>
                <a:spcPct val="115000"/>
              </a:lnSpc>
              <a:spcBef>
                <a:spcPts val="1200"/>
              </a:spcBef>
              <a:spcAft>
                <a:spcPts val="0"/>
              </a:spcAft>
              <a:buClr>
                <a:schemeClr val="dk1"/>
              </a:buClr>
              <a:buSzPts val="1100"/>
              <a:buFont typeface="Arial"/>
              <a:buNone/>
            </a:pPr>
            <a:r>
              <a:rPr lang="en" sz="1250"/>
              <a:t>Here, duplicates is must as “reference_Id” is foreign key.</a:t>
            </a:r>
            <a:endParaRPr sz="1250"/>
          </a:p>
          <a:p>
            <a:pPr indent="0" lvl="0" marL="0" rtl="0" algn="l">
              <a:spcBef>
                <a:spcPts val="0"/>
              </a:spcBef>
              <a:spcAft>
                <a:spcPts val="1200"/>
              </a:spcAft>
              <a:buNone/>
            </a:pPr>
            <a:r>
              <a:t/>
            </a:r>
            <a:endParaRPr/>
          </a:p>
        </p:txBody>
      </p:sp>
      <p:pic>
        <p:nvPicPr>
          <p:cNvPr id="160" name="Google Shape;160;p27"/>
          <p:cNvPicPr preferRelativeResize="0"/>
          <p:nvPr/>
        </p:nvPicPr>
        <p:blipFill>
          <a:blip r:embed="rId3">
            <a:alphaModFix/>
          </a:blip>
          <a:stretch>
            <a:fillRect/>
          </a:stretch>
        </p:blipFill>
        <p:spPr>
          <a:xfrm>
            <a:off x="4306500" y="912175"/>
            <a:ext cx="4837501" cy="298602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66" name="Google Shape;16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lnSpc>
                <a:spcPct val="115000"/>
              </a:lnSpc>
              <a:spcBef>
                <a:spcPts val="0"/>
              </a:spcBef>
              <a:spcAft>
                <a:spcPts val="0"/>
              </a:spcAft>
              <a:buClr>
                <a:schemeClr val="dk1"/>
              </a:buClr>
              <a:buSzPct val="68750"/>
              <a:buFont typeface="Arial"/>
              <a:buNone/>
            </a:pPr>
            <a:r>
              <a:rPr b="1" lang="en" sz="1600"/>
              <a:t>Total calls including duplicates</a:t>
            </a:r>
            <a:endParaRPr b="1" sz="1600"/>
          </a:p>
          <a:p>
            <a:pPr indent="0" lvl="0" marL="0" rtl="0" algn="l">
              <a:lnSpc>
                <a:spcPct val="115000"/>
              </a:lnSpc>
              <a:spcBef>
                <a:spcPts val="1200"/>
              </a:spcBef>
              <a:spcAft>
                <a:spcPts val="0"/>
              </a:spcAft>
              <a:buClr>
                <a:schemeClr val="dk1"/>
              </a:buClr>
              <a:buSzPct val="84615"/>
              <a:buFont typeface="Arial"/>
              <a:buNone/>
            </a:pPr>
            <a:r>
              <a:rPr lang="en" sz="1300"/>
              <a:t>SELECT COUNT(*) AS total_calls FROM "Cleaned_OutreachData";</a:t>
            </a:r>
            <a:endParaRPr sz="1300"/>
          </a:p>
          <a:p>
            <a:pPr indent="0" lvl="0" marL="0" rtl="0" algn="l">
              <a:lnSpc>
                <a:spcPct val="115000"/>
              </a:lnSpc>
              <a:spcBef>
                <a:spcPts val="1200"/>
              </a:spcBef>
              <a:spcAft>
                <a:spcPts val="0"/>
              </a:spcAft>
              <a:buClr>
                <a:schemeClr val="dk1"/>
              </a:buClr>
              <a:buSzPct val="68750"/>
              <a:buFont typeface="Arial"/>
              <a:buNone/>
            </a:pPr>
            <a:r>
              <a:rPr b="1" lang="en" sz="1600"/>
              <a:t>Unique calls (ignoring duplicates based on key fields)</a:t>
            </a:r>
            <a:endParaRPr b="1" sz="1600"/>
          </a:p>
          <a:p>
            <a:pPr indent="0" lvl="0" marL="0" rtl="0" algn="l">
              <a:lnSpc>
                <a:spcPct val="115000"/>
              </a:lnSpc>
              <a:spcBef>
                <a:spcPts val="1200"/>
              </a:spcBef>
              <a:spcAft>
                <a:spcPts val="0"/>
              </a:spcAft>
              <a:buClr>
                <a:schemeClr val="dk1"/>
              </a:buClr>
              <a:buSzPct val="84615"/>
              <a:buFont typeface="Arial"/>
              <a:buNone/>
            </a:pPr>
            <a:r>
              <a:rPr lang="en" sz="1300"/>
              <a:t>SELECT COUNT(DISTINCT "Reference_ID" || '-' || "Campaign_ID" || '-' || </a:t>
            </a:r>
            <a:endParaRPr sz="1300"/>
          </a:p>
          <a:p>
            <a:pPr indent="457200" lvl="0" marL="0" rtl="0" algn="l">
              <a:lnSpc>
                <a:spcPct val="115000"/>
              </a:lnSpc>
              <a:spcBef>
                <a:spcPts val="1200"/>
              </a:spcBef>
              <a:spcAft>
                <a:spcPts val="0"/>
              </a:spcAft>
              <a:buClr>
                <a:schemeClr val="dk1"/>
              </a:buClr>
              <a:buSzPct val="84615"/>
              <a:buFont typeface="Arial"/>
              <a:buNone/>
            </a:pPr>
            <a:r>
              <a:rPr lang="en" sz="1300"/>
              <a:t>"Recieved_At" || '-' || "Outcome_1") AS unique_calls</a:t>
            </a:r>
            <a:endParaRPr sz="1300"/>
          </a:p>
          <a:p>
            <a:pPr indent="0" lvl="0" marL="0" rtl="0" algn="l">
              <a:lnSpc>
                <a:spcPct val="115000"/>
              </a:lnSpc>
              <a:spcBef>
                <a:spcPts val="1200"/>
              </a:spcBef>
              <a:spcAft>
                <a:spcPts val="0"/>
              </a:spcAft>
              <a:buClr>
                <a:schemeClr val="dk1"/>
              </a:buClr>
              <a:buSzPct val="84615"/>
              <a:buFont typeface="Arial"/>
              <a:buNone/>
            </a:pPr>
            <a:r>
              <a:rPr lang="en" sz="1300"/>
              <a:t>FROM "Cleaned_OutreachData";</a:t>
            </a:r>
            <a:endParaRPr sz="1300"/>
          </a:p>
          <a:p>
            <a:pPr indent="0" lvl="0" marL="0" rtl="0" algn="l">
              <a:lnSpc>
                <a:spcPct val="115000"/>
              </a:lnSpc>
              <a:spcBef>
                <a:spcPts val="1200"/>
              </a:spcBef>
              <a:spcAft>
                <a:spcPts val="0"/>
              </a:spcAft>
              <a:buClr>
                <a:schemeClr val="dk1"/>
              </a:buClr>
              <a:buSzPct val="84615"/>
              <a:buFont typeface="Arial"/>
              <a:buNone/>
            </a:pPr>
            <a:r>
              <a:rPr lang="en" sz="1300"/>
              <a:t>Total calls = 33119</a:t>
            </a:r>
            <a:endParaRPr sz="1300"/>
          </a:p>
          <a:p>
            <a:pPr indent="0" lvl="0" marL="0" rtl="0" algn="l">
              <a:lnSpc>
                <a:spcPct val="115000"/>
              </a:lnSpc>
              <a:spcBef>
                <a:spcPts val="1200"/>
              </a:spcBef>
              <a:spcAft>
                <a:spcPts val="0"/>
              </a:spcAft>
              <a:buClr>
                <a:schemeClr val="dk1"/>
              </a:buClr>
              <a:buSzPct val="84615"/>
              <a:buFont typeface="Arial"/>
              <a:buNone/>
            </a:pPr>
            <a:r>
              <a:rPr lang="en" sz="1300"/>
              <a:t>Unique call = 33114</a:t>
            </a:r>
            <a:endParaRPr sz="1300"/>
          </a:p>
          <a:p>
            <a:pPr indent="0" lvl="0" marL="0" rtl="0" algn="l">
              <a:lnSpc>
                <a:spcPct val="115000"/>
              </a:lnSpc>
              <a:spcBef>
                <a:spcPts val="1200"/>
              </a:spcBef>
              <a:spcAft>
                <a:spcPts val="0"/>
              </a:spcAft>
              <a:buClr>
                <a:schemeClr val="dk1"/>
              </a:buClr>
              <a:buSzPct val="84615"/>
              <a:buFont typeface="Arial"/>
              <a:buNone/>
            </a:pPr>
            <a:r>
              <a:rPr lang="en" sz="1300"/>
              <a:t>During data validation, we found 5 duplicate call records out of 33,119 total calls, representing approximately 0.015% of the dataset.</a:t>
            </a:r>
            <a:endParaRPr sz="1300"/>
          </a:p>
          <a:p>
            <a:pPr indent="0" lvl="0" marL="0" rtl="0" algn="l">
              <a:lnSpc>
                <a:spcPct val="115000"/>
              </a:lnSpc>
              <a:spcBef>
                <a:spcPts val="1200"/>
              </a:spcBef>
              <a:spcAft>
                <a:spcPts val="0"/>
              </a:spcAft>
              <a:buClr>
                <a:schemeClr val="dk1"/>
              </a:buClr>
              <a:buSzPct val="84615"/>
              <a:buFont typeface="Arial"/>
              <a:buNone/>
            </a:pPr>
            <a:r>
              <a:rPr lang="en" sz="1300"/>
              <a:t>This minimal duplication has an insignificant impact on the overall analysis and visualizations. Therefore, these duplicates were not removed for the current analysis, but they can be cleaned in future iterations for complete data integrity.</a:t>
            </a:r>
            <a:endParaRPr sz="1300"/>
          </a:p>
          <a:p>
            <a:pPr indent="0" lvl="0" marL="0" rtl="0" algn="l">
              <a:spcBef>
                <a:spcPts val="0"/>
              </a:spcBef>
              <a:spcAft>
                <a:spcPts val="1200"/>
              </a:spcAft>
              <a:buNone/>
            </a:pPr>
            <a:r>
              <a:t/>
            </a:r>
            <a:endParaRPr/>
          </a:p>
        </p:txBody>
      </p:sp>
      <p:pic>
        <p:nvPicPr>
          <p:cNvPr id="167" name="Google Shape;167;p28"/>
          <p:cNvPicPr preferRelativeResize="0"/>
          <p:nvPr/>
        </p:nvPicPr>
        <p:blipFill>
          <a:blip r:embed="rId3">
            <a:alphaModFix/>
          </a:blip>
          <a:stretch>
            <a:fillRect/>
          </a:stretch>
        </p:blipFill>
        <p:spPr>
          <a:xfrm>
            <a:off x="4944325" y="666775"/>
            <a:ext cx="3934800" cy="2252334"/>
          </a:xfrm>
          <a:prstGeom prst="rect">
            <a:avLst/>
          </a:prstGeom>
          <a:noFill/>
          <a:ln>
            <a:noFill/>
          </a:ln>
        </p:spPr>
      </p:pic>
      <p:pic>
        <p:nvPicPr>
          <p:cNvPr id="168" name="Google Shape;168;p28"/>
          <p:cNvPicPr preferRelativeResize="0"/>
          <p:nvPr/>
        </p:nvPicPr>
        <p:blipFill>
          <a:blip r:embed="rId4">
            <a:alphaModFix/>
          </a:blip>
          <a:stretch>
            <a:fillRect/>
          </a:stretch>
        </p:blipFill>
        <p:spPr>
          <a:xfrm>
            <a:off x="4639776" y="445025"/>
            <a:ext cx="4439174" cy="2716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74" name="Google Shape;174;p29"/>
          <p:cNvSpPr txBox="1"/>
          <p:nvPr>
            <p:ph idx="1" type="body"/>
          </p:nvPr>
        </p:nvSpPr>
        <p:spPr>
          <a:xfrm>
            <a:off x="311700" y="1152475"/>
            <a:ext cx="4832700" cy="37551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Clr>
                <a:schemeClr val="dk1"/>
              </a:buClr>
              <a:buSzPct val="100000"/>
              <a:buFont typeface="Arial"/>
              <a:buNone/>
            </a:pPr>
            <a:r>
              <a:rPr b="1" lang="en" sz="1100"/>
              <a:t>Statistical Record of Total Calls:</a:t>
            </a:r>
            <a:endParaRPr b="1" sz="1100"/>
          </a:p>
          <a:p>
            <a:pPr indent="0" lvl="0" marL="0" rtl="0" algn="l">
              <a:lnSpc>
                <a:spcPct val="115000"/>
              </a:lnSpc>
              <a:spcBef>
                <a:spcPts val="1200"/>
              </a:spcBef>
              <a:spcAft>
                <a:spcPts val="0"/>
              </a:spcAft>
              <a:buClr>
                <a:schemeClr val="dk1"/>
              </a:buClr>
              <a:buSzPct val="122222"/>
              <a:buFont typeface="Arial"/>
              <a:buNone/>
            </a:pPr>
            <a:r>
              <a:rPr lang="en" sz="900"/>
              <a:t>SELECT</a:t>
            </a:r>
            <a:endParaRPr sz="900"/>
          </a:p>
          <a:p>
            <a:pPr indent="0" lvl="0" marL="0" rtl="0" algn="l">
              <a:lnSpc>
                <a:spcPct val="115000"/>
              </a:lnSpc>
              <a:spcBef>
                <a:spcPts val="1200"/>
              </a:spcBef>
              <a:spcAft>
                <a:spcPts val="0"/>
              </a:spcAft>
              <a:buClr>
                <a:schemeClr val="dk1"/>
              </a:buClr>
              <a:buSzPct val="122222"/>
              <a:buFont typeface="Arial"/>
              <a:buNone/>
            </a:pPr>
            <a:r>
              <a:rPr lang="en" sz="900"/>
              <a:t>	COUNT(*) AS total_calls,</a:t>
            </a:r>
            <a:endParaRPr sz="900"/>
          </a:p>
          <a:p>
            <a:pPr indent="0" lvl="0" marL="0" rtl="0" algn="l">
              <a:lnSpc>
                <a:spcPct val="115000"/>
              </a:lnSpc>
              <a:spcBef>
                <a:spcPts val="1200"/>
              </a:spcBef>
              <a:spcAft>
                <a:spcPts val="0"/>
              </a:spcAft>
              <a:buClr>
                <a:schemeClr val="dk1"/>
              </a:buClr>
              <a:buSzPct val="122222"/>
              <a:buFont typeface="Arial"/>
              <a:buNone/>
            </a:pPr>
            <a:r>
              <a:rPr lang="en" sz="900"/>
              <a:t>	COUNT(*) FILTER (WHERE "Outcome_1" NOT IN ('Not Connected', 'Disconnected')) AS connected_calls,</a:t>
            </a:r>
            <a:endParaRPr sz="900"/>
          </a:p>
          <a:p>
            <a:pPr indent="0" lvl="0" marL="0" rtl="0" algn="l">
              <a:lnSpc>
                <a:spcPct val="115000"/>
              </a:lnSpc>
              <a:spcBef>
                <a:spcPts val="1200"/>
              </a:spcBef>
              <a:spcAft>
                <a:spcPts val="0"/>
              </a:spcAft>
              <a:buClr>
                <a:schemeClr val="dk1"/>
              </a:buClr>
              <a:buSzPct val="122222"/>
              <a:buFont typeface="Arial"/>
              <a:buNone/>
            </a:pPr>
            <a:r>
              <a:rPr lang="en" sz="900"/>
              <a:t>	COUNT(*) FILTER (WHERE "Outcome_1" IN ('Not Connected', 'Disconnected')) AS disconnected_calls</a:t>
            </a:r>
            <a:endParaRPr sz="900"/>
          </a:p>
          <a:p>
            <a:pPr indent="0" lvl="0" marL="0" rtl="0" algn="l">
              <a:lnSpc>
                <a:spcPct val="115000"/>
              </a:lnSpc>
              <a:spcBef>
                <a:spcPts val="1200"/>
              </a:spcBef>
              <a:spcAft>
                <a:spcPts val="0"/>
              </a:spcAft>
              <a:buClr>
                <a:schemeClr val="dk1"/>
              </a:buClr>
              <a:buSzPct val="122222"/>
              <a:buFont typeface="Arial"/>
              <a:buNone/>
            </a:pPr>
            <a:r>
              <a:rPr lang="en" sz="900"/>
              <a:t>FROM "Cleaned_OutreachData";</a:t>
            </a:r>
            <a:endParaRPr sz="900"/>
          </a:p>
          <a:p>
            <a:pPr indent="0" lvl="0" marL="0" rtl="0" algn="l">
              <a:lnSpc>
                <a:spcPct val="115000"/>
              </a:lnSpc>
              <a:spcBef>
                <a:spcPts val="1200"/>
              </a:spcBef>
              <a:spcAft>
                <a:spcPts val="0"/>
              </a:spcAft>
              <a:buClr>
                <a:schemeClr val="dk1"/>
              </a:buClr>
              <a:buSzPct val="110000"/>
              <a:buFont typeface="Arial"/>
              <a:buNone/>
            </a:pPr>
            <a:r>
              <a:rPr lang="en" sz="1000"/>
              <a:t>Here, Connected calls = 31769, Disconnected calls = 1350, and Total calls = 33119</a:t>
            </a:r>
            <a:endParaRPr sz="1000"/>
          </a:p>
          <a:p>
            <a:pPr indent="0" lvl="0" marL="0" rtl="0" algn="l">
              <a:lnSpc>
                <a:spcPct val="115000"/>
              </a:lnSpc>
              <a:spcBef>
                <a:spcPts val="1200"/>
              </a:spcBef>
              <a:spcAft>
                <a:spcPts val="0"/>
              </a:spcAft>
              <a:buClr>
                <a:schemeClr val="dk1"/>
              </a:buClr>
              <a:buSzPct val="110000"/>
              <a:buFont typeface="Arial"/>
              <a:buNone/>
            </a:pPr>
            <a:r>
              <a:rPr lang="en" sz="1000"/>
              <a:t>For business rule validation, we classified all call outcomes as either Connected or Disconnected.</a:t>
            </a:r>
            <a:endParaRPr sz="1000"/>
          </a:p>
          <a:p>
            <a:pPr indent="0" lvl="0" marL="0" rtl="0" algn="l">
              <a:lnSpc>
                <a:spcPct val="115000"/>
              </a:lnSpc>
              <a:spcBef>
                <a:spcPts val="1200"/>
              </a:spcBef>
              <a:spcAft>
                <a:spcPts val="0"/>
              </a:spcAft>
              <a:buClr>
                <a:schemeClr val="dk1"/>
              </a:buClr>
              <a:buSzPct val="110000"/>
              <a:buFont typeface="Arial"/>
              <a:buNone/>
            </a:pPr>
            <a:r>
              <a:rPr lang="en" sz="1000"/>
              <a:t>‘Not Connected’ and ‘Disconnected’ outcomes were grouped as Disconnected, while all other outcomes were considered Connected.</a:t>
            </a:r>
            <a:endParaRPr sz="1000"/>
          </a:p>
          <a:p>
            <a:pPr indent="0" lvl="0" marL="0" rtl="0" algn="l">
              <a:lnSpc>
                <a:spcPct val="115000"/>
              </a:lnSpc>
              <a:spcBef>
                <a:spcPts val="1200"/>
              </a:spcBef>
              <a:spcAft>
                <a:spcPts val="0"/>
              </a:spcAft>
              <a:buClr>
                <a:schemeClr val="dk1"/>
              </a:buClr>
              <a:buSzPct val="110000"/>
              <a:buFont typeface="Arial"/>
              <a:buNone/>
            </a:pPr>
            <a:r>
              <a:rPr lang="en" sz="1000"/>
              <a:t>This allowed us to validate total calls against connected and disconnected counts for consistency</a:t>
            </a:r>
            <a:endParaRPr sz="1000"/>
          </a:p>
          <a:p>
            <a:pPr indent="0" lvl="0" marL="0" rtl="0" algn="l">
              <a:spcBef>
                <a:spcPts val="0"/>
              </a:spcBef>
              <a:spcAft>
                <a:spcPts val="1200"/>
              </a:spcAft>
              <a:buNone/>
            </a:pPr>
            <a:r>
              <a:t/>
            </a:r>
            <a:endParaRPr/>
          </a:p>
        </p:txBody>
      </p:sp>
      <p:pic>
        <p:nvPicPr>
          <p:cNvPr id="175" name="Google Shape;175;p29"/>
          <p:cNvPicPr preferRelativeResize="0"/>
          <p:nvPr/>
        </p:nvPicPr>
        <p:blipFill>
          <a:blip r:embed="rId3">
            <a:alphaModFix/>
          </a:blip>
          <a:stretch>
            <a:fillRect/>
          </a:stretch>
        </p:blipFill>
        <p:spPr>
          <a:xfrm>
            <a:off x="5144400" y="1170125"/>
            <a:ext cx="3847201" cy="318133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81" name="Google Shape;181;p30"/>
          <p:cNvSpPr txBox="1"/>
          <p:nvPr>
            <p:ph idx="1" type="body"/>
          </p:nvPr>
        </p:nvSpPr>
        <p:spPr>
          <a:xfrm>
            <a:off x="311700" y="1152475"/>
            <a:ext cx="4832700" cy="38346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Clr>
                <a:schemeClr val="dk1"/>
              </a:buClr>
              <a:buSzPct val="100000"/>
              <a:buFont typeface="Arial"/>
              <a:buNone/>
            </a:pPr>
            <a:r>
              <a:rPr b="1" lang="en" sz="1100"/>
              <a:t>Statistical Record of Total Calls:</a:t>
            </a:r>
            <a:endParaRPr b="1" sz="1100"/>
          </a:p>
          <a:p>
            <a:pPr indent="0" lvl="0" marL="0" rtl="0" algn="l">
              <a:lnSpc>
                <a:spcPct val="115000"/>
              </a:lnSpc>
              <a:spcBef>
                <a:spcPts val="1200"/>
              </a:spcBef>
              <a:spcAft>
                <a:spcPts val="0"/>
              </a:spcAft>
              <a:buClr>
                <a:schemeClr val="dk1"/>
              </a:buClr>
              <a:buSzPct val="122222"/>
              <a:buFont typeface="Arial"/>
              <a:buNone/>
            </a:pPr>
            <a:r>
              <a:rPr lang="en" sz="900"/>
              <a:t>SELECT</a:t>
            </a:r>
            <a:endParaRPr sz="900"/>
          </a:p>
          <a:p>
            <a:pPr indent="0" lvl="0" marL="0" rtl="0" algn="l">
              <a:lnSpc>
                <a:spcPct val="115000"/>
              </a:lnSpc>
              <a:spcBef>
                <a:spcPts val="1200"/>
              </a:spcBef>
              <a:spcAft>
                <a:spcPts val="0"/>
              </a:spcAft>
              <a:buClr>
                <a:schemeClr val="dk1"/>
              </a:buClr>
              <a:buSzPct val="122222"/>
              <a:buFont typeface="Arial"/>
              <a:buNone/>
            </a:pPr>
            <a:r>
              <a:rPr lang="en" sz="900"/>
              <a:t>	COUNT(*) AS total_calls,</a:t>
            </a:r>
            <a:endParaRPr sz="900"/>
          </a:p>
          <a:p>
            <a:pPr indent="0" lvl="0" marL="0" rtl="0" algn="l">
              <a:lnSpc>
                <a:spcPct val="115000"/>
              </a:lnSpc>
              <a:spcBef>
                <a:spcPts val="1200"/>
              </a:spcBef>
              <a:spcAft>
                <a:spcPts val="0"/>
              </a:spcAft>
              <a:buClr>
                <a:schemeClr val="dk1"/>
              </a:buClr>
              <a:buSzPct val="122222"/>
              <a:buFont typeface="Arial"/>
              <a:buNone/>
            </a:pPr>
            <a:r>
              <a:rPr lang="en" sz="900"/>
              <a:t>	COUNT(*) FILTER (WHERE "Outcome_1" NOT IN ('Not Connected', 'Disconnected')) AS connected_calls,</a:t>
            </a:r>
            <a:endParaRPr sz="900"/>
          </a:p>
          <a:p>
            <a:pPr indent="0" lvl="0" marL="0" rtl="0" algn="l">
              <a:lnSpc>
                <a:spcPct val="115000"/>
              </a:lnSpc>
              <a:spcBef>
                <a:spcPts val="1200"/>
              </a:spcBef>
              <a:spcAft>
                <a:spcPts val="0"/>
              </a:spcAft>
              <a:buClr>
                <a:schemeClr val="dk1"/>
              </a:buClr>
              <a:buSzPct val="122222"/>
              <a:buFont typeface="Arial"/>
              <a:buNone/>
            </a:pPr>
            <a:r>
              <a:rPr lang="en" sz="900"/>
              <a:t>	COUNT(*) FILTER (WHERE "Outcome_1" IN ('Not Connected', 'Disconnected')) AS disconnected_calls</a:t>
            </a:r>
            <a:endParaRPr sz="900"/>
          </a:p>
          <a:p>
            <a:pPr indent="0" lvl="0" marL="0" rtl="0" algn="l">
              <a:lnSpc>
                <a:spcPct val="115000"/>
              </a:lnSpc>
              <a:spcBef>
                <a:spcPts val="1200"/>
              </a:spcBef>
              <a:spcAft>
                <a:spcPts val="0"/>
              </a:spcAft>
              <a:buClr>
                <a:schemeClr val="dk1"/>
              </a:buClr>
              <a:buSzPct val="122222"/>
              <a:buFont typeface="Arial"/>
              <a:buNone/>
            </a:pPr>
            <a:r>
              <a:rPr lang="en" sz="900"/>
              <a:t>FROM "Cleaned_OutreachData";</a:t>
            </a:r>
            <a:endParaRPr sz="900"/>
          </a:p>
          <a:p>
            <a:pPr indent="0" lvl="0" marL="0" rtl="0" algn="l">
              <a:lnSpc>
                <a:spcPct val="115000"/>
              </a:lnSpc>
              <a:spcBef>
                <a:spcPts val="1200"/>
              </a:spcBef>
              <a:spcAft>
                <a:spcPts val="0"/>
              </a:spcAft>
              <a:buClr>
                <a:schemeClr val="dk1"/>
              </a:buClr>
              <a:buSzPct val="110000"/>
              <a:buFont typeface="Arial"/>
              <a:buNone/>
            </a:pPr>
            <a:r>
              <a:rPr lang="en" sz="1000"/>
              <a:t>Here, Connected calls = 31769, Disconnected calls = 1350, and Total calls = 33119</a:t>
            </a:r>
            <a:endParaRPr sz="1000"/>
          </a:p>
          <a:p>
            <a:pPr indent="0" lvl="0" marL="0" rtl="0" algn="l">
              <a:lnSpc>
                <a:spcPct val="115000"/>
              </a:lnSpc>
              <a:spcBef>
                <a:spcPts val="1200"/>
              </a:spcBef>
              <a:spcAft>
                <a:spcPts val="0"/>
              </a:spcAft>
              <a:buClr>
                <a:schemeClr val="dk1"/>
              </a:buClr>
              <a:buSzPct val="110000"/>
              <a:buFont typeface="Arial"/>
              <a:buNone/>
            </a:pPr>
            <a:r>
              <a:rPr lang="en" sz="1000"/>
              <a:t>For business rule validation, we classified all call outcomes as either Connected or Disconnected.</a:t>
            </a:r>
            <a:endParaRPr sz="1000"/>
          </a:p>
          <a:p>
            <a:pPr indent="0" lvl="0" marL="0" rtl="0" algn="l">
              <a:lnSpc>
                <a:spcPct val="115000"/>
              </a:lnSpc>
              <a:spcBef>
                <a:spcPts val="1200"/>
              </a:spcBef>
              <a:spcAft>
                <a:spcPts val="0"/>
              </a:spcAft>
              <a:buClr>
                <a:schemeClr val="dk1"/>
              </a:buClr>
              <a:buSzPct val="110000"/>
              <a:buFont typeface="Arial"/>
              <a:buNone/>
            </a:pPr>
            <a:r>
              <a:rPr lang="en" sz="1000"/>
              <a:t>‘Not Connected’ and ‘Disconnected’ outcomes were grouped as Disconnected, while all other outcomes were considered Connected.</a:t>
            </a:r>
            <a:endParaRPr sz="1000"/>
          </a:p>
          <a:p>
            <a:pPr indent="0" lvl="0" marL="0" rtl="0" algn="l">
              <a:lnSpc>
                <a:spcPct val="115000"/>
              </a:lnSpc>
              <a:spcBef>
                <a:spcPts val="1200"/>
              </a:spcBef>
              <a:spcAft>
                <a:spcPts val="0"/>
              </a:spcAft>
              <a:buClr>
                <a:schemeClr val="dk1"/>
              </a:buClr>
              <a:buSzPct val="110000"/>
              <a:buFont typeface="Arial"/>
              <a:buNone/>
            </a:pPr>
            <a:r>
              <a:rPr lang="en" sz="1000"/>
              <a:t>This allowed us to validate total calls against connected and disconnected counts for consistency</a:t>
            </a:r>
            <a:endParaRPr sz="1000"/>
          </a:p>
          <a:p>
            <a:pPr indent="0" lvl="0" marL="0" rtl="0" algn="l">
              <a:spcBef>
                <a:spcPts val="0"/>
              </a:spcBef>
              <a:spcAft>
                <a:spcPts val="1200"/>
              </a:spcAft>
              <a:buNone/>
            </a:pPr>
            <a:r>
              <a:t/>
            </a:r>
            <a:endParaRPr/>
          </a:p>
        </p:txBody>
      </p:sp>
      <p:pic>
        <p:nvPicPr>
          <p:cNvPr id="182" name="Google Shape;182;p30"/>
          <p:cNvPicPr preferRelativeResize="0"/>
          <p:nvPr/>
        </p:nvPicPr>
        <p:blipFill>
          <a:blip r:embed="rId3">
            <a:alphaModFix/>
          </a:blip>
          <a:stretch>
            <a:fillRect/>
          </a:stretch>
        </p:blipFill>
        <p:spPr>
          <a:xfrm>
            <a:off x="5144400" y="1170125"/>
            <a:ext cx="3847201" cy="318133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88" name="Google Shape;188;p31"/>
          <p:cNvSpPr txBox="1"/>
          <p:nvPr>
            <p:ph idx="1" type="body"/>
          </p:nvPr>
        </p:nvSpPr>
        <p:spPr>
          <a:xfrm>
            <a:off x="311700" y="1152475"/>
            <a:ext cx="4373700" cy="3698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Clr>
                <a:schemeClr val="dk1"/>
              </a:buClr>
              <a:buSzPct val="52380"/>
              <a:buFont typeface="Arial"/>
              <a:buNone/>
            </a:pPr>
            <a:r>
              <a:rPr b="1" lang="en" sz="2100"/>
              <a:t>Validation of Campaign and Outreach Timeframes:</a:t>
            </a:r>
            <a:endParaRPr b="1" sz="2100"/>
          </a:p>
          <a:p>
            <a:pPr indent="0" lvl="0" marL="0" rtl="0" algn="l">
              <a:spcBef>
                <a:spcPts val="1200"/>
              </a:spcBef>
              <a:spcAft>
                <a:spcPts val="0"/>
              </a:spcAft>
              <a:buClr>
                <a:schemeClr val="dk1"/>
              </a:buClr>
              <a:buSzPct val="110000"/>
              <a:buFont typeface="Arial"/>
              <a:buNone/>
            </a:pPr>
            <a:r>
              <a:rPr lang="en" sz="1000"/>
              <a:t>SELECT o."Outreach_ID", o."Campaign_ID", c."Intake", c."Start_Date" AS campaign_start,</a:t>
            </a:r>
            <a:endParaRPr sz="1000"/>
          </a:p>
          <a:p>
            <a:pPr indent="0" lvl="0" marL="0" rtl="0" algn="l">
              <a:spcBef>
                <a:spcPts val="1200"/>
              </a:spcBef>
              <a:spcAft>
                <a:spcPts val="0"/>
              </a:spcAft>
              <a:buClr>
                <a:schemeClr val="dk1"/>
              </a:buClr>
              <a:buSzPct val="110000"/>
              <a:buFont typeface="Arial"/>
              <a:buNone/>
            </a:pPr>
            <a:r>
              <a:rPr lang="en" sz="1000"/>
              <a:t>   	o."Recieved_At" AS outreach_date</a:t>
            </a:r>
            <a:endParaRPr sz="1000"/>
          </a:p>
          <a:p>
            <a:pPr indent="0" lvl="0" marL="0" rtl="0" algn="l">
              <a:spcBef>
                <a:spcPts val="1200"/>
              </a:spcBef>
              <a:spcAft>
                <a:spcPts val="0"/>
              </a:spcAft>
              <a:buClr>
                <a:schemeClr val="dk1"/>
              </a:buClr>
              <a:buSzPct val="110000"/>
              <a:buFont typeface="Arial"/>
              <a:buNone/>
            </a:pPr>
            <a:r>
              <a:rPr lang="en" sz="1000"/>
              <a:t>FROM "Cleaned_OutreachData" o</a:t>
            </a:r>
            <a:endParaRPr sz="1000"/>
          </a:p>
          <a:p>
            <a:pPr indent="0" lvl="0" marL="0" rtl="0" algn="l">
              <a:spcBef>
                <a:spcPts val="1200"/>
              </a:spcBef>
              <a:spcAft>
                <a:spcPts val="0"/>
              </a:spcAft>
              <a:buClr>
                <a:schemeClr val="dk1"/>
              </a:buClr>
              <a:buSzPct val="110000"/>
              <a:buFont typeface="Arial"/>
              <a:buNone/>
            </a:pPr>
            <a:r>
              <a:rPr lang="en" sz="1000"/>
              <a:t>JOIN "Cleaned_CampaignData" c</a:t>
            </a:r>
            <a:endParaRPr sz="1000"/>
          </a:p>
          <a:p>
            <a:pPr indent="0" lvl="0" marL="0" rtl="0" algn="l">
              <a:spcBef>
                <a:spcPts val="1200"/>
              </a:spcBef>
              <a:spcAft>
                <a:spcPts val="0"/>
              </a:spcAft>
              <a:buClr>
                <a:schemeClr val="dk1"/>
              </a:buClr>
              <a:buSzPct val="110000"/>
              <a:buFont typeface="Arial"/>
              <a:buNone/>
            </a:pPr>
            <a:r>
              <a:rPr lang="en" sz="1000"/>
              <a:t>ON o."Campaign_ID" = c."ID"</a:t>
            </a:r>
            <a:endParaRPr sz="1000"/>
          </a:p>
          <a:p>
            <a:pPr indent="0" lvl="0" marL="0" rtl="0" algn="l">
              <a:spcBef>
                <a:spcPts val="1200"/>
              </a:spcBef>
              <a:spcAft>
                <a:spcPts val="0"/>
              </a:spcAft>
              <a:buClr>
                <a:schemeClr val="dk1"/>
              </a:buClr>
              <a:buSzPct val="110000"/>
              <a:buFont typeface="Arial"/>
              <a:buNone/>
            </a:pPr>
            <a:r>
              <a:rPr lang="en" sz="1000"/>
              <a:t>WHERE o."Recieved_At" &lt; c."Start_Date"</a:t>
            </a:r>
            <a:endParaRPr sz="1000"/>
          </a:p>
          <a:p>
            <a:pPr indent="0" lvl="0" marL="0" rtl="0" algn="l">
              <a:spcBef>
                <a:spcPts val="1200"/>
              </a:spcBef>
              <a:spcAft>
                <a:spcPts val="0"/>
              </a:spcAft>
              <a:buClr>
                <a:schemeClr val="dk1"/>
              </a:buClr>
              <a:buSzPct val="110000"/>
              <a:buFont typeface="Arial"/>
              <a:buNone/>
            </a:pPr>
            <a:r>
              <a:rPr lang="en" sz="1000"/>
              <a:t>   OR o."Recieved_At" &gt;</a:t>
            </a:r>
            <a:endParaRPr sz="1000"/>
          </a:p>
          <a:p>
            <a:pPr indent="0" lvl="0" marL="0" rtl="0" algn="l">
              <a:spcBef>
                <a:spcPts val="1200"/>
              </a:spcBef>
              <a:spcAft>
                <a:spcPts val="0"/>
              </a:spcAft>
              <a:buClr>
                <a:schemeClr val="dk1"/>
              </a:buClr>
              <a:buSzPct val="110000"/>
              <a:buFont typeface="Arial"/>
              <a:buNone/>
            </a:pPr>
            <a:r>
              <a:rPr lang="en" sz="1000"/>
              <a:t>  	CASE</a:t>
            </a:r>
            <a:endParaRPr sz="1000"/>
          </a:p>
          <a:p>
            <a:pPr indent="0" lvl="0" marL="0" rtl="0" algn="l">
              <a:spcBef>
                <a:spcPts val="1200"/>
              </a:spcBef>
              <a:spcAft>
                <a:spcPts val="0"/>
              </a:spcAft>
              <a:buClr>
                <a:schemeClr val="dk1"/>
              </a:buClr>
              <a:buSzPct val="110000"/>
              <a:buFont typeface="Arial"/>
              <a:buNone/>
            </a:pPr>
            <a:r>
              <a:rPr lang="en" sz="1000"/>
              <a:t>      	WHEN c."Intake" LIKE '%24%' THEN '2024-12-31'::date</a:t>
            </a:r>
            <a:endParaRPr sz="1000"/>
          </a:p>
          <a:p>
            <a:pPr indent="0" lvl="0" marL="0" rtl="0" algn="l">
              <a:spcBef>
                <a:spcPts val="1200"/>
              </a:spcBef>
              <a:spcAft>
                <a:spcPts val="0"/>
              </a:spcAft>
              <a:buClr>
                <a:schemeClr val="dk1"/>
              </a:buClr>
              <a:buSzPct val="110000"/>
              <a:buFont typeface="Arial"/>
              <a:buNone/>
            </a:pPr>
            <a:r>
              <a:rPr lang="en" sz="1000"/>
              <a:t>      	WHEN c."Intake" LIKE '%25%' THEN '2025-12-31'::date</a:t>
            </a:r>
            <a:endParaRPr sz="1000"/>
          </a:p>
          <a:p>
            <a:pPr indent="0" lvl="0" marL="0" rtl="0" algn="l">
              <a:spcBef>
                <a:spcPts val="1200"/>
              </a:spcBef>
              <a:spcAft>
                <a:spcPts val="0"/>
              </a:spcAft>
              <a:buClr>
                <a:schemeClr val="dk1"/>
              </a:buClr>
              <a:buSzPct val="110000"/>
              <a:buFont typeface="Arial"/>
              <a:buNone/>
            </a:pPr>
            <a:r>
              <a:rPr lang="en" sz="1000"/>
              <a:t>      	ELSE o."Recieved_At"</a:t>
            </a:r>
            <a:endParaRPr sz="1000"/>
          </a:p>
          <a:p>
            <a:pPr indent="0" lvl="0" marL="0" rtl="0" algn="l">
              <a:spcBef>
                <a:spcPts val="1200"/>
              </a:spcBef>
              <a:spcAft>
                <a:spcPts val="0"/>
              </a:spcAft>
              <a:buClr>
                <a:schemeClr val="dk1"/>
              </a:buClr>
              <a:buSzPct val="110000"/>
              <a:buFont typeface="Arial"/>
              <a:buNone/>
            </a:pPr>
            <a:r>
              <a:rPr lang="en" sz="1000"/>
              <a:t>  	END;</a:t>
            </a:r>
            <a:endParaRPr sz="1000"/>
          </a:p>
          <a:p>
            <a:pPr indent="0" lvl="0" marL="0" rtl="0" algn="l">
              <a:spcBef>
                <a:spcPts val="0"/>
              </a:spcBef>
              <a:spcAft>
                <a:spcPts val="1200"/>
              </a:spcAft>
              <a:buNone/>
            </a:pPr>
            <a:r>
              <a:t/>
            </a:r>
            <a:endParaRPr/>
          </a:p>
        </p:txBody>
      </p:sp>
      <p:pic>
        <p:nvPicPr>
          <p:cNvPr id="189" name="Google Shape;189;p31"/>
          <p:cNvPicPr preferRelativeResize="0"/>
          <p:nvPr/>
        </p:nvPicPr>
        <p:blipFill>
          <a:blip r:embed="rId3">
            <a:alphaModFix/>
          </a:blip>
          <a:stretch>
            <a:fillRect/>
          </a:stretch>
        </p:blipFill>
        <p:spPr>
          <a:xfrm>
            <a:off x="4882625" y="762050"/>
            <a:ext cx="3402925" cy="2721000"/>
          </a:xfrm>
          <a:prstGeom prst="rect">
            <a:avLst/>
          </a:prstGeom>
          <a:noFill/>
          <a:ln>
            <a:noFill/>
          </a:ln>
        </p:spPr>
      </p:pic>
      <p:sp>
        <p:nvSpPr>
          <p:cNvPr id="190" name="Google Shape;190;p31"/>
          <p:cNvSpPr txBox="1"/>
          <p:nvPr/>
        </p:nvSpPr>
        <p:spPr>
          <a:xfrm>
            <a:off x="4882625" y="3705725"/>
            <a:ext cx="3949800" cy="133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00">
                <a:solidFill>
                  <a:srgbClr val="AC1146"/>
                </a:solidFill>
              </a:rPr>
              <a:t>Campaigns for intakes FA24 and SP25 were planned for 2024 and 2025, respectively. Outreach and marketing activities began earlier, with some Start_Dates in 2023, which is consistent with standard marketing practice and does not indicate a data error.</a:t>
            </a:r>
            <a:br>
              <a:rPr lang="en" sz="1000">
                <a:solidFill>
                  <a:srgbClr val="AC1146"/>
                </a:solidFill>
              </a:rPr>
            </a:br>
            <a:r>
              <a:rPr lang="en" sz="1000">
                <a:solidFill>
                  <a:srgbClr val="AC1146"/>
                </a:solidFill>
              </a:rPr>
              <a:t> Business rule validation confirms that no campaign Start_Date exceeds its intake year range. </a:t>
            </a:r>
            <a:endParaRPr sz="1000">
              <a:solidFill>
                <a:srgbClr val="AC1146"/>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 are trying to find?</a:t>
            </a:r>
            <a:endParaRPr/>
          </a:p>
        </p:txBody>
      </p:sp>
      <p:sp>
        <p:nvSpPr>
          <p:cNvPr id="196" name="Google Shape;19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Connectivity rate and general overlook of data</a:t>
            </a:r>
            <a:endParaRPr/>
          </a:p>
          <a:p>
            <a:pPr indent="-342900" lvl="0" marL="457200" rtl="0" algn="l">
              <a:spcBef>
                <a:spcPts val="0"/>
              </a:spcBef>
              <a:spcAft>
                <a:spcPts val="0"/>
              </a:spcAft>
              <a:buSzPts val="1800"/>
              <a:buChar char="●"/>
            </a:pPr>
            <a:r>
              <a:rPr lang="en"/>
              <a:t>Distribution of call outcomes </a:t>
            </a:r>
            <a:endParaRPr/>
          </a:p>
          <a:p>
            <a:pPr indent="-342900" lvl="0" marL="457200" rtl="0" algn="l">
              <a:spcBef>
                <a:spcPts val="0"/>
              </a:spcBef>
              <a:spcAft>
                <a:spcPts val="0"/>
              </a:spcAft>
              <a:buSzPts val="1800"/>
              <a:buChar char="●"/>
            </a:pPr>
            <a:r>
              <a:rPr lang="en"/>
              <a:t>Analyse agent</a:t>
            </a:r>
            <a:endParaRPr/>
          </a:p>
          <a:p>
            <a:pPr indent="-342900" lvl="0" marL="457200" rtl="0" algn="l">
              <a:spcBef>
                <a:spcPts val="0"/>
              </a:spcBef>
              <a:spcAft>
                <a:spcPts val="0"/>
              </a:spcAft>
              <a:buSzPts val="1800"/>
              <a:buChar char="●"/>
            </a:pPr>
            <a:r>
              <a:rPr lang="en"/>
              <a:t>Region distribution</a:t>
            </a:r>
            <a:endParaRPr/>
          </a:p>
          <a:p>
            <a:pPr indent="-342900" lvl="0" marL="457200" rtl="0" algn="l">
              <a:spcBef>
                <a:spcPts val="0"/>
              </a:spcBef>
              <a:spcAft>
                <a:spcPts val="0"/>
              </a:spcAft>
              <a:buSzPts val="1800"/>
              <a:buChar char="●"/>
            </a:pPr>
            <a:r>
              <a:rPr lang="en"/>
              <a:t>Recommendations to boost performance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Overview &amp; Key Metrics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311700" y="161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2"/>
                </a:solidFill>
              </a:rPr>
              <a:t>Summary of Data - KPIs</a:t>
            </a:r>
            <a:endParaRPr>
              <a:solidFill>
                <a:schemeClr val="lt2"/>
              </a:solidFill>
            </a:endParaRPr>
          </a:p>
        </p:txBody>
      </p:sp>
      <p:grpSp>
        <p:nvGrpSpPr>
          <p:cNvPr id="207" name="Google Shape;207;p34"/>
          <p:cNvGrpSpPr/>
          <p:nvPr/>
        </p:nvGrpSpPr>
        <p:grpSpPr>
          <a:xfrm>
            <a:off x="1678500" y="627172"/>
            <a:ext cx="4977817" cy="4264499"/>
            <a:chOff x="1680611" y="627203"/>
            <a:chExt cx="4600995" cy="3941676"/>
          </a:xfrm>
        </p:grpSpPr>
        <p:grpSp>
          <p:nvGrpSpPr>
            <p:cNvPr id="208" name="Google Shape;208;p34"/>
            <p:cNvGrpSpPr/>
            <p:nvPr/>
          </p:nvGrpSpPr>
          <p:grpSpPr>
            <a:xfrm>
              <a:off x="2223712" y="627203"/>
              <a:ext cx="4057895" cy="3941676"/>
              <a:chOff x="2235262" y="677103"/>
              <a:chExt cx="4057895" cy="3941676"/>
            </a:xfrm>
          </p:grpSpPr>
          <p:sp>
            <p:nvSpPr>
              <p:cNvPr id="209" name="Google Shape;209;p34"/>
              <p:cNvSpPr/>
              <p:nvPr/>
            </p:nvSpPr>
            <p:spPr>
              <a:xfrm rot="-6597333">
                <a:off x="4296826" y="3950027"/>
                <a:ext cx="586303" cy="586303"/>
              </a:xfrm>
              <a:prstGeom prst="ellipse">
                <a:avLst/>
              </a:prstGeom>
              <a:solidFill>
                <a:srgbClr val="F48FB1"/>
              </a:solidFill>
              <a:ln>
                <a:noFill/>
              </a:ln>
            </p:spPr>
            <p:txBody>
              <a:bodyPr anchorCtr="0" anchor="ctr" bIns="98925" lIns="98925" spcFirstLastPara="1" rIns="98925" wrap="square" tIns="98925">
                <a:noAutofit/>
              </a:bodyPr>
              <a:lstStyle/>
              <a:p>
                <a:pPr indent="0" lvl="0" marL="0" rtl="0" algn="l">
                  <a:spcBef>
                    <a:spcPts val="0"/>
                  </a:spcBef>
                  <a:spcAft>
                    <a:spcPts val="0"/>
                  </a:spcAft>
                  <a:buNone/>
                </a:pPr>
                <a:r>
                  <a:t/>
                </a:r>
                <a:endParaRPr/>
              </a:p>
            </p:txBody>
          </p:sp>
          <p:sp>
            <p:nvSpPr>
              <p:cNvPr id="210" name="Google Shape;210;p34"/>
              <p:cNvSpPr/>
              <p:nvPr/>
            </p:nvSpPr>
            <p:spPr>
              <a:xfrm rot="-6599386">
                <a:off x="2297291" y="1383213"/>
                <a:ext cx="440541" cy="440541"/>
              </a:xfrm>
              <a:prstGeom prst="ellipse">
                <a:avLst/>
              </a:prstGeom>
              <a:solidFill>
                <a:srgbClr val="F48FB1"/>
              </a:solidFill>
              <a:ln>
                <a:noFill/>
              </a:ln>
            </p:spPr>
            <p:txBody>
              <a:bodyPr anchorCtr="0" anchor="ctr" bIns="98925" lIns="98925" spcFirstLastPara="1" rIns="98925" wrap="square" tIns="98925">
                <a:noAutofit/>
              </a:bodyPr>
              <a:lstStyle/>
              <a:p>
                <a:pPr indent="0" lvl="0" marL="0" rtl="0" algn="l">
                  <a:spcBef>
                    <a:spcPts val="0"/>
                  </a:spcBef>
                  <a:spcAft>
                    <a:spcPts val="0"/>
                  </a:spcAft>
                  <a:buNone/>
                </a:pPr>
                <a:r>
                  <a:t/>
                </a:r>
                <a:endParaRPr/>
              </a:p>
            </p:txBody>
          </p:sp>
          <p:sp>
            <p:nvSpPr>
              <p:cNvPr id="211" name="Google Shape;211;p34"/>
              <p:cNvSpPr/>
              <p:nvPr/>
            </p:nvSpPr>
            <p:spPr>
              <a:xfrm rot="-6598839">
                <a:off x="2887641" y="2346984"/>
                <a:ext cx="1199287" cy="1199287"/>
              </a:xfrm>
              <a:prstGeom prst="ellipse">
                <a:avLst/>
              </a:prstGeom>
              <a:solidFill>
                <a:srgbClr val="F48FB1"/>
              </a:solidFill>
              <a:ln>
                <a:noFill/>
              </a:ln>
            </p:spPr>
            <p:txBody>
              <a:bodyPr anchorCtr="0" anchor="ctr" bIns="98925" lIns="98925" spcFirstLastPara="1" rIns="98925" wrap="square" tIns="98925">
                <a:noAutofit/>
              </a:bodyPr>
              <a:lstStyle/>
              <a:p>
                <a:pPr indent="0" lvl="0" marL="0" rtl="0" algn="l">
                  <a:spcBef>
                    <a:spcPts val="0"/>
                  </a:spcBef>
                  <a:spcAft>
                    <a:spcPts val="0"/>
                  </a:spcAft>
                  <a:buNone/>
                </a:pPr>
                <a:r>
                  <a:t/>
                </a:r>
                <a:endParaRPr/>
              </a:p>
            </p:txBody>
          </p:sp>
          <p:sp>
            <p:nvSpPr>
              <p:cNvPr id="212" name="Google Shape;212;p34"/>
              <p:cNvSpPr/>
              <p:nvPr/>
            </p:nvSpPr>
            <p:spPr>
              <a:xfrm rot="-6598620">
                <a:off x="4374916" y="913763"/>
                <a:ext cx="1681581" cy="1681581"/>
              </a:xfrm>
              <a:prstGeom prst="ellipse">
                <a:avLst/>
              </a:prstGeom>
              <a:solidFill>
                <a:srgbClr val="F48FB1"/>
              </a:solidFill>
              <a:ln>
                <a:noFill/>
              </a:ln>
              <a:effectLst>
                <a:outerShdw blurRad="42863" rotWithShape="0" algn="bl" dir="5400000" dist="57150">
                  <a:srgbClr val="000000"/>
                </a:outerShdw>
              </a:effectLst>
            </p:spPr>
            <p:txBody>
              <a:bodyPr anchorCtr="0" anchor="ctr" bIns="98925" lIns="98925" spcFirstLastPara="1" rIns="98925" wrap="square" tIns="98925">
                <a:noAutofit/>
              </a:bodyPr>
              <a:lstStyle/>
              <a:p>
                <a:pPr indent="0" lvl="0" marL="0" rtl="0" algn="l">
                  <a:spcBef>
                    <a:spcPts val="0"/>
                  </a:spcBef>
                  <a:spcAft>
                    <a:spcPts val="0"/>
                  </a:spcAft>
                  <a:buNone/>
                </a:pPr>
                <a:r>
                  <a:t/>
                </a:r>
                <a:endParaRPr/>
              </a:p>
            </p:txBody>
          </p:sp>
          <p:sp>
            <p:nvSpPr>
              <p:cNvPr id="213" name="Google Shape;213;p34"/>
              <p:cNvSpPr/>
              <p:nvPr/>
            </p:nvSpPr>
            <p:spPr>
              <a:xfrm rot="-6597701">
                <a:off x="3267625" y="1113818"/>
                <a:ext cx="274172" cy="274172"/>
              </a:xfrm>
              <a:prstGeom prst="ellipse">
                <a:avLst/>
              </a:prstGeom>
              <a:solidFill>
                <a:srgbClr val="F48FB1"/>
              </a:solidFill>
              <a:ln>
                <a:noFill/>
              </a:ln>
            </p:spPr>
            <p:txBody>
              <a:bodyPr anchorCtr="0" anchor="ctr" bIns="98925" lIns="98925" spcFirstLastPara="1" rIns="98925" wrap="square" tIns="98925">
                <a:noAutofit/>
              </a:bodyPr>
              <a:lstStyle/>
              <a:p>
                <a:pPr indent="0" lvl="0" marL="0" rtl="0" algn="l">
                  <a:spcBef>
                    <a:spcPts val="0"/>
                  </a:spcBef>
                  <a:spcAft>
                    <a:spcPts val="0"/>
                  </a:spcAft>
                  <a:buNone/>
                </a:pPr>
                <a:r>
                  <a:t/>
                </a:r>
                <a:endParaRPr/>
              </a:p>
            </p:txBody>
          </p:sp>
        </p:grpSp>
        <p:grpSp>
          <p:nvGrpSpPr>
            <p:cNvPr id="214" name="Google Shape;214;p34"/>
            <p:cNvGrpSpPr/>
            <p:nvPr/>
          </p:nvGrpSpPr>
          <p:grpSpPr>
            <a:xfrm>
              <a:off x="1680611" y="1451531"/>
              <a:ext cx="1536902" cy="1537028"/>
              <a:chOff x="3470307" y="1292104"/>
              <a:chExt cx="1257900" cy="1257900"/>
            </a:xfrm>
          </p:grpSpPr>
          <p:sp>
            <p:nvSpPr>
              <p:cNvPr id="215" name="Google Shape;215;p34"/>
              <p:cNvSpPr/>
              <p:nvPr/>
            </p:nvSpPr>
            <p:spPr>
              <a:xfrm>
                <a:off x="3470307" y="1292104"/>
                <a:ext cx="1257900" cy="1257900"/>
              </a:xfrm>
              <a:prstGeom prst="ellipse">
                <a:avLst/>
              </a:prstGeom>
              <a:solidFill>
                <a:srgbClr val="B02956"/>
              </a:solidFill>
              <a:ln>
                <a:noFill/>
              </a:ln>
              <a:effectLst>
                <a:outerShdw blurRad="302199" rotWithShape="0" algn="tl" dir="5400000" dist="67155">
                  <a:srgbClr val="000000">
                    <a:alpha val="54900"/>
                  </a:srgbClr>
                </a:outerShdw>
              </a:effectLst>
            </p:spPr>
            <p:txBody>
              <a:bodyPr anchorCtr="0" anchor="ctr" bIns="120850" lIns="120850" spcFirstLastPara="1" rIns="120850" wrap="square" tIns="120850">
                <a:noAutofit/>
              </a:bodyPr>
              <a:lstStyle/>
              <a:p>
                <a:pPr indent="0" lvl="0" marL="0" rtl="0" algn="l">
                  <a:spcBef>
                    <a:spcPts val="0"/>
                  </a:spcBef>
                  <a:spcAft>
                    <a:spcPts val="0"/>
                  </a:spcAft>
                  <a:buNone/>
                </a:pPr>
                <a:r>
                  <a:t/>
                </a:r>
                <a:endParaRPr/>
              </a:p>
            </p:txBody>
          </p:sp>
          <p:sp>
            <p:nvSpPr>
              <p:cNvPr id="216" name="Google Shape;216;p34"/>
              <p:cNvSpPr txBox="1"/>
              <p:nvPr/>
            </p:nvSpPr>
            <p:spPr>
              <a:xfrm>
                <a:off x="3496709" y="1613697"/>
                <a:ext cx="1205100" cy="614700"/>
              </a:xfrm>
              <a:prstGeom prst="rect">
                <a:avLst/>
              </a:prstGeom>
              <a:noFill/>
              <a:ln>
                <a:noFill/>
              </a:ln>
            </p:spPr>
            <p:txBody>
              <a:bodyPr anchorCtr="0" anchor="ctr" bIns="120850" lIns="120850" spcFirstLastPara="1" rIns="120850" wrap="square" tIns="120850">
                <a:noAutofit/>
              </a:bodyPr>
              <a:lstStyle/>
              <a:p>
                <a:pPr indent="0" lvl="0" marL="0" rtl="0" algn="ctr">
                  <a:spcBef>
                    <a:spcPts val="0"/>
                  </a:spcBef>
                  <a:spcAft>
                    <a:spcPts val="0"/>
                  </a:spcAft>
                  <a:buNone/>
                </a:pPr>
                <a:r>
                  <a:rPr b="1" lang="en" sz="1621">
                    <a:solidFill>
                      <a:srgbClr val="FFFFFF"/>
                    </a:solidFill>
                    <a:latin typeface="Roboto"/>
                    <a:ea typeface="Roboto"/>
                    <a:cs typeface="Roboto"/>
                    <a:sym typeface="Roboto"/>
                  </a:rPr>
                  <a:t>29.86% </a:t>
                </a:r>
                <a:endParaRPr b="1" sz="1621">
                  <a:solidFill>
                    <a:srgbClr val="FFFFFF"/>
                  </a:solidFill>
                  <a:latin typeface="Roboto"/>
                  <a:ea typeface="Roboto"/>
                  <a:cs typeface="Roboto"/>
                  <a:sym typeface="Roboto"/>
                </a:endParaRPr>
              </a:p>
              <a:p>
                <a:pPr indent="0" lvl="0" marL="0" rtl="0" algn="ctr">
                  <a:spcBef>
                    <a:spcPts val="0"/>
                  </a:spcBef>
                  <a:spcAft>
                    <a:spcPts val="0"/>
                  </a:spcAft>
                  <a:buNone/>
                </a:pPr>
                <a:r>
                  <a:rPr lang="en" sz="1321">
                    <a:solidFill>
                      <a:srgbClr val="FFFFFF"/>
                    </a:solidFill>
                    <a:latin typeface="Roboto"/>
                    <a:ea typeface="Roboto"/>
                    <a:cs typeface="Roboto"/>
                    <a:sym typeface="Roboto"/>
                  </a:rPr>
                  <a:t>Connectivity Rate</a:t>
                </a:r>
                <a:endParaRPr sz="1321">
                  <a:solidFill>
                    <a:srgbClr val="FFFFFF"/>
                  </a:solidFill>
                  <a:latin typeface="Roboto"/>
                  <a:ea typeface="Roboto"/>
                  <a:cs typeface="Roboto"/>
                  <a:sym typeface="Roboto"/>
                </a:endParaRPr>
              </a:p>
            </p:txBody>
          </p:sp>
        </p:grpSp>
      </p:grpSp>
      <p:grpSp>
        <p:nvGrpSpPr>
          <p:cNvPr id="217" name="Google Shape;217;p34"/>
          <p:cNvGrpSpPr/>
          <p:nvPr/>
        </p:nvGrpSpPr>
        <p:grpSpPr>
          <a:xfrm>
            <a:off x="4447194" y="1739566"/>
            <a:ext cx="2440200" cy="2440200"/>
            <a:chOff x="4447194" y="1815766"/>
            <a:chExt cx="2440200" cy="2440200"/>
          </a:xfrm>
        </p:grpSpPr>
        <p:sp>
          <p:nvSpPr>
            <p:cNvPr id="218" name="Google Shape;218;p34"/>
            <p:cNvSpPr/>
            <p:nvPr/>
          </p:nvSpPr>
          <p:spPr>
            <a:xfrm>
              <a:off x="4447194" y="1815766"/>
              <a:ext cx="2440200" cy="2440200"/>
            </a:xfrm>
            <a:prstGeom prst="ellipse">
              <a:avLst/>
            </a:prstGeom>
            <a:solidFill>
              <a:srgbClr val="840D35"/>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4"/>
            <p:cNvSpPr txBox="1"/>
            <p:nvPr/>
          </p:nvSpPr>
          <p:spPr>
            <a:xfrm>
              <a:off x="4735950" y="2504275"/>
              <a:ext cx="1862700" cy="11634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33,119</a:t>
              </a:r>
              <a:endParaRPr b="1" sz="1600">
                <a:solidFill>
                  <a:srgbClr val="FFFFFF"/>
                </a:solidFill>
                <a:latin typeface="Roboto"/>
                <a:ea typeface="Roboto"/>
                <a:cs typeface="Roboto"/>
                <a:sym typeface="Roboto"/>
              </a:endParaRPr>
            </a:p>
            <a:p>
              <a:pPr indent="0" lvl="0" marL="0" rtl="0" algn="ctr">
                <a:spcBef>
                  <a:spcPts val="0"/>
                </a:spcBef>
                <a:spcAft>
                  <a:spcPts val="0"/>
                </a:spcAft>
                <a:buNone/>
              </a:pPr>
              <a:r>
                <a:rPr lang="en" sz="1300">
                  <a:solidFill>
                    <a:srgbClr val="FFFFFF"/>
                  </a:solidFill>
                  <a:latin typeface="Roboto"/>
                  <a:ea typeface="Roboto"/>
                  <a:cs typeface="Roboto"/>
                  <a:sym typeface="Roboto"/>
                </a:rPr>
                <a:t>Total Interactions</a:t>
              </a:r>
              <a:endParaRPr sz="1300">
                <a:solidFill>
                  <a:srgbClr val="FFFFFF"/>
                </a:solidFill>
                <a:latin typeface="Roboto"/>
                <a:ea typeface="Roboto"/>
                <a:cs typeface="Roboto"/>
                <a:sym typeface="Roboto"/>
              </a:endParaRPr>
            </a:p>
          </p:txBody>
        </p:sp>
      </p:grpSp>
      <p:grpSp>
        <p:nvGrpSpPr>
          <p:cNvPr id="220" name="Google Shape;220;p34"/>
          <p:cNvGrpSpPr/>
          <p:nvPr/>
        </p:nvGrpSpPr>
        <p:grpSpPr>
          <a:xfrm>
            <a:off x="3479428" y="3050689"/>
            <a:ext cx="1498800" cy="1498800"/>
            <a:chOff x="644203" y="3718814"/>
            <a:chExt cx="1498800" cy="1498800"/>
          </a:xfrm>
        </p:grpSpPr>
        <p:sp>
          <p:nvSpPr>
            <p:cNvPr id="221" name="Google Shape;221;p34"/>
            <p:cNvSpPr/>
            <p:nvPr/>
          </p:nvSpPr>
          <p:spPr>
            <a:xfrm>
              <a:off x="644203" y="3718814"/>
              <a:ext cx="1498800" cy="1498800"/>
            </a:xfrm>
            <a:prstGeom prst="ellipse">
              <a:avLst/>
            </a:prstGeom>
            <a:solidFill>
              <a:srgbClr val="AC1146"/>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4"/>
            <p:cNvSpPr txBox="1"/>
            <p:nvPr/>
          </p:nvSpPr>
          <p:spPr>
            <a:xfrm>
              <a:off x="856976" y="3995875"/>
              <a:ext cx="1073400" cy="9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143</a:t>
              </a:r>
              <a:endParaRPr b="1" sz="1600">
                <a:solidFill>
                  <a:srgbClr val="FFFFFF"/>
                </a:solidFill>
                <a:latin typeface="Roboto"/>
                <a:ea typeface="Roboto"/>
                <a:cs typeface="Roboto"/>
                <a:sym typeface="Roboto"/>
              </a:endParaRPr>
            </a:p>
            <a:p>
              <a:pPr indent="0" lvl="0" marL="0" rtl="0" algn="ctr">
                <a:spcBef>
                  <a:spcPts val="0"/>
                </a:spcBef>
                <a:spcAft>
                  <a:spcPts val="0"/>
                </a:spcAft>
                <a:buNone/>
              </a:pPr>
              <a:r>
                <a:rPr lang="en" sz="1300">
                  <a:solidFill>
                    <a:srgbClr val="FFFFFF"/>
                  </a:solidFill>
                  <a:latin typeface="Roboto"/>
                  <a:ea typeface="Roboto"/>
                  <a:cs typeface="Roboto"/>
                  <a:sym typeface="Roboto"/>
                </a:rPr>
                <a:t>Countries </a:t>
              </a:r>
              <a:endParaRPr sz="1300">
                <a:solidFill>
                  <a:srgbClr val="FFFFFF"/>
                </a:solidFill>
                <a:latin typeface="Roboto"/>
                <a:ea typeface="Roboto"/>
                <a:cs typeface="Roboto"/>
                <a:sym typeface="Roboto"/>
              </a:endParaRPr>
            </a:p>
          </p:txBody>
        </p:sp>
      </p:grpSp>
      <p:grpSp>
        <p:nvGrpSpPr>
          <p:cNvPr id="223" name="Google Shape;223;p34"/>
          <p:cNvGrpSpPr/>
          <p:nvPr/>
        </p:nvGrpSpPr>
        <p:grpSpPr>
          <a:xfrm>
            <a:off x="5887584" y="1114293"/>
            <a:ext cx="1030262" cy="1030262"/>
            <a:chOff x="3490737" y="1374053"/>
            <a:chExt cx="1423800" cy="1423800"/>
          </a:xfrm>
        </p:grpSpPr>
        <p:sp>
          <p:nvSpPr>
            <p:cNvPr id="224" name="Google Shape;224;p34"/>
            <p:cNvSpPr/>
            <p:nvPr/>
          </p:nvSpPr>
          <p:spPr>
            <a:xfrm>
              <a:off x="3490737" y="1374053"/>
              <a:ext cx="1423800" cy="1423800"/>
            </a:xfrm>
            <a:prstGeom prst="ellipse">
              <a:avLst/>
            </a:prstGeom>
            <a:solidFill>
              <a:srgbClr val="B6124A"/>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4"/>
            <p:cNvSpPr txBox="1"/>
            <p:nvPr/>
          </p:nvSpPr>
          <p:spPr>
            <a:xfrm>
              <a:off x="3681679" y="1625757"/>
              <a:ext cx="1041900" cy="92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12 </a:t>
              </a:r>
              <a:endParaRPr b="1" sz="1600">
                <a:solidFill>
                  <a:srgbClr val="FFFFFF"/>
                </a:solidFill>
                <a:latin typeface="Roboto"/>
                <a:ea typeface="Roboto"/>
                <a:cs typeface="Roboto"/>
                <a:sym typeface="Roboto"/>
              </a:endParaRPr>
            </a:p>
            <a:p>
              <a:pPr indent="0" lvl="0" marL="0" rtl="0" algn="ctr">
                <a:spcBef>
                  <a:spcPts val="0"/>
                </a:spcBef>
                <a:spcAft>
                  <a:spcPts val="0"/>
                </a:spcAft>
                <a:buNone/>
              </a:pPr>
              <a:r>
                <a:rPr lang="en" sz="1300">
                  <a:solidFill>
                    <a:srgbClr val="FFFFFF"/>
                  </a:solidFill>
                  <a:latin typeface="Roboto"/>
                  <a:ea typeface="Roboto"/>
                  <a:cs typeface="Roboto"/>
                  <a:sym typeface="Roboto"/>
                </a:rPr>
                <a:t>Agents</a:t>
              </a:r>
              <a:endParaRPr sz="1300">
                <a:solidFill>
                  <a:srgbClr val="FFFFFF"/>
                </a:solidFill>
                <a:latin typeface="Roboto"/>
                <a:ea typeface="Roboto"/>
                <a:cs typeface="Roboto"/>
                <a:sym typeface="Roboto"/>
              </a:endParaRPr>
            </a:p>
          </p:txBody>
        </p:sp>
      </p:grpSp>
      <p:sp>
        <p:nvSpPr>
          <p:cNvPr id="226" name="Google Shape;226;p34"/>
          <p:cNvSpPr txBox="1"/>
          <p:nvPr/>
        </p:nvSpPr>
        <p:spPr>
          <a:xfrm>
            <a:off x="4816800" y="1035425"/>
            <a:ext cx="1240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Roboto"/>
                <a:ea typeface="Roboto"/>
                <a:cs typeface="Roboto"/>
                <a:sym typeface="Roboto"/>
              </a:rPr>
              <a:t>3</a:t>
            </a:r>
            <a:endParaRPr b="1" sz="1700">
              <a:solidFill>
                <a:schemeClr val="lt1"/>
              </a:solidFill>
              <a:latin typeface="Roboto"/>
              <a:ea typeface="Roboto"/>
              <a:cs typeface="Roboto"/>
              <a:sym typeface="Roboto"/>
            </a:endParaRPr>
          </a:p>
          <a:p>
            <a:pPr indent="0" lvl="0" marL="0" rtl="0" algn="ctr">
              <a:spcBef>
                <a:spcPts val="0"/>
              </a:spcBef>
              <a:spcAft>
                <a:spcPts val="0"/>
              </a:spcAft>
              <a:buNone/>
            </a:pPr>
            <a:r>
              <a:rPr lang="en" sz="1300">
                <a:solidFill>
                  <a:schemeClr val="lt1"/>
                </a:solidFill>
                <a:latin typeface="Roboto"/>
                <a:ea typeface="Roboto"/>
                <a:cs typeface="Roboto"/>
                <a:sym typeface="Roboto"/>
              </a:rPr>
              <a:t>Campaigns</a:t>
            </a:r>
            <a:endParaRPr sz="1100">
              <a:solidFill>
                <a:schemeClr val="lt1"/>
              </a:solidFill>
              <a:latin typeface="Roboto"/>
              <a:ea typeface="Roboto"/>
              <a:cs typeface="Roboto"/>
              <a:sym typeface="Roboto"/>
            </a:endParaRPr>
          </a:p>
        </p:txBody>
      </p:sp>
      <p:grpSp>
        <p:nvGrpSpPr>
          <p:cNvPr id="227" name="Google Shape;227;p34"/>
          <p:cNvGrpSpPr/>
          <p:nvPr/>
        </p:nvGrpSpPr>
        <p:grpSpPr>
          <a:xfrm>
            <a:off x="3719337" y="1450253"/>
            <a:ext cx="1423800" cy="1423800"/>
            <a:chOff x="3490737" y="1374053"/>
            <a:chExt cx="1423800" cy="1423800"/>
          </a:xfrm>
        </p:grpSpPr>
        <p:sp>
          <p:nvSpPr>
            <p:cNvPr id="228" name="Google Shape;228;p34"/>
            <p:cNvSpPr/>
            <p:nvPr/>
          </p:nvSpPr>
          <p:spPr>
            <a:xfrm>
              <a:off x="3490737" y="1374053"/>
              <a:ext cx="1423800" cy="1423800"/>
            </a:xfrm>
            <a:prstGeom prst="ellipse">
              <a:avLst/>
            </a:prstGeom>
            <a:solidFill>
              <a:srgbClr val="B6124A"/>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4"/>
            <p:cNvSpPr txBox="1"/>
            <p:nvPr/>
          </p:nvSpPr>
          <p:spPr>
            <a:xfrm>
              <a:off x="3718754" y="1613603"/>
              <a:ext cx="967800" cy="9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15,117 </a:t>
              </a:r>
              <a:endParaRPr b="1" sz="1600">
                <a:solidFill>
                  <a:srgbClr val="FFFFFF"/>
                </a:solidFill>
                <a:latin typeface="Roboto"/>
                <a:ea typeface="Roboto"/>
                <a:cs typeface="Roboto"/>
                <a:sym typeface="Roboto"/>
              </a:endParaRPr>
            </a:p>
            <a:p>
              <a:pPr indent="0" lvl="0" marL="0" rtl="0" algn="ctr">
                <a:spcBef>
                  <a:spcPts val="0"/>
                </a:spcBef>
                <a:spcAft>
                  <a:spcPts val="0"/>
                </a:spcAft>
                <a:buNone/>
              </a:pPr>
              <a:r>
                <a:rPr lang="en" sz="1300">
                  <a:solidFill>
                    <a:srgbClr val="FFFFFF"/>
                  </a:solidFill>
                  <a:latin typeface="Roboto"/>
                  <a:ea typeface="Roboto"/>
                  <a:cs typeface="Roboto"/>
                  <a:sym typeface="Roboto"/>
                </a:rPr>
                <a:t>Applicants</a:t>
              </a:r>
              <a:endParaRPr sz="1300">
                <a:solidFill>
                  <a:srgbClr val="FFFFFF"/>
                </a:solidFill>
                <a:latin typeface="Roboto"/>
                <a:ea typeface="Roboto"/>
                <a:cs typeface="Roboto"/>
                <a:sym typeface="Roboto"/>
              </a:endParaRPr>
            </a:p>
          </p:txBody>
        </p:sp>
      </p:grpSp>
      <p:sp>
        <p:nvSpPr>
          <p:cNvPr id="230" name="Google Shape;230;p34"/>
          <p:cNvSpPr/>
          <p:nvPr/>
        </p:nvSpPr>
        <p:spPr>
          <a:xfrm rot="10800000">
            <a:off x="311725" y="3430625"/>
            <a:ext cx="1789500" cy="910200"/>
          </a:xfrm>
          <a:prstGeom prst="wedgeRoundRectCallout">
            <a:avLst>
              <a:gd fmla="val -38013" name="adj1"/>
              <a:gd fmla="val 101290" name="adj2"/>
              <a:gd fmla="val 0" name="adj3"/>
            </a:avLst>
          </a:prstGeom>
          <a:solidFill>
            <a:schemeClr val="lt1"/>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31" name="Google Shape;231;p34"/>
          <p:cNvSpPr txBox="1"/>
          <p:nvPr/>
        </p:nvSpPr>
        <p:spPr>
          <a:xfrm>
            <a:off x="457075" y="3483575"/>
            <a:ext cx="1498800" cy="8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3"/>
                </a:solidFill>
                <a:latin typeface="Proxima Nova"/>
                <a:ea typeface="Proxima Nova"/>
                <a:cs typeface="Proxima Nova"/>
                <a:sym typeface="Proxima Nova"/>
              </a:rPr>
              <a:t>Majority of the calls were disconnected. We will explore ways of reducing this.</a:t>
            </a:r>
            <a:endParaRPr sz="11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accent3"/>
              </a:solidFill>
              <a:latin typeface="Proxima Nova"/>
              <a:ea typeface="Proxima Nova"/>
              <a:cs typeface="Proxima Nova"/>
              <a:sym typeface="Proxima Nova"/>
            </a:endParaRPr>
          </a:p>
        </p:txBody>
      </p:sp>
      <p:grpSp>
        <p:nvGrpSpPr>
          <p:cNvPr id="232" name="Google Shape;232;p34"/>
          <p:cNvGrpSpPr/>
          <p:nvPr/>
        </p:nvGrpSpPr>
        <p:grpSpPr>
          <a:xfrm>
            <a:off x="6501778" y="3100707"/>
            <a:ext cx="1240130" cy="1240130"/>
            <a:chOff x="3657614" y="1374053"/>
            <a:chExt cx="1423800" cy="1423800"/>
          </a:xfrm>
        </p:grpSpPr>
        <p:sp>
          <p:nvSpPr>
            <p:cNvPr id="233" name="Google Shape;233;p34"/>
            <p:cNvSpPr/>
            <p:nvPr/>
          </p:nvSpPr>
          <p:spPr>
            <a:xfrm>
              <a:off x="3657614" y="1374053"/>
              <a:ext cx="1423800" cy="1423800"/>
            </a:xfrm>
            <a:prstGeom prst="ellipse">
              <a:avLst/>
            </a:prstGeom>
            <a:solidFill>
              <a:srgbClr val="F48FB1"/>
            </a:solidFill>
            <a:ln>
              <a:noFill/>
            </a:ln>
            <a:effectLst>
              <a:outerShdw blurRad="275181" rotWithShape="0" algn="tl" dir="5400000" dist="61151">
                <a:srgbClr val="000000">
                  <a:alpha val="54900"/>
                </a:srgbClr>
              </a:outerShdw>
            </a:effectLst>
          </p:spPr>
          <p:txBody>
            <a:bodyPr anchorCtr="0" anchor="ctr" bIns="110050" lIns="110050" spcFirstLastPara="1" rIns="110050" wrap="square" tIns="110050">
              <a:noAutofit/>
            </a:bodyPr>
            <a:lstStyle/>
            <a:p>
              <a:pPr indent="0" lvl="0" marL="0" rtl="0" algn="l">
                <a:spcBef>
                  <a:spcPts val="0"/>
                </a:spcBef>
                <a:spcAft>
                  <a:spcPts val="0"/>
                </a:spcAft>
                <a:buNone/>
              </a:pPr>
              <a:r>
                <a:t/>
              </a:r>
              <a:endParaRPr sz="1219"/>
            </a:p>
          </p:txBody>
        </p:sp>
        <p:sp>
          <p:nvSpPr>
            <p:cNvPr id="234" name="Google Shape;234;p34"/>
            <p:cNvSpPr txBox="1"/>
            <p:nvPr/>
          </p:nvSpPr>
          <p:spPr>
            <a:xfrm>
              <a:off x="3848556" y="1625737"/>
              <a:ext cx="1041900" cy="920400"/>
            </a:xfrm>
            <a:prstGeom prst="rect">
              <a:avLst/>
            </a:prstGeom>
            <a:noFill/>
            <a:ln>
              <a:noFill/>
            </a:ln>
          </p:spPr>
          <p:txBody>
            <a:bodyPr anchorCtr="0" anchor="ctr" bIns="110050" lIns="110050" spcFirstLastPara="1" rIns="110050" wrap="square" tIns="110050">
              <a:noAutofit/>
            </a:bodyPr>
            <a:lstStyle/>
            <a:p>
              <a:pPr indent="0" lvl="0" marL="0" rtl="0" algn="ctr">
                <a:spcBef>
                  <a:spcPts val="0"/>
                </a:spcBef>
                <a:spcAft>
                  <a:spcPts val="0"/>
                </a:spcAft>
                <a:buNone/>
              </a:pPr>
              <a:r>
                <a:rPr b="1" lang="en" sz="1403">
                  <a:solidFill>
                    <a:srgbClr val="FFFFFF"/>
                  </a:solidFill>
                  <a:latin typeface="Roboto"/>
                  <a:ea typeface="Roboto"/>
                  <a:cs typeface="Roboto"/>
                  <a:sym typeface="Roboto"/>
                </a:rPr>
                <a:t>748</a:t>
              </a:r>
              <a:r>
                <a:rPr b="1" lang="en" sz="1403">
                  <a:solidFill>
                    <a:srgbClr val="FFFFFF"/>
                  </a:solidFill>
                  <a:latin typeface="Roboto"/>
                  <a:ea typeface="Roboto"/>
                  <a:cs typeface="Roboto"/>
                  <a:sym typeface="Roboto"/>
                </a:rPr>
                <a:t> </a:t>
              </a:r>
              <a:endParaRPr b="1" sz="1403">
                <a:solidFill>
                  <a:srgbClr val="FFFFFF"/>
                </a:solidFill>
                <a:latin typeface="Roboto"/>
                <a:ea typeface="Roboto"/>
                <a:cs typeface="Roboto"/>
                <a:sym typeface="Roboto"/>
              </a:endParaRPr>
            </a:p>
            <a:p>
              <a:pPr indent="0" lvl="0" marL="0" rtl="0" algn="ctr">
                <a:spcBef>
                  <a:spcPts val="0"/>
                </a:spcBef>
                <a:spcAft>
                  <a:spcPts val="0"/>
                </a:spcAft>
                <a:buNone/>
              </a:pPr>
              <a:r>
                <a:rPr lang="en" sz="1145">
                  <a:solidFill>
                    <a:schemeClr val="lt1"/>
                  </a:solidFill>
                  <a:latin typeface="Roboto"/>
                  <a:ea typeface="Roboto"/>
                  <a:cs typeface="Roboto"/>
                  <a:sym typeface="Roboto"/>
                </a:rPr>
                <a:t>Required </a:t>
              </a:r>
              <a:r>
                <a:rPr lang="en" sz="1145">
                  <a:solidFill>
                    <a:srgbClr val="FFFFFF"/>
                  </a:solidFill>
                  <a:latin typeface="Roboto"/>
                  <a:ea typeface="Roboto"/>
                  <a:cs typeface="Roboto"/>
                  <a:sym typeface="Roboto"/>
                </a:rPr>
                <a:t>Escalation</a:t>
              </a:r>
              <a:endParaRPr sz="1145">
                <a:solidFill>
                  <a:srgbClr val="FFFFFF"/>
                </a:solidFill>
                <a:latin typeface="Roboto"/>
                <a:ea typeface="Roboto"/>
                <a:cs typeface="Roboto"/>
                <a:sym typeface="Roboto"/>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Campaign Types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of Campaign Volume</a:t>
            </a:r>
            <a:endParaRPr/>
          </a:p>
        </p:txBody>
      </p:sp>
      <p:sp>
        <p:nvSpPr>
          <p:cNvPr id="245" name="Google Shape;245;p36"/>
          <p:cNvSpPr txBox="1"/>
          <p:nvPr>
            <p:ph idx="1" type="body"/>
          </p:nvPr>
        </p:nvSpPr>
        <p:spPr>
          <a:xfrm>
            <a:off x="311700" y="1152475"/>
            <a:ext cx="3670800" cy="3573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GR GS SP25 campaign accounted for most of the calls and was the most successful in attracting applicants. However, some calls were not attributed to any known campaign, which shows a gap in campaign tracking.”</a:t>
            </a:r>
            <a:endParaRPr/>
          </a:p>
        </p:txBody>
      </p:sp>
      <p:pic>
        <p:nvPicPr>
          <p:cNvPr id="246" name="Google Shape;246;p36"/>
          <p:cNvPicPr preferRelativeResize="0"/>
          <p:nvPr/>
        </p:nvPicPr>
        <p:blipFill rotWithShape="1">
          <a:blip r:embed="rId3">
            <a:alphaModFix/>
          </a:blip>
          <a:srcRect b="0" l="-5510" r="5509" t="0"/>
          <a:stretch/>
        </p:blipFill>
        <p:spPr>
          <a:xfrm>
            <a:off x="4076901" y="1210125"/>
            <a:ext cx="4755398" cy="2611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7"/>
          <p:cNvPicPr preferRelativeResize="0"/>
          <p:nvPr/>
        </p:nvPicPr>
        <p:blipFill>
          <a:blip r:embed="rId3">
            <a:alphaModFix/>
          </a:blip>
          <a:stretch>
            <a:fillRect/>
          </a:stretch>
        </p:blipFill>
        <p:spPr>
          <a:xfrm>
            <a:off x="767011" y="776536"/>
            <a:ext cx="7409376" cy="3367150"/>
          </a:xfrm>
          <a:prstGeom prst="rect">
            <a:avLst/>
          </a:prstGeom>
          <a:noFill/>
          <a:ln>
            <a:noFill/>
          </a:ln>
        </p:spPr>
      </p:pic>
      <p:sp>
        <p:nvSpPr>
          <p:cNvPr id="252" name="Google Shape;252;p37"/>
          <p:cNvSpPr txBox="1"/>
          <p:nvPr>
            <p:ph type="title"/>
          </p:nvPr>
        </p:nvSpPr>
        <p:spPr>
          <a:xfrm>
            <a:off x="311700" y="169900"/>
            <a:ext cx="8520600" cy="49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by Campaign</a:t>
            </a:r>
            <a:endParaRPr/>
          </a:p>
        </p:txBody>
      </p:sp>
      <p:sp>
        <p:nvSpPr>
          <p:cNvPr id="253" name="Google Shape;253;p37"/>
          <p:cNvSpPr txBox="1"/>
          <p:nvPr>
            <p:ph idx="1" type="body"/>
          </p:nvPr>
        </p:nvSpPr>
        <p:spPr>
          <a:xfrm>
            <a:off x="311700" y="4255325"/>
            <a:ext cx="8520600" cy="555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770"/>
              <a:buNone/>
            </a:pPr>
            <a:r>
              <a:rPr lang="en" sz="1760"/>
              <a:t>“Looking at call outcomes, we found that across all campaigns, the majority of calls were not connected. This highlights a major challenge in outreach effectiveness.”</a:t>
            </a:r>
            <a:endParaRPr sz="176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Campaign Type by Record Count</a:t>
            </a:r>
            <a:endParaRPr/>
          </a:p>
        </p:txBody>
      </p:sp>
      <p:sp>
        <p:nvSpPr>
          <p:cNvPr id="259" name="Google Shape;259;p38"/>
          <p:cNvSpPr txBox="1"/>
          <p:nvPr>
            <p:ph idx="1" type="body"/>
          </p:nvPr>
        </p:nvSpPr>
        <p:spPr>
          <a:xfrm>
            <a:off x="427025" y="1256750"/>
            <a:ext cx="3473400" cy="338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“When comparing campaign types, we see that Call Campaigns had about 31% of applicants, while Normal Campaigns had 69%. This indicates that applicants prefer engaging more during Normal Campaigns.”</a:t>
            </a:r>
            <a:endParaRPr/>
          </a:p>
        </p:txBody>
      </p:sp>
      <p:pic>
        <p:nvPicPr>
          <p:cNvPr id="260" name="Google Shape;260;p38"/>
          <p:cNvPicPr preferRelativeResize="0"/>
          <p:nvPr/>
        </p:nvPicPr>
        <p:blipFill>
          <a:blip r:embed="rId3">
            <a:alphaModFix/>
          </a:blip>
          <a:stretch>
            <a:fillRect/>
          </a:stretch>
        </p:blipFill>
        <p:spPr>
          <a:xfrm>
            <a:off x="4429450" y="1256750"/>
            <a:ext cx="4126724" cy="2724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9"/>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Calls Over Time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271" name="Google Shape;271;p40"/>
          <p:cNvPicPr preferRelativeResize="0"/>
          <p:nvPr/>
        </p:nvPicPr>
        <p:blipFill>
          <a:blip r:embed="rId3">
            <a:alphaModFix/>
          </a:blip>
          <a:stretch>
            <a:fillRect/>
          </a:stretch>
        </p:blipFill>
        <p:spPr>
          <a:xfrm>
            <a:off x="0" y="0"/>
            <a:ext cx="9144002" cy="2495625"/>
          </a:xfrm>
          <a:prstGeom prst="rect">
            <a:avLst/>
          </a:prstGeom>
          <a:noFill/>
          <a:ln>
            <a:noFill/>
          </a:ln>
        </p:spPr>
      </p:pic>
      <p:sp>
        <p:nvSpPr>
          <p:cNvPr id="272" name="Google Shape;272;p40"/>
          <p:cNvSpPr txBox="1"/>
          <p:nvPr>
            <p:ph idx="1" type="body"/>
          </p:nvPr>
        </p:nvSpPr>
        <p:spPr>
          <a:xfrm>
            <a:off x="311700" y="3003075"/>
            <a:ext cx="8520600" cy="1566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spring season is the most season active.</a:t>
            </a:r>
            <a:endParaRPr/>
          </a:p>
          <a:p>
            <a:pPr indent="0" lvl="0" marL="0" rtl="0" algn="l">
              <a:spcBef>
                <a:spcPts val="1200"/>
              </a:spcBef>
              <a:spcAft>
                <a:spcPts val="0"/>
              </a:spcAft>
              <a:buNone/>
            </a:pPr>
            <a:r>
              <a:rPr lang="en"/>
              <a:t>Overall there is </a:t>
            </a:r>
            <a:r>
              <a:rPr lang="en"/>
              <a:t>significant</a:t>
            </a:r>
            <a:r>
              <a:rPr lang="en"/>
              <a:t> call activity in the months of February to July and from September to November. </a:t>
            </a:r>
            <a:endParaRPr/>
          </a:p>
          <a:p>
            <a:pPr indent="0" lvl="0" marL="0" rtl="0" algn="l">
              <a:spcBef>
                <a:spcPts val="1200"/>
              </a:spcBef>
              <a:spcAft>
                <a:spcPts val="1200"/>
              </a:spcAft>
              <a:buNone/>
            </a:pPr>
            <a:r>
              <a:rPr lang="en"/>
              <a:t>The call activity correlates with the campaign dates.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ph type="title"/>
          </p:nvPr>
        </p:nvSpPr>
        <p:spPr>
          <a:xfrm>
            <a:off x="311700" y="445025"/>
            <a:ext cx="4183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Weekday Calls </a:t>
            </a:r>
            <a:r>
              <a:rPr lang="en">
                <a:latin typeface="Arial"/>
                <a:ea typeface="Arial"/>
                <a:cs typeface="Arial"/>
                <a:sym typeface="Arial"/>
              </a:rPr>
              <a:t>Distribution</a:t>
            </a:r>
            <a:endParaRPr>
              <a:latin typeface="Arial"/>
              <a:ea typeface="Arial"/>
              <a:cs typeface="Arial"/>
              <a:sym typeface="Arial"/>
            </a:endParaRPr>
          </a:p>
        </p:txBody>
      </p:sp>
      <p:sp>
        <p:nvSpPr>
          <p:cNvPr id="278" name="Google Shape;278;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Similarly this chart shows that June and July are the most </a:t>
            </a:r>
            <a:r>
              <a:rPr lang="en"/>
              <a:t>active</a:t>
            </a:r>
            <a:r>
              <a:rPr lang="en"/>
              <a:t> months in terms of calls. </a:t>
            </a:r>
            <a:r>
              <a:rPr lang="en"/>
              <a:t>August</a:t>
            </a:r>
            <a:r>
              <a:rPr lang="en"/>
              <a:t> has the least interactions.</a:t>
            </a:r>
            <a:endParaRPr/>
          </a:p>
        </p:txBody>
      </p:sp>
      <p:pic>
        <p:nvPicPr>
          <p:cNvPr id="279" name="Google Shape;279;p41"/>
          <p:cNvPicPr preferRelativeResize="0"/>
          <p:nvPr/>
        </p:nvPicPr>
        <p:blipFill>
          <a:blip r:embed="rId3">
            <a:alphaModFix/>
          </a:blip>
          <a:stretch>
            <a:fillRect/>
          </a:stretch>
        </p:blipFill>
        <p:spPr>
          <a:xfrm>
            <a:off x="153134" y="2357475"/>
            <a:ext cx="4534041" cy="2394850"/>
          </a:xfrm>
          <a:prstGeom prst="rect">
            <a:avLst/>
          </a:prstGeom>
          <a:noFill/>
          <a:ln>
            <a:noFill/>
          </a:ln>
        </p:spPr>
      </p:pic>
      <p:pic>
        <p:nvPicPr>
          <p:cNvPr id="280" name="Google Shape;280;p41"/>
          <p:cNvPicPr preferRelativeResize="0"/>
          <p:nvPr/>
        </p:nvPicPr>
        <p:blipFill rotWithShape="1">
          <a:blip r:embed="rId4">
            <a:alphaModFix/>
          </a:blip>
          <a:srcRect b="1371" l="1085" r="1095" t="1361"/>
          <a:stretch/>
        </p:blipFill>
        <p:spPr>
          <a:xfrm>
            <a:off x="4777960" y="2357475"/>
            <a:ext cx="4183428" cy="2394850"/>
          </a:xfrm>
          <a:prstGeom prst="rect">
            <a:avLst/>
          </a:prstGeom>
          <a:noFill/>
          <a:ln>
            <a:noFill/>
          </a:ln>
        </p:spPr>
      </p:pic>
      <p:sp>
        <p:nvSpPr>
          <p:cNvPr id="281" name="Google Shape;281;p41"/>
          <p:cNvSpPr txBox="1"/>
          <p:nvPr>
            <p:ph type="title"/>
          </p:nvPr>
        </p:nvSpPr>
        <p:spPr>
          <a:xfrm>
            <a:off x="4687150" y="445025"/>
            <a:ext cx="4365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Call Times Distribution</a:t>
            </a:r>
            <a:endParaRPr>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Times Distribution</a:t>
            </a:r>
            <a:endParaRPr/>
          </a:p>
        </p:txBody>
      </p:sp>
      <p:sp>
        <p:nvSpPr>
          <p:cNvPr id="287" name="Google Shape;287;p42"/>
          <p:cNvSpPr txBox="1"/>
          <p:nvPr>
            <p:ph idx="1" type="body"/>
          </p:nvPr>
        </p:nvSpPr>
        <p:spPr>
          <a:xfrm>
            <a:off x="311700" y="1566800"/>
            <a:ext cx="4338300" cy="328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Calls come in from 10 AM to 10PM.</a:t>
            </a:r>
            <a:endParaRPr/>
          </a:p>
          <a:p>
            <a:pPr indent="0" lvl="0" marL="0" rtl="0" algn="l">
              <a:spcBef>
                <a:spcPts val="1200"/>
              </a:spcBef>
              <a:spcAft>
                <a:spcPts val="0"/>
              </a:spcAft>
              <a:buNone/>
            </a:pPr>
            <a:r>
              <a:rPr lang="en"/>
              <a:t>Highest Call </a:t>
            </a:r>
            <a:r>
              <a:rPr lang="en"/>
              <a:t>activity</a:t>
            </a:r>
            <a:r>
              <a:rPr lang="en"/>
              <a:t> is between 11AM and 6PM. </a:t>
            </a:r>
            <a:endParaRPr>
              <a:solidFill>
                <a:srgbClr val="FF0000"/>
              </a:solidFill>
            </a:endParaRPr>
          </a:p>
          <a:p>
            <a:pPr indent="0" lvl="0" marL="0" rtl="0" algn="l">
              <a:spcBef>
                <a:spcPts val="1200"/>
              </a:spcBef>
              <a:spcAft>
                <a:spcPts val="1200"/>
              </a:spcAft>
              <a:buNone/>
            </a:pPr>
            <a:r>
              <a:rPr lang="en"/>
              <a:t>The outcome distribution varies </a:t>
            </a:r>
            <a:r>
              <a:rPr lang="en"/>
              <a:t>slightly</a:t>
            </a:r>
            <a:r>
              <a:rPr lang="en"/>
              <a:t> over call hours. However more calls are unconnected between 10AM and 12 PM. </a:t>
            </a:r>
            <a:endParaRPr/>
          </a:p>
        </p:txBody>
      </p:sp>
      <p:pic>
        <p:nvPicPr>
          <p:cNvPr id="288" name="Google Shape;288;p42"/>
          <p:cNvPicPr preferRelativeResize="0"/>
          <p:nvPr/>
        </p:nvPicPr>
        <p:blipFill>
          <a:blip r:embed="rId3">
            <a:alphaModFix/>
          </a:blip>
          <a:stretch>
            <a:fillRect/>
          </a:stretch>
        </p:blipFill>
        <p:spPr>
          <a:xfrm>
            <a:off x="4811650" y="96850"/>
            <a:ext cx="4020650" cy="2300824"/>
          </a:xfrm>
          <a:prstGeom prst="rect">
            <a:avLst/>
          </a:prstGeom>
          <a:noFill/>
          <a:ln>
            <a:noFill/>
          </a:ln>
        </p:spPr>
      </p:pic>
      <p:pic>
        <p:nvPicPr>
          <p:cNvPr id="289" name="Google Shape;289;p42"/>
          <p:cNvPicPr preferRelativeResize="0"/>
          <p:nvPr/>
        </p:nvPicPr>
        <p:blipFill rotWithShape="1">
          <a:blip r:embed="rId4">
            <a:alphaModFix/>
          </a:blip>
          <a:srcRect b="0" l="0" r="0" t="4214"/>
          <a:stretch/>
        </p:blipFill>
        <p:spPr>
          <a:xfrm>
            <a:off x="4811650" y="2492015"/>
            <a:ext cx="4020649" cy="2456360"/>
          </a:xfrm>
          <a:prstGeom prst="rect">
            <a:avLst/>
          </a:prstGeom>
          <a:noFill/>
          <a:ln>
            <a:noFill/>
          </a:ln>
        </p:spPr>
      </p:pic>
      <p:cxnSp>
        <p:nvCxnSpPr>
          <p:cNvPr id="290" name="Google Shape;290;p42"/>
          <p:cNvCxnSpPr/>
          <p:nvPr/>
        </p:nvCxnSpPr>
        <p:spPr>
          <a:xfrm>
            <a:off x="4283050" y="3643050"/>
            <a:ext cx="782100" cy="386400"/>
          </a:xfrm>
          <a:prstGeom prst="straightConnector1">
            <a:avLst/>
          </a:prstGeom>
          <a:noFill/>
          <a:ln cap="flat" cmpd="sng" w="9525">
            <a:solidFill>
              <a:srgbClr val="AC1146"/>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times by Country</a:t>
            </a:r>
            <a:endParaRPr/>
          </a:p>
        </p:txBody>
      </p:sp>
      <p:sp>
        <p:nvSpPr>
          <p:cNvPr id="296" name="Google Shape;296;p43"/>
          <p:cNvSpPr txBox="1"/>
          <p:nvPr>
            <p:ph idx="1" type="body"/>
          </p:nvPr>
        </p:nvSpPr>
        <p:spPr>
          <a:xfrm>
            <a:off x="311700" y="1152475"/>
            <a:ext cx="2877300" cy="354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shows the variation in call activity per country for each hour. </a:t>
            </a:r>
            <a:endParaRPr/>
          </a:p>
          <a:p>
            <a:pPr indent="0" lvl="0" marL="0" rtl="0" algn="l">
              <a:spcBef>
                <a:spcPts val="1200"/>
              </a:spcBef>
              <a:spcAft>
                <a:spcPts val="1200"/>
              </a:spcAft>
              <a:buNone/>
            </a:pPr>
            <a:r>
              <a:rPr lang="en"/>
              <a:t>Leaning into this trend can help agents optimize call hours for the various time zones to maximize call success. </a:t>
            </a:r>
            <a:endParaRPr/>
          </a:p>
        </p:txBody>
      </p:sp>
      <p:pic>
        <p:nvPicPr>
          <p:cNvPr id="297" name="Google Shape;297;p43"/>
          <p:cNvPicPr preferRelativeResize="0"/>
          <p:nvPr/>
        </p:nvPicPr>
        <p:blipFill rotWithShape="1">
          <a:blip r:embed="rId3">
            <a:alphaModFix/>
          </a:blip>
          <a:srcRect b="5359" l="2520" r="3414" t="3805"/>
          <a:stretch/>
        </p:blipFill>
        <p:spPr>
          <a:xfrm>
            <a:off x="3315775" y="1152475"/>
            <a:ext cx="5579650" cy="3107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Daily call distribution</a:t>
            </a:r>
            <a:endParaRPr/>
          </a:p>
        </p:txBody>
      </p:sp>
      <p:pic>
        <p:nvPicPr>
          <p:cNvPr id="303" name="Google Shape;303;p44"/>
          <p:cNvPicPr preferRelativeResize="0"/>
          <p:nvPr/>
        </p:nvPicPr>
        <p:blipFill>
          <a:blip r:embed="rId3">
            <a:alphaModFix/>
          </a:blip>
          <a:stretch>
            <a:fillRect/>
          </a:stretch>
        </p:blipFill>
        <p:spPr>
          <a:xfrm>
            <a:off x="2913675" y="1017725"/>
            <a:ext cx="6069751" cy="3426900"/>
          </a:xfrm>
          <a:prstGeom prst="rect">
            <a:avLst/>
          </a:prstGeom>
          <a:noFill/>
          <a:ln>
            <a:noFill/>
          </a:ln>
        </p:spPr>
      </p:pic>
      <p:sp>
        <p:nvSpPr>
          <p:cNvPr id="304" name="Google Shape;304;p44"/>
          <p:cNvSpPr txBox="1"/>
          <p:nvPr>
            <p:ph idx="1" type="body"/>
          </p:nvPr>
        </p:nvSpPr>
        <p:spPr>
          <a:xfrm>
            <a:off x="311700" y="1742425"/>
            <a:ext cx="2458500" cy="250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Weekdays have </a:t>
            </a:r>
            <a:r>
              <a:rPr lang="en"/>
              <a:t>similar</a:t>
            </a:r>
            <a:r>
              <a:rPr lang="en"/>
              <a:t> call </a:t>
            </a:r>
            <a:r>
              <a:rPr lang="en"/>
              <a:t>activity</a:t>
            </a:r>
            <a:r>
              <a:rPr lang="en"/>
              <a:t>, however Monday has the most.</a:t>
            </a:r>
            <a:endParaRPr/>
          </a:p>
          <a:p>
            <a:pPr indent="0" lvl="0" marL="0" rtl="0" algn="l">
              <a:spcBef>
                <a:spcPts val="1200"/>
              </a:spcBef>
              <a:spcAft>
                <a:spcPts val="0"/>
              </a:spcAft>
              <a:buNone/>
            </a:pPr>
            <a:r>
              <a:rPr lang="en"/>
              <a:t>Weekends</a:t>
            </a:r>
            <a:r>
              <a:rPr lang="en"/>
              <a:t> have very little activity  </a:t>
            </a:r>
            <a:endParaRPr/>
          </a:p>
          <a:p>
            <a:pPr indent="0" lvl="0" marL="0" rtl="0" algn="l">
              <a:spcBef>
                <a:spcPts val="1200"/>
              </a:spcBef>
              <a:spcAft>
                <a:spcPts val="1200"/>
              </a:spcAft>
              <a:buNone/>
            </a:pPr>
            <a:r>
              <a:rPr lang="en"/>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5"/>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Agent </a:t>
            </a:r>
            <a:r>
              <a:rPr lang="en"/>
              <a:t>Performance</a:t>
            </a:r>
            <a:endParaRPr/>
          </a:p>
        </p:txBody>
      </p:sp>
      <p:sp>
        <p:nvSpPr>
          <p:cNvPr id="310" name="Google Shape;310;p4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Analyse agent performance by Call Volume, Connectivity rate  and Success rate.</a:t>
            </a:r>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of Method</a:t>
            </a:r>
            <a:endParaRPr/>
          </a:p>
        </p:txBody>
      </p:sp>
      <p:sp>
        <p:nvSpPr>
          <p:cNvPr id="316" name="Google Shape;316;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n"/>
              <a:t>In order to analyse call outcomes, the results were standardized by </a:t>
            </a:r>
            <a:r>
              <a:rPr lang="en"/>
              <a:t>grouping them into a smaller number of categories: </a:t>
            </a:r>
            <a:endParaRPr/>
          </a:p>
          <a:p>
            <a:pPr indent="-334327" lvl="0" marL="457200" rtl="0" algn="l">
              <a:lnSpc>
                <a:spcPct val="100000"/>
              </a:lnSpc>
              <a:spcBef>
                <a:spcPts val="0"/>
              </a:spcBef>
              <a:spcAft>
                <a:spcPts val="0"/>
              </a:spcAft>
              <a:buSzPct val="100000"/>
              <a:buChar char="●"/>
            </a:pPr>
            <a:r>
              <a:rPr lang="en"/>
              <a:t>Not Connected (Disconnected, voicemail, not connected) </a:t>
            </a:r>
            <a:endParaRPr/>
          </a:p>
          <a:p>
            <a:pPr indent="-334327" lvl="0" marL="457200" rtl="0" algn="l">
              <a:lnSpc>
                <a:spcPct val="100000"/>
              </a:lnSpc>
              <a:spcBef>
                <a:spcPts val="0"/>
              </a:spcBef>
              <a:spcAft>
                <a:spcPts val="0"/>
              </a:spcAft>
              <a:buSzPct val="100000"/>
              <a:buChar char="●"/>
            </a:pPr>
            <a:r>
              <a:rPr lang="en"/>
              <a:t>Success/resolved</a:t>
            </a:r>
            <a:endParaRPr/>
          </a:p>
          <a:p>
            <a:pPr indent="-334327" lvl="0" marL="457200" rtl="0" algn="l">
              <a:lnSpc>
                <a:spcPct val="100000"/>
              </a:lnSpc>
              <a:spcBef>
                <a:spcPts val="0"/>
              </a:spcBef>
              <a:spcAft>
                <a:spcPts val="0"/>
              </a:spcAft>
              <a:buSzPct val="100000"/>
              <a:buChar char="●"/>
            </a:pPr>
            <a:r>
              <a:rPr lang="en"/>
              <a:t>Failure/ not attending</a:t>
            </a:r>
            <a:endParaRPr/>
          </a:p>
          <a:p>
            <a:pPr indent="-334327" lvl="0" marL="457200" rtl="0" algn="l">
              <a:lnSpc>
                <a:spcPct val="100000"/>
              </a:lnSpc>
              <a:spcBef>
                <a:spcPts val="0"/>
              </a:spcBef>
              <a:spcAft>
                <a:spcPts val="0"/>
              </a:spcAft>
              <a:buSzPct val="100000"/>
              <a:buChar char="●"/>
            </a:pPr>
            <a:r>
              <a:rPr lang="en"/>
              <a:t>Wrong Number</a:t>
            </a:r>
            <a:endParaRPr/>
          </a:p>
          <a:p>
            <a:pPr indent="-334327" lvl="0" marL="457200" rtl="0" algn="l">
              <a:lnSpc>
                <a:spcPct val="100000"/>
              </a:lnSpc>
              <a:spcBef>
                <a:spcPts val="0"/>
              </a:spcBef>
              <a:spcAft>
                <a:spcPts val="0"/>
              </a:spcAft>
              <a:buSzPct val="100000"/>
              <a:buChar char="●"/>
            </a:pPr>
            <a:r>
              <a:rPr lang="en"/>
              <a:t>Will revert/to be solved</a:t>
            </a:r>
            <a:endParaRPr/>
          </a:p>
          <a:p>
            <a:pPr indent="-334327" lvl="0" marL="457200" rtl="0" algn="l">
              <a:lnSpc>
                <a:spcPct val="100000"/>
              </a:lnSpc>
              <a:spcBef>
                <a:spcPts val="0"/>
              </a:spcBef>
              <a:spcAft>
                <a:spcPts val="0"/>
              </a:spcAft>
              <a:buSzPct val="100000"/>
              <a:buChar char="●"/>
            </a:pPr>
            <a:r>
              <a:rPr lang="en"/>
              <a:t>Deferral</a:t>
            </a:r>
            <a:endParaRPr/>
          </a:p>
          <a:p>
            <a:pPr indent="-334327" lvl="0" marL="457200" rtl="0" algn="l">
              <a:lnSpc>
                <a:spcPct val="100000"/>
              </a:lnSpc>
              <a:spcBef>
                <a:spcPts val="0"/>
              </a:spcBef>
              <a:spcAft>
                <a:spcPts val="0"/>
              </a:spcAft>
              <a:buSzPct val="100000"/>
              <a:buChar char="●"/>
            </a:pPr>
            <a:r>
              <a:rPr lang="en"/>
              <a:t>Processing Visa</a:t>
            </a:r>
            <a:endParaRPr/>
          </a:p>
          <a:p>
            <a:pPr indent="0" lvl="0" marL="457200" rtl="0" algn="l">
              <a:lnSpc>
                <a:spcPct val="100000"/>
              </a:lnSpc>
              <a:spcBef>
                <a:spcPts val="0"/>
              </a:spcBef>
              <a:spcAft>
                <a:spcPts val="0"/>
              </a:spcAft>
              <a:buNone/>
            </a:pPr>
            <a:r>
              <a:t/>
            </a:r>
            <a:endParaRPr/>
          </a:p>
          <a:p>
            <a:pPr indent="0" lvl="0" marL="0" rtl="0" algn="l">
              <a:spcBef>
                <a:spcPts val="0"/>
              </a:spcBef>
              <a:spcAft>
                <a:spcPts val="0"/>
              </a:spcAft>
              <a:buNone/>
            </a:pPr>
            <a:r>
              <a:rPr lang="en"/>
              <a:t>To evaluate agent performance, the tested interactive graph shows the distribution of </a:t>
            </a:r>
            <a:r>
              <a:rPr lang="en"/>
              <a:t>call</a:t>
            </a:r>
            <a:r>
              <a:rPr lang="en"/>
              <a:t> outcomes for each agent. </a:t>
            </a:r>
            <a:endParaRPr/>
          </a:p>
          <a:p>
            <a:pPr indent="0" lvl="0" marL="0" rtl="0" algn="l">
              <a:spcBef>
                <a:spcPts val="1200"/>
              </a:spcBef>
              <a:spcAft>
                <a:spcPts val="1200"/>
              </a:spcAft>
              <a:buNone/>
            </a:pPr>
            <a:r>
              <a:rPr lang="en"/>
              <a:t>Success/resolved outcome includes an assurance of future university attendance, connectivity and resolved inquired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47"/>
          <p:cNvPicPr preferRelativeResize="0"/>
          <p:nvPr/>
        </p:nvPicPr>
        <p:blipFill>
          <a:blip r:embed="rId3">
            <a:alphaModFix/>
          </a:blip>
          <a:stretch>
            <a:fillRect/>
          </a:stretch>
        </p:blipFill>
        <p:spPr>
          <a:xfrm>
            <a:off x="3084300" y="935400"/>
            <a:ext cx="5748000" cy="3624475"/>
          </a:xfrm>
          <a:prstGeom prst="rect">
            <a:avLst/>
          </a:prstGeom>
          <a:noFill/>
          <a:ln>
            <a:noFill/>
          </a:ln>
        </p:spPr>
      </p:pic>
      <p:sp>
        <p:nvSpPr>
          <p:cNvPr id="322" name="Google Shape;322;p47"/>
          <p:cNvSpPr txBox="1"/>
          <p:nvPr>
            <p:ph type="title"/>
          </p:nvPr>
        </p:nvSpPr>
        <p:spPr>
          <a:xfrm>
            <a:off x="311700" y="26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of Call Outcomes</a:t>
            </a:r>
            <a:endParaRPr/>
          </a:p>
        </p:txBody>
      </p:sp>
      <p:sp>
        <p:nvSpPr>
          <p:cNvPr id="323" name="Google Shape;323;p47"/>
          <p:cNvSpPr txBox="1"/>
          <p:nvPr>
            <p:ph idx="1" type="body"/>
          </p:nvPr>
        </p:nvSpPr>
        <p:spPr>
          <a:xfrm>
            <a:off x="311700" y="1141025"/>
            <a:ext cx="2677500" cy="341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71.1% of calls were didn’t connected.</a:t>
            </a:r>
            <a:endParaRPr/>
          </a:p>
          <a:p>
            <a:pPr indent="0" lvl="0" marL="0" rtl="0" algn="l">
              <a:spcBef>
                <a:spcPts val="1200"/>
              </a:spcBef>
              <a:spcAft>
                <a:spcPts val="1200"/>
              </a:spcAft>
              <a:buNone/>
            </a:pPr>
            <a:r>
              <a:rPr lang="en"/>
              <a:t>3.8% of calls were about inability to attend the university or loss of interest.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8"/>
          <p:cNvPicPr preferRelativeResize="0"/>
          <p:nvPr/>
        </p:nvPicPr>
        <p:blipFill>
          <a:blip r:embed="rId3">
            <a:alphaModFix/>
          </a:blip>
          <a:stretch>
            <a:fillRect/>
          </a:stretch>
        </p:blipFill>
        <p:spPr>
          <a:xfrm>
            <a:off x="253500" y="1114550"/>
            <a:ext cx="6571601" cy="3029700"/>
          </a:xfrm>
          <a:prstGeom prst="rect">
            <a:avLst/>
          </a:prstGeom>
          <a:noFill/>
          <a:ln>
            <a:noFill/>
          </a:ln>
        </p:spPr>
      </p:pic>
      <p:sp>
        <p:nvSpPr>
          <p:cNvPr id="329" name="Google Shape;329;p48"/>
          <p:cNvSpPr txBox="1"/>
          <p:nvPr>
            <p:ph idx="1" type="body"/>
          </p:nvPr>
        </p:nvSpPr>
        <p:spPr>
          <a:xfrm>
            <a:off x="6944900" y="1284725"/>
            <a:ext cx="1949100" cy="3133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668"/>
              <a:t>Rudra serves the most calls while Namrata has the least. </a:t>
            </a:r>
            <a:endParaRPr sz="1668"/>
          </a:p>
          <a:p>
            <a:pPr indent="0" lvl="0" marL="0" rtl="0" algn="l">
              <a:lnSpc>
                <a:spcPct val="95000"/>
              </a:lnSpc>
              <a:spcBef>
                <a:spcPts val="1200"/>
              </a:spcBef>
              <a:spcAft>
                <a:spcPts val="0"/>
              </a:spcAft>
              <a:buSzPts val="275"/>
              <a:buNone/>
            </a:pPr>
            <a:r>
              <a:rPr lang="en" sz="1668"/>
              <a:t>Rudra had more positive communications with document submission</a:t>
            </a:r>
            <a:endParaRPr sz="1668"/>
          </a:p>
          <a:p>
            <a:pPr indent="0" lvl="0" marL="0" rtl="0" algn="l">
              <a:lnSpc>
                <a:spcPct val="95000"/>
              </a:lnSpc>
              <a:spcBef>
                <a:spcPts val="1200"/>
              </a:spcBef>
              <a:spcAft>
                <a:spcPts val="1200"/>
              </a:spcAft>
              <a:buSzPts val="275"/>
              <a:buNone/>
            </a:pPr>
            <a:r>
              <a:t/>
            </a:r>
            <a:endParaRPr sz="450"/>
          </a:p>
        </p:txBody>
      </p:sp>
      <p:sp>
        <p:nvSpPr>
          <p:cNvPr id="330" name="Google Shape;330;p48"/>
          <p:cNvSpPr txBox="1"/>
          <p:nvPr>
            <p:ph type="title"/>
          </p:nvPr>
        </p:nvSpPr>
        <p:spPr>
          <a:xfrm>
            <a:off x="253500" y="248925"/>
            <a:ext cx="8244900" cy="54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Agent Performance by volume of calls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Agent </a:t>
            </a:r>
            <a:r>
              <a:rPr lang="en"/>
              <a:t>performance</a:t>
            </a:r>
            <a:r>
              <a:rPr lang="en"/>
              <a:t> by Proportion of D</a:t>
            </a:r>
            <a:r>
              <a:rPr lang="en"/>
              <a:t>isconnected</a:t>
            </a:r>
            <a:r>
              <a:rPr lang="en"/>
              <a:t> Calls</a:t>
            </a:r>
            <a:endParaRPr/>
          </a:p>
        </p:txBody>
      </p:sp>
      <p:sp>
        <p:nvSpPr>
          <p:cNvPr id="336" name="Google Shape;336;p49"/>
          <p:cNvSpPr txBox="1"/>
          <p:nvPr>
            <p:ph idx="1" type="body"/>
          </p:nvPr>
        </p:nvSpPr>
        <p:spPr>
          <a:xfrm>
            <a:off x="311700" y="3996175"/>
            <a:ext cx="8520600" cy="852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Among agents who serviced over 200 calls, Prajwal has the least percentage of unconnected calls, whiles Jyoti has the most proportion of unconnected calls. </a:t>
            </a:r>
            <a:endParaRPr/>
          </a:p>
        </p:txBody>
      </p:sp>
      <p:pic>
        <p:nvPicPr>
          <p:cNvPr id="337" name="Google Shape;337;p49"/>
          <p:cNvPicPr preferRelativeResize="0"/>
          <p:nvPr/>
        </p:nvPicPr>
        <p:blipFill rotWithShape="1">
          <a:blip r:embed="rId3">
            <a:alphaModFix/>
          </a:blip>
          <a:srcRect b="1295" l="1418" r="1428" t="2735"/>
          <a:stretch/>
        </p:blipFill>
        <p:spPr>
          <a:xfrm>
            <a:off x="311700" y="1144025"/>
            <a:ext cx="4168300" cy="2855444"/>
          </a:xfrm>
          <a:prstGeom prst="rect">
            <a:avLst/>
          </a:prstGeom>
          <a:noFill/>
          <a:ln>
            <a:noFill/>
          </a:ln>
        </p:spPr>
      </p:pic>
      <p:pic>
        <p:nvPicPr>
          <p:cNvPr id="338" name="Google Shape;338;p49"/>
          <p:cNvPicPr preferRelativeResize="0"/>
          <p:nvPr/>
        </p:nvPicPr>
        <p:blipFill rotWithShape="1">
          <a:blip r:embed="rId4">
            <a:alphaModFix/>
          </a:blip>
          <a:srcRect b="0" l="1564" r="1292" t="1166"/>
          <a:stretch/>
        </p:blipFill>
        <p:spPr>
          <a:xfrm>
            <a:off x="4572000" y="1092176"/>
            <a:ext cx="4282836" cy="2907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Agent Performance by Success rate</a:t>
            </a:r>
            <a:endParaRPr/>
          </a:p>
        </p:txBody>
      </p:sp>
      <p:sp>
        <p:nvSpPr>
          <p:cNvPr id="344" name="Google Shape;344;p50"/>
          <p:cNvSpPr txBox="1"/>
          <p:nvPr>
            <p:ph idx="1" type="body"/>
          </p:nvPr>
        </p:nvSpPr>
        <p:spPr>
          <a:xfrm>
            <a:off x="311700" y="1406175"/>
            <a:ext cx="2744700" cy="31800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Shalija had the highest success rate for agents over 200 calls. </a:t>
            </a:r>
            <a:endParaRPr/>
          </a:p>
          <a:p>
            <a:pPr indent="0" lvl="0" marL="0" rtl="0" algn="l">
              <a:spcBef>
                <a:spcPts val="1200"/>
              </a:spcBef>
              <a:spcAft>
                <a:spcPts val="0"/>
              </a:spcAft>
              <a:buNone/>
            </a:pPr>
            <a:r>
              <a:rPr lang="en"/>
              <a:t>Also, had lowest proportion of wrong number + not connected outcomes.</a:t>
            </a:r>
            <a:endParaRPr/>
          </a:p>
          <a:p>
            <a:pPr indent="0" lvl="0" marL="0" rtl="0" algn="l">
              <a:spcBef>
                <a:spcPts val="1200"/>
              </a:spcBef>
              <a:spcAft>
                <a:spcPts val="1200"/>
              </a:spcAft>
              <a:buNone/>
            </a:pPr>
            <a:r>
              <a:rPr lang="en"/>
              <a:t>Success is denoted by a assurance of future university attendance (and connectivity).</a:t>
            </a:r>
            <a:endParaRPr/>
          </a:p>
        </p:txBody>
      </p:sp>
      <p:pic>
        <p:nvPicPr>
          <p:cNvPr id="345" name="Google Shape;345;p50"/>
          <p:cNvPicPr preferRelativeResize="0"/>
          <p:nvPr/>
        </p:nvPicPr>
        <p:blipFill rotWithShape="1">
          <a:blip r:embed="rId3">
            <a:alphaModFix/>
          </a:blip>
          <a:srcRect b="0" l="0" r="0" t="5704"/>
          <a:stretch/>
        </p:blipFill>
        <p:spPr>
          <a:xfrm>
            <a:off x="3336550" y="1168200"/>
            <a:ext cx="5495750" cy="3652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1"/>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Region </a:t>
            </a:r>
            <a:r>
              <a:rPr lang="en"/>
              <a:t>Distribution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52"/>
          <p:cNvPicPr preferRelativeResize="0"/>
          <p:nvPr/>
        </p:nvPicPr>
        <p:blipFill>
          <a:blip r:embed="rId3">
            <a:alphaModFix/>
          </a:blip>
          <a:stretch>
            <a:fillRect/>
          </a:stretch>
        </p:blipFill>
        <p:spPr>
          <a:xfrm>
            <a:off x="451775" y="1087700"/>
            <a:ext cx="7339125" cy="2833525"/>
          </a:xfrm>
          <a:prstGeom prst="rect">
            <a:avLst/>
          </a:prstGeom>
          <a:noFill/>
          <a:ln>
            <a:noFill/>
          </a:ln>
        </p:spPr>
      </p:pic>
      <p:sp>
        <p:nvSpPr>
          <p:cNvPr id="356" name="Google Shape;35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Country </a:t>
            </a:r>
            <a:r>
              <a:rPr lang="en"/>
              <a:t>Distribution</a:t>
            </a:r>
            <a:r>
              <a:rPr lang="en"/>
              <a:t> </a:t>
            </a:r>
            <a:endParaRPr/>
          </a:p>
        </p:txBody>
      </p:sp>
      <p:sp>
        <p:nvSpPr>
          <p:cNvPr id="357" name="Google Shape;357;p52"/>
          <p:cNvSpPr txBox="1"/>
          <p:nvPr>
            <p:ph idx="1" type="body"/>
          </p:nvPr>
        </p:nvSpPr>
        <p:spPr>
          <a:xfrm>
            <a:off x="311700" y="4081750"/>
            <a:ext cx="8520600" cy="767400"/>
          </a:xfrm>
          <a:prstGeom prst="rect">
            <a:avLst/>
          </a:prstGeom>
        </p:spPr>
        <p:txBody>
          <a:bodyPr anchorCtr="0" anchor="t" bIns="91425" lIns="91425" spcFirstLastPara="1" rIns="91425" wrap="square" tIns="91425">
            <a:normAutofit fontScale="70000"/>
          </a:bodyPr>
          <a:lstStyle/>
          <a:p>
            <a:pPr indent="0" lvl="0" marL="0" rtl="0" algn="l">
              <a:spcBef>
                <a:spcPts val="1200"/>
              </a:spcBef>
              <a:spcAft>
                <a:spcPts val="0"/>
              </a:spcAft>
              <a:buClr>
                <a:schemeClr val="dk1"/>
              </a:buClr>
              <a:buSzPct val="61111"/>
              <a:buFont typeface="Arial"/>
              <a:buNone/>
            </a:pPr>
            <a:r>
              <a:rPr lang="en"/>
              <a:t> India, Ghana and Nigeria had the highest number of applicants in Illinois Institute of Technology’s marketing campaigns</a:t>
            </a:r>
            <a:endParaRPr/>
          </a:p>
          <a:p>
            <a:pPr indent="0" lvl="0" marL="0" rtl="0" algn="l">
              <a:spcBef>
                <a:spcPts val="1200"/>
              </a:spcBef>
              <a:spcAft>
                <a:spcPts val="1200"/>
              </a:spcAft>
              <a:buNone/>
            </a:pPr>
            <a:r>
              <a:rPr lang="en"/>
              <a:t>Agents </a:t>
            </a:r>
            <a:r>
              <a:rPr lang="en"/>
              <a:t>should</a:t>
            </a:r>
            <a:r>
              <a:rPr lang="en"/>
              <a:t> be well aware of the needs of students from these </a:t>
            </a:r>
            <a:r>
              <a:rPr lang="en"/>
              <a:t>countries</a:t>
            </a:r>
            <a:r>
              <a:rPr lang="en"/>
              <a:t>.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Campaign </a:t>
            </a:r>
            <a:r>
              <a:rPr lang="en"/>
              <a:t>Regions</a:t>
            </a:r>
            <a:endParaRPr/>
          </a:p>
        </p:txBody>
      </p:sp>
      <p:sp>
        <p:nvSpPr>
          <p:cNvPr id="363" name="Google Shape;363;p53"/>
          <p:cNvSpPr txBox="1"/>
          <p:nvPr>
            <p:ph idx="1" type="body"/>
          </p:nvPr>
        </p:nvSpPr>
        <p:spPr>
          <a:xfrm>
            <a:off x="311700" y="1152475"/>
            <a:ext cx="4369500" cy="3727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a:t>Normal campaign (70%) does not have region informations. And that is why more than 70% has “not mentioned” in region column.</a:t>
            </a:r>
            <a:endParaRPr/>
          </a:p>
          <a:p>
            <a:pPr indent="0" lvl="0" marL="0" rtl="0" algn="l">
              <a:lnSpc>
                <a:spcPct val="115000"/>
              </a:lnSpc>
              <a:spcBef>
                <a:spcPts val="1200"/>
              </a:spcBef>
              <a:spcAft>
                <a:spcPts val="0"/>
              </a:spcAft>
              <a:buClr>
                <a:schemeClr val="dk1"/>
              </a:buClr>
              <a:buSzPts val="1100"/>
              <a:buFont typeface="Arial"/>
              <a:buNone/>
            </a:pPr>
            <a:r>
              <a:rPr lang="en"/>
              <a:t>On the other hand, 30% of the call campaign have region information which is why 11% (China, Taiwan, Korea), 7% other and 6% India are found where these campaigns were held.</a:t>
            </a:r>
            <a:endParaRPr/>
          </a:p>
          <a:p>
            <a:pPr indent="0" lvl="0" marL="0" rtl="0" algn="l">
              <a:spcBef>
                <a:spcPts val="1200"/>
              </a:spcBef>
              <a:spcAft>
                <a:spcPts val="1200"/>
              </a:spcAft>
              <a:buNone/>
            </a:pPr>
            <a:r>
              <a:t/>
            </a:r>
            <a:endParaRPr/>
          </a:p>
        </p:txBody>
      </p:sp>
      <p:pic>
        <p:nvPicPr>
          <p:cNvPr id="364" name="Google Shape;364;p53"/>
          <p:cNvPicPr preferRelativeResize="0"/>
          <p:nvPr/>
        </p:nvPicPr>
        <p:blipFill>
          <a:blip r:embed="rId3">
            <a:alphaModFix/>
          </a:blip>
          <a:stretch>
            <a:fillRect/>
          </a:stretch>
        </p:blipFill>
        <p:spPr>
          <a:xfrm>
            <a:off x="5000351" y="1217975"/>
            <a:ext cx="3963200" cy="27075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4"/>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700"/>
              <a:t>Summary and Recommendations</a:t>
            </a:r>
            <a:endParaRPr sz="3700"/>
          </a:p>
        </p:txBody>
      </p:sp>
      <p:sp>
        <p:nvSpPr>
          <p:cNvPr id="370" name="Google Shape;370;p5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a:t>We will look at the key takeaways, and explore recommendations to </a:t>
            </a:r>
            <a:r>
              <a:rPr lang="en"/>
              <a:t>improve</a:t>
            </a:r>
            <a:r>
              <a:rPr lang="en"/>
              <a:t> campaign success and data collection.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key takeaways? </a:t>
            </a:r>
            <a:endParaRPr/>
          </a:p>
        </p:txBody>
      </p:sp>
      <p:sp>
        <p:nvSpPr>
          <p:cNvPr id="376" name="Google Shape;376;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Only 29.86% of the calls were connected. While 70.14% failed.</a:t>
            </a:r>
            <a:endParaRPr/>
          </a:p>
          <a:p>
            <a:pPr indent="-342900" lvl="0" marL="457200" rtl="0" algn="l">
              <a:spcBef>
                <a:spcPts val="0"/>
              </a:spcBef>
              <a:spcAft>
                <a:spcPts val="0"/>
              </a:spcAft>
              <a:buSzPts val="1800"/>
              <a:buChar char="●"/>
            </a:pPr>
            <a:r>
              <a:rPr lang="en"/>
              <a:t>GR GS SP25 generated the highest call volume.</a:t>
            </a:r>
            <a:endParaRPr/>
          </a:p>
          <a:p>
            <a:pPr indent="-342900" lvl="0" marL="457200" rtl="0" algn="l">
              <a:spcBef>
                <a:spcPts val="0"/>
              </a:spcBef>
              <a:spcAft>
                <a:spcPts val="0"/>
              </a:spcAft>
              <a:buSzPts val="1800"/>
              <a:buChar char="●"/>
            </a:pPr>
            <a:r>
              <a:rPr lang="en"/>
              <a:t>31.5% of calls were not attributed to any campaign.</a:t>
            </a:r>
            <a:endParaRPr/>
          </a:p>
          <a:p>
            <a:pPr indent="-342900" lvl="0" marL="457200" rtl="0" algn="l">
              <a:spcBef>
                <a:spcPts val="0"/>
              </a:spcBef>
              <a:spcAft>
                <a:spcPts val="0"/>
              </a:spcAft>
              <a:buSzPts val="1800"/>
              <a:buChar char="●"/>
            </a:pPr>
            <a:r>
              <a:rPr lang="en"/>
              <a:t>Spring period had highest monthly call volume.</a:t>
            </a:r>
            <a:endParaRPr/>
          </a:p>
          <a:p>
            <a:pPr indent="-342900" lvl="0" marL="457200" rtl="0" algn="l">
              <a:spcBef>
                <a:spcPts val="0"/>
              </a:spcBef>
              <a:spcAft>
                <a:spcPts val="0"/>
              </a:spcAft>
              <a:buSzPts val="1800"/>
              <a:buChar char="●"/>
            </a:pPr>
            <a:r>
              <a:rPr lang="en"/>
              <a:t>The Fall period also has significant call activity. </a:t>
            </a:r>
            <a:endParaRPr/>
          </a:p>
          <a:p>
            <a:pPr indent="-342900" lvl="0" marL="457200" rtl="0" algn="l">
              <a:spcBef>
                <a:spcPts val="0"/>
              </a:spcBef>
              <a:spcAft>
                <a:spcPts val="0"/>
              </a:spcAft>
              <a:buSzPts val="1800"/>
              <a:buChar char="●"/>
            </a:pPr>
            <a:r>
              <a:rPr lang="en"/>
              <a:t>Volume drops around May.</a:t>
            </a:r>
            <a:endParaRPr/>
          </a:p>
          <a:p>
            <a:pPr indent="-342900" lvl="0" marL="457200" rtl="0" algn="l">
              <a:spcBef>
                <a:spcPts val="0"/>
              </a:spcBef>
              <a:spcAft>
                <a:spcPts val="0"/>
              </a:spcAft>
              <a:buSzPts val="1800"/>
              <a:buChar char="●"/>
            </a:pPr>
            <a:r>
              <a:rPr lang="en"/>
              <a:t>11AM to 6AM has the highest call volume in a day.</a:t>
            </a:r>
            <a:endParaRPr/>
          </a:p>
          <a:p>
            <a:pPr indent="-342900" lvl="0" marL="457200" rtl="0" algn="l">
              <a:spcBef>
                <a:spcPts val="0"/>
              </a:spcBef>
              <a:spcAft>
                <a:spcPts val="0"/>
              </a:spcAft>
              <a:buSzPts val="1800"/>
              <a:buChar char="●"/>
            </a:pPr>
            <a:r>
              <a:rPr lang="en"/>
              <a:t>More calls are unconnected between 10AM and 12 PM. </a:t>
            </a:r>
            <a:endParaRPr/>
          </a:p>
          <a:p>
            <a:pPr indent="-342900" lvl="0" marL="457200" rtl="0" algn="l">
              <a:spcBef>
                <a:spcPts val="0"/>
              </a:spcBef>
              <a:spcAft>
                <a:spcPts val="0"/>
              </a:spcAft>
              <a:buSzPts val="1800"/>
              <a:buChar char="●"/>
            </a:pPr>
            <a:r>
              <a:rPr lang="en"/>
              <a:t>Rudra handled the most calls. Namrata handled fewest calls.</a:t>
            </a:r>
            <a:endParaRPr/>
          </a:p>
          <a:p>
            <a:pPr indent="-342900" lvl="0" marL="457200" rtl="0" algn="l">
              <a:spcBef>
                <a:spcPts val="0"/>
              </a:spcBef>
              <a:spcAft>
                <a:spcPts val="0"/>
              </a:spcAft>
              <a:buSzPts val="1800"/>
              <a:buChar char="●"/>
            </a:pPr>
            <a:r>
              <a:rPr lang="en"/>
              <a:t>Shalija had the highest success rate. </a:t>
            </a:r>
            <a:endParaRPr/>
          </a:p>
          <a:p>
            <a:pPr indent="-342900" lvl="0" marL="457200" rtl="0" algn="l">
              <a:spcBef>
                <a:spcPts val="0"/>
              </a:spcBef>
              <a:spcAft>
                <a:spcPts val="0"/>
              </a:spcAft>
              <a:buSzPts val="1800"/>
              <a:buChar char="●"/>
            </a:pPr>
            <a:r>
              <a:rPr lang="en"/>
              <a:t>India</a:t>
            </a:r>
            <a:r>
              <a:rPr lang="en"/>
              <a:t> accounted for majority of the calls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What are the key takeaways? – Validation</a:t>
            </a:r>
            <a:endParaRPr/>
          </a:p>
        </p:txBody>
      </p:sp>
      <p:sp>
        <p:nvSpPr>
          <p:cNvPr id="382" name="Google Shape;382;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10000"/>
          </a:bodyPr>
          <a:lstStyle/>
          <a:p>
            <a:pPr indent="0" lvl="0" marL="12700" rtl="0" algn="l">
              <a:lnSpc>
                <a:spcPct val="150000"/>
              </a:lnSpc>
              <a:spcBef>
                <a:spcPts val="0"/>
              </a:spcBef>
              <a:spcAft>
                <a:spcPts val="0"/>
              </a:spcAft>
              <a:buClr>
                <a:schemeClr val="dk1"/>
              </a:buClr>
              <a:buSzPct val="31187"/>
              <a:buFont typeface="Arial"/>
              <a:buNone/>
            </a:pPr>
            <a:r>
              <a:rPr b="1" lang="en" sz="3527"/>
              <a:t>Findings</a:t>
            </a:r>
            <a:endParaRPr sz="3027"/>
          </a:p>
          <a:p>
            <a:pPr indent="0" lvl="0" marL="12700" rtl="0" algn="l">
              <a:lnSpc>
                <a:spcPct val="150000"/>
              </a:lnSpc>
              <a:spcBef>
                <a:spcPts val="0"/>
              </a:spcBef>
              <a:spcAft>
                <a:spcPts val="0"/>
              </a:spcAft>
              <a:buClr>
                <a:schemeClr val="dk1"/>
              </a:buClr>
              <a:buSzPct val="36338"/>
              <a:buFont typeface="Arial"/>
              <a:buNone/>
            </a:pPr>
            <a:r>
              <a:rPr lang="en" sz="3027"/>
              <a:t>● June and July are the most busy period of the year in this marketing campaign.</a:t>
            </a:r>
            <a:endParaRPr sz="3027"/>
          </a:p>
          <a:p>
            <a:pPr indent="0" lvl="0" marL="12700" rtl="0" algn="l">
              <a:lnSpc>
                <a:spcPct val="150000"/>
              </a:lnSpc>
              <a:spcBef>
                <a:spcPts val="0"/>
              </a:spcBef>
              <a:spcAft>
                <a:spcPts val="0"/>
              </a:spcAft>
              <a:buClr>
                <a:schemeClr val="dk1"/>
              </a:buClr>
              <a:buSzPct val="36338"/>
              <a:buFont typeface="Arial"/>
              <a:buNone/>
            </a:pPr>
            <a:r>
              <a:rPr lang="en" sz="3027"/>
              <a:t>● 42 outreach records had no matching applicant IDs (orphan records).</a:t>
            </a:r>
            <a:endParaRPr sz="3027"/>
          </a:p>
          <a:p>
            <a:pPr indent="0" lvl="0" marL="12700" rtl="0" algn="l">
              <a:lnSpc>
                <a:spcPct val="150000"/>
              </a:lnSpc>
              <a:spcBef>
                <a:spcPts val="0"/>
              </a:spcBef>
              <a:spcAft>
                <a:spcPts val="0"/>
              </a:spcAft>
              <a:buClr>
                <a:schemeClr val="dk1"/>
              </a:buClr>
              <a:buSzPct val="36338"/>
              <a:buFont typeface="Arial"/>
              <a:buNone/>
            </a:pPr>
            <a:r>
              <a:rPr lang="en" sz="3027"/>
              <a:t>● Duplicate outreach entries inflated total calls by 5 records (0.01%).</a:t>
            </a:r>
            <a:endParaRPr sz="3027"/>
          </a:p>
          <a:p>
            <a:pPr indent="0" lvl="0" marL="12700" rtl="0" algn="l">
              <a:lnSpc>
                <a:spcPct val="150000"/>
              </a:lnSpc>
              <a:spcBef>
                <a:spcPts val="0"/>
              </a:spcBef>
              <a:spcAft>
                <a:spcPts val="0"/>
              </a:spcAft>
              <a:buClr>
                <a:schemeClr val="dk1"/>
              </a:buClr>
              <a:buSzPct val="36338"/>
              <a:buFont typeface="Arial"/>
              <a:buNone/>
            </a:pPr>
            <a:r>
              <a:rPr lang="en" sz="3027"/>
              <a:t>● Connected + Disconnected calls = Total calls (business rule validated).</a:t>
            </a:r>
            <a:endParaRPr sz="3027"/>
          </a:p>
          <a:p>
            <a:pPr indent="0" lvl="0" marL="12700" rtl="0" algn="l">
              <a:lnSpc>
                <a:spcPct val="150000"/>
              </a:lnSpc>
              <a:spcBef>
                <a:spcPts val="0"/>
              </a:spcBef>
              <a:spcAft>
                <a:spcPts val="0"/>
              </a:spcAft>
              <a:buClr>
                <a:schemeClr val="dk1"/>
              </a:buClr>
              <a:buSzPct val="36338"/>
              <a:buFont typeface="Arial"/>
              <a:buNone/>
            </a:pPr>
            <a:r>
              <a:rPr lang="en" sz="3027"/>
              <a:t>● Campaign Start_Dates began in 2023 for FA24 and 2024 for SP25, consistent with marketing practice.</a:t>
            </a:r>
            <a:endParaRPr sz="3027"/>
          </a:p>
          <a:p>
            <a:pPr indent="0" lvl="0" marL="12700" rtl="0" algn="l">
              <a:lnSpc>
                <a:spcPct val="150000"/>
              </a:lnSpc>
              <a:spcBef>
                <a:spcPts val="0"/>
              </a:spcBef>
              <a:spcAft>
                <a:spcPts val="0"/>
              </a:spcAft>
              <a:buClr>
                <a:schemeClr val="dk1"/>
              </a:buClr>
              <a:buSzPct val="36338"/>
              <a:buFont typeface="Arial"/>
              <a:buNone/>
            </a:pPr>
            <a:r>
              <a:rPr lang="en" sz="3027"/>
              <a:t>● No campaign exceeded its intake year timeframe.</a:t>
            </a:r>
            <a:endParaRPr sz="3027"/>
          </a:p>
          <a:p>
            <a:pPr indent="0" lvl="0" marL="12700" rtl="0" algn="l">
              <a:lnSpc>
                <a:spcPct val="150000"/>
              </a:lnSpc>
              <a:spcBef>
                <a:spcPts val="0"/>
              </a:spcBef>
              <a:spcAft>
                <a:spcPts val="0"/>
              </a:spcAft>
              <a:buClr>
                <a:schemeClr val="dk1"/>
              </a:buClr>
              <a:buSzPct val="84615"/>
              <a:buFont typeface="Arial"/>
              <a:buNone/>
            </a:pPr>
            <a:r>
              <a:t/>
            </a:r>
            <a:endParaRPr b="1" sz="13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Recommendations</a:t>
            </a:r>
            <a:endParaRPr/>
          </a:p>
        </p:txBody>
      </p:sp>
      <p:sp>
        <p:nvSpPr>
          <p:cNvPr id="388" name="Google Shape;388;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Improve connectivity rates	</a:t>
            </a:r>
            <a:endParaRPr/>
          </a:p>
          <a:p>
            <a:pPr indent="-310832" lvl="1" marL="914400" rtl="0" algn="l">
              <a:spcBef>
                <a:spcPts val="0"/>
              </a:spcBef>
              <a:spcAft>
                <a:spcPts val="0"/>
              </a:spcAft>
              <a:buSzPct val="100000"/>
              <a:buChar char="○"/>
            </a:pPr>
            <a:r>
              <a:rPr lang="en"/>
              <a:t>Adjust agent schedules &amp; methods to account for peak hours with lower connectivity rates (10am to 12pm)</a:t>
            </a:r>
            <a:endParaRPr>
              <a:solidFill>
                <a:srgbClr val="FF0000"/>
              </a:solidFill>
            </a:endParaRPr>
          </a:p>
          <a:p>
            <a:pPr indent="-334327" lvl="0" marL="457200" rtl="0" algn="l">
              <a:spcBef>
                <a:spcPts val="0"/>
              </a:spcBef>
              <a:spcAft>
                <a:spcPts val="0"/>
              </a:spcAft>
              <a:buSzPct val="100000"/>
              <a:buChar char="●"/>
            </a:pPr>
            <a:r>
              <a:rPr lang="en"/>
              <a:t>Enhance Campaign Tracking to reduce null or uncategorized calls.</a:t>
            </a:r>
            <a:endParaRPr/>
          </a:p>
          <a:p>
            <a:pPr indent="-323056" lvl="1" marL="914400" rtl="0" algn="l">
              <a:spcBef>
                <a:spcPts val="0"/>
              </a:spcBef>
              <a:spcAft>
                <a:spcPts val="0"/>
              </a:spcAft>
              <a:buSzPct val="100000"/>
              <a:buChar char="○"/>
            </a:pPr>
            <a:r>
              <a:rPr lang="en" sz="1608"/>
              <a:t>Include categorizes for miscellaneous calls for further insight in the future.</a:t>
            </a:r>
            <a:endParaRPr sz="1608"/>
          </a:p>
          <a:p>
            <a:pPr indent="-323056" lvl="1" marL="914400" rtl="0" algn="l">
              <a:spcBef>
                <a:spcPts val="0"/>
              </a:spcBef>
              <a:spcAft>
                <a:spcPts val="0"/>
              </a:spcAft>
              <a:buSzPct val="102151"/>
              <a:buChar char="○"/>
            </a:pPr>
            <a:r>
              <a:rPr lang="en" sz="1574"/>
              <a:t>More effort should be put in to ensure that the calls are accurately categorized. Also, if needed more categorizes should be included to capture the miscellaneous calls.</a:t>
            </a:r>
            <a:endParaRPr sz="1174"/>
          </a:p>
          <a:p>
            <a:pPr indent="-334327" lvl="0" marL="457200" rtl="0" algn="l">
              <a:spcBef>
                <a:spcPts val="0"/>
              </a:spcBef>
              <a:spcAft>
                <a:spcPts val="0"/>
              </a:spcAft>
              <a:buSzPct val="100000"/>
              <a:buChar char="●"/>
            </a:pPr>
            <a:r>
              <a:rPr lang="en"/>
              <a:t>Agent performance management</a:t>
            </a:r>
            <a:endParaRPr/>
          </a:p>
          <a:p>
            <a:pPr indent="-310832" lvl="1" marL="914400" rtl="0" algn="l">
              <a:spcBef>
                <a:spcPts val="0"/>
              </a:spcBef>
              <a:spcAft>
                <a:spcPts val="0"/>
              </a:spcAft>
              <a:buSzPct val="100000"/>
              <a:buChar char="○"/>
            </a:pPr>
            <a:r>
              <a:rPr lang="en" sz="1400"/>
              <a:t>Reward agents with high success rates to extend this outcome amongst more agents. </a:t>
            </a:r>
            <a:endParaRPr/>
          </a:p>
          <a:p>
            <a:pPr indent="-334327" lvl="0" marL="457200" rtl="0" algn="l">
              <a:spcBef>
                <a:spcPts val="0"/>
              </a:spcBef>
              <a:spcAft>
                <a:spcPts val="0"/>
              </a:spcAft>
              <a:buSzPct val="100000"/>
              <a:buChar char="●"/>
            </a:pPr>
            <a:r>
              <a:rPr lang="en"/>
              <a:t>Optimize call timings for different countries. </a:t>
            </a:r>
            <a:endParaRPr/>
          </a:p>
          <a:p>
            <a:pPr indent="-334327" lvl="0" marL="457200" rtl="0" algn="l">
              <a:spcBef>
                <a:spcPts val="0"/>
              </a:spcBef>
              <a:spcAft>
                <a:spcPts val="0"/>
              </a:spcAft>
              <a:buSzPct val="100000"/>
              <a:buChar char="●"/>
            </a:pPr>
            <a:r>
              <a:rPr lang="en"/>
              <a:t>Ensure agents are familiar with the needs of Indian, </a:t>
            </a:r>
            <a:r>
              <a:rPr lang="en"/>
              <a:t>Ghanaian</a:t>
            </a:r>
            <a:r>
              <a:rPr lang="en"/>
              <a:t>, Nigerian and Pakistan applicants.</a:t>
            </a:r>
            <a:endParaRPr/>
          </a:p>
          <a:p>
            <a:pPr indent="-334327" lvl="0" marL="457200" rtl="0" algn="l">
              <a:spcBef>
                <a:spcPts val="0"/>
              </a:spcBef>
              <a:spcAft>
                <a:spcPts val="0"/>
              </a:spcAft>
              <a:buSzPct val="100000"/>
              <a:buChar char="●"/>
            </a:pPr>
            <a:r>
              <a:rPr lang="en"/>
              <a:t>More resources can be allocated to the spring season as it seems popular with applicant. It has a high ROI. </a:t>
            </a:r>
            <a:endParaRPr>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Recommendations to handle high volume seasons</a:t>
            </a:r>
            <a:endParaRPr/>
          </a:p>
        </p:txBody>
      </p:sp>
      <p:sp>
        <p:nvSpPr>
          <p:cNvPr id="394" name="Google Shape;394;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busiest times are May, June July, and November. </a:t>
            </a:r>
            <a:endParaRPr/>
          </a:p>
          <a:p>
            <a:pPr indent="0" lvl="0" marL="0" rtl="0" algn="l">
              <a:spcBef>
                <a:spcPts val="1200"/>
              </a:spcBef>
              <a:spcAft>
                <a:spcPts val="0"/>
              </a:spcAft>
              <a:buNone/>
            </a:pPr>
            <a:r>
              <a:rPr lang="en"/>
              <a:t>Part time workers can be hired to work during periods of high international demand. To maximize returns, </a:t>
            </a:r>
            <a:r>
              <a:rPr lang="en"/>
              <a:t>part time</a:t>
            </a:r>
            <a:r>
              <a:rPr lang="en"/>
              <a:t> workers’ ideal work days on Mondays, Tuesdays </a:t>
            </a:r>
            <a:r>
              <a:rPr lang="en"/>
              <a:t>and</a:t>
            </a:r>
            <a:r>
              <a:rPr lang="en"/>
              <a:t> Thursdays in June, July and </a:t>
            </a:r>
            <a:r>
              <a:rPr lang="en"/>
              <a:t>November</a:t>
            </a:r>
            <a:r>
              <a:rPr lang="en"/>
              <a:t>. </a:t>
            </a:r>
            <a:endParaRPr/>
          </a:p>
          <a:p>
            <a:pPr indent="0" lvl="0" marL="0" rtl="0" algn="l">
              <a:spcBef>
                <a:spcPts val="1200"/>
              </a:spcBef>
              <a:spcAft>
                <a:spcPts val="0"/>
              </a:spcAft>
              <a:buNone/>
            </a:pPr>
            <a:r>
              <a:rPr lang="en"/>
              <a:t>Specifically</a:t>
            </a:r>
            <a:r>
              <a:rPr lang="en"/>
              <a:t> trained additional agents should be assigned to India and West Africa. </a:t>
            </a:r>
            <a:endParaRPr/>
          </a:p>
          <a:p>
            <a:pPr indent="0" lvl="0" marL="0" rtl="0" algn="l">
              <a:spcBef>
                <a:spcPts val="1200"/>
              </a:spcBef>
              <a:spcAft>
                <a:spcPts val="1200"/>
              </a:spcAft>
              <a:buNone/>
            </a:pPr>
            <a:r>
              <a:rPr lang="en"/>
              <a:t>Also we can pivot working hours</a:t>
            </a:r>
            <a:r>
              <a:rPr lang="en"/>
              <a:t> to meet varying international demand.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Recommendations to boost </a:t>
            </a:r>
            <a:r>
              <a:rPr lang="en"/>
              <a:t>Performance</a:t>
            </a:r>
            <a:endParaRPr/>
          </a:p>
        </p:txBody>
      </p:sp>
      <p:sp>
        <p:nvSpPr>
          <p:cNvPr id="400" name="Google Shape;400;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Char char="●"/>
            </a:pPr>
            <a:r>
              <a:rPr lang="en">
                <a:solidFill>
                  <a:srgbClr val="595959"/>
                </a:solidFill>
              </a:rPr>
              <a:t>Provide bonuses or other commissions to agents which will improve productivity.</a:t>
            </a:r>
            <a:endParaRPr>
              <a:solidFill>
                <a:srgbClr val="595959"/>
              </a:solidFill>
            </a:endParaRPr>
          </a:p>
          <a:p>
            <a:pPr indent="-342900" lvl="0" marL="457200" rtl="0" algn="l">
              <a:lnSpc>
                <a:spcPct val="115000"/>
              </a:lnSpc>
              <a:spcBef>
                <a:spcPts val="0"/>
              </a:spcBef>
              <a:spcAft>
                <a:spcPts val="0"/>
              </a:spcAft>
              <a:buClr>
                <a:srgbClr val="595959"/>
              </a:buClr>
              <a:buSzPts val="1800"/>
              <a:buChar char="●"/>
            </a:pPr>
            <a:r>
              <a:rPr lang="en">
                <a:solidFill>
                  <a:srgbClr val="595959"/>
                </a:solidFill>
              </a:rPr>
              <a:t>Continue early marketing since 2023 outreach supported 2024 intakes.</a:t>
            </a:r>
            <a:endParaRPr>
              <a:solidFill>
                <a:srgbClr val="595959"/>
              </a:solidFill>
            </a:endParaRPr>
          </a:p>
          <a:p>
            <a:pPr indent="-342900" lvl="0" marL="457200" rtl="0" algn="l">
              <a:lnSpc>
                <a:spcPct val="115000"/>
              </a:lnSpc>
              <a:spcBef>
                <a:spcPts val="0"/>
              </a:spcBef>
              <a:spcAft>
                <a:spcPts val="0"/>
              </a:spcAft>
              <a:buClr>
                <a:srgbClr val="595959"/>
              </a:buClr>
              <a:buSzPts val="1800"/>
              <a:buChar char="●"/>
            </a:pPr>
            <a:r>
              <a:rPr lang="en">
                <a:solidFill>
                  <a:srgbClr val="595959"/>
                </a:solidFill>
              </a:rPr>
              <a:t>Focus campaigns in high-engagement regions for better ROI.</a:t>
            </a:r>
            <a:endParaRPr>
              <a:solidFill>
                <a:srgbClr val="595959"/>
              </a:solidFill>
            </a:endParaRPr>
          </a:p>
          <a:p>
            <a:pPr indent="-342900" lvl="0" marL="457200" rtl="0" algn="l">
              <a:lnSpc>
                <a:spcPct val="115000"/>
              </a:lnSpc>
              <a:spcBef>
                <a:spcPts val="0"/>
              </a:spcBef>
              <a:spcAft>
                <a:spcPts val="0"/>
              </a:spcAft>
              <a:buClr>
                <a:srgbClr val="595959"/>
              </a:buClr>
              <a:buSzPts val="1800"/>
              <a:buChar char="●"/>
            </a:pPr>
            <a:r>
              <a:rPr lang="en">
                <a:solidFill>
                  <a:srgbClr val="595959"/>
                </a:solidFill>
              </a:rPr>
              <a:t>Engage more with Indian applicants as they are showing more interest.</a:t>
            </a:r>
            <a:endParaRPr>
              <a:solidFill>
                <a:srgbClr val="595959"/>
              </a:solidFill>
            </a:endParaRPr>
          </a:p>
          <a:p>
            <a:pPr indent="0" lvl="0" marL="0" rtl="0" algn="l">
              <a:spcBef>
                <a:spcPts val="0"/>
              </a:spcBef>
              <a:spcAft>
                <a:spcPts val="120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406" name="Google Shape;406;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Address missing applicant data through better collection methods.</a:t>
            </a:r>
            <a:endParaRPr/>
          </a:p>
          <a:p>
            <a:pPr indent="-342900" lvl="0" marL="457200" rtl="0" algn="l">
              <a:lnSpc>
                <a:spcPct val="115000"/>
              </a:lnSpc>
              <a:spcBef>
                <a:spcPts val="0"/>
              </a:spcBef>
              <a:spcAft>
                <a:spcPts val="0"/>
              </a:spcAft>
              <a:buSzPts val="1800"/>
              <a:buChar char="●"/>
            </a:pPr>
            <a:r>
              <a:rPr lang="en"/>
              <a:t>Remove duplicates before reporting to avoid inflated metrics.</a:t>
            </a:r>
            <a:endParaRPr/>
          </a:p>
          <a:p>
            <a:pPr indent="-342900" lvl="0" marL="457200" rtl="0" algn="l">
              <a:lnSpc>
                <a:spcPct val="115000"/>
              </a:lnSpc>
              <a:spcBef>
                <a:spcPts val="0"/>
              </a:spcBef>
              <a:spcAft>
                <a:spcPts val="0"/>
              </a:spcAft>
              <a:buSzPts val="1800"/>
              <a:buChar char="●"/>
            </a:pPr>
            <a:r>
              <a:rPr lang="en"/>
              <a:t>Improve applicant linkage for outreach to reduce orphan records.</a:t>
            </a:r>
            <a:endParaRPr/>
          </a:p>
          <a:p>
            <a:pPr indent="-342900" lvl="0" marL="457200" rtl="0" algn="l">
              <a:spcBef>
                <a:spcPts val="0"/>
              </a:spcBef>
              <a:spcAft>
                <a:spcPts val="0"/>
              </a:spcAft>
              <a:buSzPts val="1800"/>
              <a:buChar char="●"/>
            </a:pPr>
            <a:r>
              <a:rPr lang="en"/>
              <a:t>Removing data of those 43 Reference_ID’s which is connected with 43 null App_IDs.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22222"/>
      </a:dk1>
      <a:lt1>
        <a:srgbClr val="FFFFFF"/>
      </a:lt1>
      <a:dk2>
        <a:srgbClr val="4BA173"/>
      </a:dk2>
      <a:lt2>
        <a:srgbClr val="801F1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